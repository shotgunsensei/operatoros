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For healthcare operations leaders and the service teams behind every department. Ask one discovery question before advancing: Which request is being chased today because nobody can see who owns it? Position the product around an observable operating outcome. Cover imagery is conceptual brand art, not a customer or product screenshot.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DISCOVER: Which request is being chased today because nobody can see who owns it? Let the buyer identify the most expensive handoff. These are common scenario hypotheses, not measured customer results. Avoid assuming every pain applies.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opportunity: give each operational request a place, a target and a responsible owner. Walk the buyer through a single record. These are workflow stages, not an assertion that the product performs every transition automatically.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OperatorOS centrally manages sign-in, organizations, membership, roles, billing and application access. The current forward-sale package has one flagship per organization and one chosen eligible companion. Do not present all three flagship products as bundled into one subscription.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as a capability map, not a rapid feature recital. Pick the two groups connected to the buyer’s pain, then continue to the workday view. Full feature checklist is in the appendix.</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workday brief is grounded in persisted facts and links to existing records. Illustrative workday sequence. PulseDesk coordinates operational work; patient charts and clinical decisions stay in approved clinical systems. The drawing explains priority categories; it is not a screenshot or a claim about a real account.</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an operations-only equipment example without patient names, images, identifiers or treatment details. The product coordinates the service request; it does not interpret device telemetry, establish clinical safety or authorize return to clinical service. This is an invented, representative scenario, not a customer case study or a measured outcome. Trigger: A department reports an equipment fault and needs a clear path through service and vendor follow-up. Outcome to evaluate: Time from intake to ownership and first response.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Examples include lighting, a door or routine maintenance. Avoid clinical room-readiness claims. The source supports target status and escalation views; do not claim autonomous routing, vendor dispatch or guaranteed notification delivery. This is an invented, representative scenario, not a customer case study or a measured outcome. Trigger: A department reports a facilities problem. Multiple teams need updates, but nobody has the complete history. Outcome to evaluate: Aged open requests and missed service targets.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Describe a routine operational supply such as printer stock or facilities consumables. PulseDesk tracks the request; do not promise automated purchasing, procurement contracts, inventory optimization or clinical stock decisions. This is an invented, representative scenario, not a customer case study or a measured outcome. Trigger: A department needs operational supplies. Follow-up is split between a spreadsheet, a vendor and a shift change. Outcome to evaluate: Open supply requests without a named next action.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dedicated, approved demo workspace and synthetic records. Prepare the complete flow before the meeting. Do not attempt live payments, real messages, patient data or endpoint changes during the demo. If the tenant is not accepted, present this as a workflow discussion rather than imply live operation.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eligible companion is included. Access is separate from automatic data transfer. AI generation requires a verified provider; keep patient and confidential data out. Each companion still requires appropriate organization access. A useful combination does not imply an automatic cross-module connector. Core feature claims and companion readiness remain separate.</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Clarify what the buyer wants to keep. Identify the required connection and its owner; verify before committing to an integration scope. Current source capabilities and public lane pages are the claim boundary.</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patient identifiers, charts and clinical decisions out. No HIPAA certification or clinical-system claim is made. Separate product controls from team process. A recorded note is not proof of a real external action unless the appropriate supporting evidence is retained.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invent an ROI percentage. Define a baseline and an equivalent pilot sample, then review these measures. If monetizing time, use the buyer’s agreed hourly cost and distinguish released capacity from actual cash savings. Correlation during a pilot does not establish causation.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Verified source packaging: one flagship per organization, five seats and one eligible organization-wide companion, monthly billing. Repository catalog lists TradeFlowKit $149/month, TechDeck $99/month and PulseDesk $149/month; extra companions $29/month and seats $15/month. These are catalog references, not a verified live quote. On 2026-10-05 the public pricing page and rendered browser exposed Price unavailable for the dynamic totals. Do not quote an unverified total or promise a free pilot. Confirm commercial terms and final Stripe Checkout before purchase. Source: https://operatoros.net/pricing</a:t>
            </a:r>
          </a:p>
          <a:p/>
          <a:p>
            <a:r>
              <a:t>Evidence basis: repository snapshot 62fb640c; reviewed 2026-10-05. Capabilities describe supported source workflows, not blanket acceptance of every target deployment or provider.</a:t>
            </a:r>
          </a:p>
          <a:p>
            <a:r>
              <a:t>packages/sdk/src/products.ts</a:t>
            </a:r>
          </a:p>
          <a:p>
            <a:r>
              <a:t>https://operatoros.net/pricing</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evaluation structure, not an existing free-trial or onboarding-service promise. Agree pricing, support, scope, data handling, responsible owners and success criteria before starting. Use comparable baseline and pilot samples. Continue when the team can route, own and close the agreed requests with clear updates and no patient information.</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Ask for one representative example, a workflow owner and a success measure. Agree a scoped working session and the commercial next step. The CTA opens the existing OperatorOS contact page; no appointment or service commitment is automatically created.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only the relevant objection. Invite a specific example from the buyer instead of treating this as a scripted rebuttal. Unsupported integrations or clinical capabilities are material fit considerations.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list is a map of source-supported workflow families, not proof that every legacy feature or external provider is production accepted. Verify the buyer’s precise required workflow and role on the target tenant. Details: docs/modules/pulsedesk/PARITY_MATRIX.md, docs/modules/pulsedesk/THREAT_MODEL.md</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Internal release context for presenter: current local source 62fb640c includes the OpenAI enablement merge. The recorded published release gate remains v65, with semantic provider disabled; the later hosted OpenAI credential recovery/publication and authenticated tenant acceptance remain open in implementation status. Do not sell AI activation as universal. This deck is collateral, not release acceptance. Patient charts, clinical decisions, HIPAA certification and direct mailbox integrations.</a:t>
            </a:r>
          </a:p>
          <a:p/>
          <a:p>
            <a:r>
              <a:t>Evidence basis: repository snapshot 62fb640c; reviewed 2026-10-05. Capabilities describe supported source workflows, not blanket acceptance of every target deployment or provider.</a:t>
            </a:r>
          </a:p>
          <a:p>
            <a:r>
              <a:t>packages/sdk/src/products.ts</a:t>
            </a:r>
          </a:p>
          <a:p>
            <a:r>
              <a:t>packages/sdk/src/product-value.ts</a:t>
            </a:r>
          </a:p>
          <a:p>
            <a:r>
              <a:t>apps/web/src/lib/audience-lanes.ts</a:t>
            </a:r>
          </a:p>
          <a:p>
            <a:r>
              <a:t>apps/web/src/lib/help/primary-module-guides.ts</a:t>
            </a:r>
          </a:p>
          <a:p>
            <a:r>
              <a:t>docs/modules/CORE_SUITE_WORKFLOW_AUTOMATION_REVIEW.md</a:t>
            </a:r>
          </a:p>
          <a:p>
            <a:r>
              <a:t>docs/OPERATOROS_ECOSYSTEM_INTEGRATION_CONTRACT.md</a:t>
            </a:r>
          </a:p>
          <a:p>
            <a:r>
              <a:t>docs/CURRENT_RELEASE_GATE.md</a:t>
            </a:r>
          </a:p>
          <a:p>
            <a:r>
              <a:t>docs/IMPLEMENTATION_STATUS.md</a:t>
            </a:r>
          </a:p>
          <a:p>
            <a:r>
              <a:t>docs/modules/pulsedesk/PARITY_MATRIX.md</a:t>
            </a:r>
          </a:p>
          <a:p>
            <a:r>
              <a:t>docs/modules/pulsedesk/THREAT_MODEL.md</a:t>
            </a:r>
          </a:p>
          <a:p>
            <a:r>
              <a:t>Public lane: https://operatoros.net/for/healthcare-legal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hyperlink" Target="https://operatoros.net/pricing?product=pulsedesk#build-stack"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operatoros.net/john" TargetMode="External"/><Relationship Id="rId6" Type="http://schemas.openxmlformats.org/officeDocument/2006/relationships/hyperlink" Target="https://operatoros.net/for/healthcare-legal"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hyperlink" Target="https://operatoros.net/for/healthcare-legal" TargetMode="External"/><Relationship Id="rId4" Type="http://schemas.openxmlformats.org/officeDocument/2006/relationships/hyperlink" Target="https://operatoros.net/pricing" TargetMode="External"/><Relationship Id="rId5" Type="http://schemas.openxmlformats.org/officeDocument/2006/relationships/hyperlink" Target="https://operatoros.net/help" TargetMode="External"/></Relationships>
</file>

<file path=ppt/slides/slide1.xml><?xml version="1.0" encoding="utf-8"?>
<p:sld xmlns:a="http://schemas.openxmlformats.org/drawingml/2006/main" xmlns:p="http://schemas.openxmlformats.org/presentationml/2006/main" xmlns:r="http://schemas.openxmlformats.org/officeDocument/2006/relationships">
  <p:cSld name="Keep operations moving. Keep ownership clear.">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althcare-legal.png"/>
          <p:cNvPicPr>
            <a:picLocks noChangeAspect="1"/>
          </p:cNvPicPr>
          <p:nvPr/>
        </p:nvPicPr>
        <p:blipFill>
          <a:blip r:embed="rId3"/>
          <a:srcRect t="685" b="685"/>
          <a:stretch>
            <a:fillRect/>
          </a:stretch>
        </p:blipFill>
        <p:spPr>
          <a:xfrm>
            <a:off x="7556500" y="0"/>
            <a:ext cx="4635500" cy="6858000"/>
          </a:xfrm>
          <a:prstGeom prst="rect">
            <a:avLst/>
          </a:prstGeom>
        </p:spPr>
      </p:pic>
      <p:sp>
        <p:nvSpPr>
          <p:cNvPr id="5" name="Rectangle 4"/>
          <p:cNvSpPr/>
          <p:nvPr/>
        </p:nvSpPr>
        <p:spPr>
          <a:xfrm>
            <a:off x="7327900" y="0"/>
            <a:ext cx="2286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12364E"/>
                </a:solidFill>
                <a:latin typeface="Segoe UI"/>
              </a:defRPr>
            </a:pPr>
            <a:r>
              <a:t>OperatorOS</a:t>
            </a:r>
          </a:p>
        </p:txBody>
      </p:sp>
      <p:sp>
        <p:nvSpPr>
          <p:cNvPr id="8" name="TextBox 7"/>
          <p:cNvSpPr txBox="1"/>
          <p:nvPr/>
        </p:nvSpPr>
        <p:spPr>
          <a:xfrm>
            <a:off x="609600" y="1193800"/>
            <a:ext cx="6489700" cy="204952"/>
          </a:xfrm>
          <a:prstGeom prst="rect">
            <a:avLst/>
          </a:prstGeom>
          <a:noFill/>
        </p:spPr>
        <p:txBody>
          <a:bodyPr wrap="none" lIns="0" rIns="0" tIns="0" bIns="0" anchor="t">
            <a:spAutoFit/>
          </a:bodyPr>
          <a:lstStyle/>
          <a:p>
            <a:pPr algn="l">
              <a:lnSpc>
                <a:spcPts val="1213"/>
              </a:lnSpc>
              <a:spcBef>
                <a:spcPts val="0"/>
              </a:spcBef>
              <a:spcAft>
                <a:spcPts val="0"/>
              </a:spcAft>
              <a:defRPr sz="1019" b="1">
                <a:solidFill>
                  <a:srgbClr val="007EAF"/>
                </a:solidFill>
                <a:latin typeface="Segoe UI"/>
              </a:defRPr>
            </a:pPr>
            <a:r>
              <a:t>HEALTHCARE OPERATIONS / DEPARTMENT LEADERS</a:t>
            </a:r>
          </a:p>
        </p:txBody>
      </p:sp>
      <p:sp>
        <p:nvSpPr>
          <p:cNvPr id="9" name="TextBox 8"/>
          <p:cNvSpPr txBox="1"/>
          <p:nvPr/>
        </p:nvSpPr>
        <p:spPr>
          <a:xfrm>
            <a:off x="609600" y="1511300"/>
            <a:ext cx="6489700" cy="519303"/>
          </a:xfrm>
          <a:prstGeom prst="rect">
            <a:avLst/>
          </a:prstGeom>
          <a:noFill/>
        </p:spPr>
        <p:txBody>
          <a:bodyPr wrap="none" lIns="0" rIns="0" tIns="0" bIns="0" anchor="t">
            <a:spAutoFit/>
          </a:bodyPr>
          <a:lstStyle/>
          <a:p>
            <a:pPr algn="l">
              <a:lnSpc>
                <a:spcPts val="3689"/>
              </a:lnSpc>
              <a:spcBef>
                <a:spcPts val="0"/>
              </a:spcBef>
              <a:spcAft>
                <a:spcPts val="0"/>
              </a:spcAft>
              <a:defRPr sz="3100" b="0">
                <a:solidFill>
                  <a:srgbClr val="12364E"/>
                </a:solidFill>
                <a:latin typeface="Segoe UI Light"/>
              </a:defRPr>
            </a:pPr>
            <a:r>
              <a:t>PulseDesk</a:t>
            </a:r>
          </a:p>
        </p:txBody>
      </p:sp>
      <p:sp>
        <p:nvSpPr>
          <p:cNvPr id="10" name="TextBox 9"/>
          <p:cNvSpPr txBox="1"/>
          <p:nvPr/>
        </p:nvSpPr>
        <p:spPr>
          <a:xfrm>
            <a:off x="609600" y="2260600"/>
            <a:ext cx="6616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12364E"/>
                </a:solidFill>
                <a:latin typeface="Segoe UI"/>
              </a:defRPr>
            </a:pPr>
            <a:r>
              <a:t>Keep operations</a:t>
            </a:r>
          </a:p>
          <a:p>
            <a:pPr algn="l">
              <a:lnSpc>
                <a:spcPts val="5236"/>
              </a:lnSpc>
              <a:spcBef>
                <a:spcPts val="0"/>
              </a:spcBef>
              <a:spcAft>
                <a:spcPts val="0"/>
              </a:spcAft>
              <a:defRPr sz="4400" b="1">
                <a:solidFill>
                  <a:srgbClr val="12364E"/>
                </a:solidFill>
                <a:latin typeface="Segoe UI"/>
              </a:defRPr>
            </a:pPr>
            <a:r>
              <a:t>moving.</a:t>
            </a:r>
          </a:p>
          <a:p>
            <a:pPr algn="l">
              <a:lnSpc>
                <a:spcPts val="5236"/>
              </a:lnSpc>
              <a:spcBef>
                <a:spcPts val="0"/>
              </a:spcBef>
              <a:spcAft>
                <a:spcPts val="0"/>
              </a:spcAft>
              <a:defRPr sz="4400" b="1">
                <a:solidFill>
                  <a:srgbClr val="12364E"/>
                </a:solidFill>
                <a:latin typeface="Segoe UI"/>
              </a:defRPr>
            </a:pPr>
            <a:r>
              <a:t>Keep ownership clear.</a:t>
            </a:r>
          </a:p>
        </p:txBody>
      </p:sp>
      <p:sp>
        <p:nvSpPr>
          <p:cNvPr id="11" name="TextBox 10"/>
          <p:cNvSpPr txBox="1"/>
          <p:nvPr/>
        </p:nvSpPr>
        <p:spPr>
          <a:xfrm>
            <a:off x="609600" y="4699000"/>
            <a:ext cx="6553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506C80"/>
                </a:solidFill>
                <a:latin typeface="Segoe UI"/>
              </a:defRPr>
            </a:pPr>
            <a:r>
              <a:t>Facilities, equipment, supplies and vendors.</a:t>
            </a:r>
          </a:p>
          <a:p>
            <a:pPr algn="l">
              <a:lnSpc>
                <a:spcPts val="2379"/>
              </a:lnSpc>
              <a:spcBef>
                <a:spcPts val="0"/>
              </a:spcBef>
              <a:spcAft>
                <a:spcPts val="0"/>
              </a:spcAft>
              <a:defRPr sz="2000" b="0">
                <a:solidFill>
                  <a:srgbClr val="506C80"/>
                </a:solidFill>
                <a:latin typeface="Segoe UI"/>
              </a:defRPr>
            </a:pPr>
            <a:r>
              <a:t>One visible path from request to resolution.</a:t>
            </a:r>
          </a:p>
        </p:txBody>
      </p:sp>
      <p:cxnSp>
        <p:nvCxnSpPr>
          <p:cNvPr id="12" name="Connector 11"/>
          <p:cNvCxnSpPr/>
          <p:nvPr/>
        </p:nvCxnSpPr>
        <p:spPr>
          <a:xfrm>
            <a:off x="609600" y="5854700"/>
            <a:ext cx="61849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6070600"/>
            <a:ext cx="4457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A BETTER WAY TO OPERATE</a:t>
            </a:r>
          </a:p>
        </p:txBody>
      </p:sp>
      <p:sp>
        <p:nvSpPr>
          <p:cNvPr id="14" name="TextBox 13"/>
          <p:cNvSpPr txBox="1"/>
          <p:nvPr/>
        </p:nvSpPr>
        <p:spPr>
          <a:xfrm>
            <a:off x="609600" y="6451600"/>
            <a:ext cx="6489700" cy="183794"/>
          </a:xfrm>
          <a:prstGeom prst="rect">
            <a:avLst/>
          </a:prstGeom>
          <a:noFill/>
        </p:spPr>
        <p:txBody>
          <a:bodyPr wrap="none" lIns="0" rIns="0" tIns="0" bIns="0" anchor="t">
            <a:spAutoFit/>
          </a:bodyPr>
          <a:lstStyle/>
          <a:p>
            <a:pPr algn="l">
              <a:lnSpc>
                <a:spcPts val="1047"/>
              </a:lnSpc>
              <a:spcBef>
                <a:spcPts val="0"/>
              </a:spcBef>
              <a:spcAft>
                <a:spcPts val="0"/>
              </a:spcAft>
              <a:defRPr sz="880" b="0">
                <a:solidFill>
                  <a:srgbClr val="506C80"/>
                </a:solidFill>
                <a:latin typeface="Segoe UI"/>
              </a:defRPr>
            </a:pPr>
            <a:r>
              <a:t>SHOTGUN NINJAS PRODUCTIONS / 05 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Small operational delays create a long chain of chasing.">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FRICTION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Small operational delays</a:t>
            </a:r>
          </a:p>
          <a:p>
            <a:pPr algn="l">
              <a:lnSpc>
                <a:spcPts val="4284"/>
              </a:lnSpc>
              <a:spcBef>
                <a:spcPts val="0"/>
              </a:spcBef>
              <a:spcAft>
                <a:spcPts val="0"/>
              </a:spcAft>
              <a:defRPr sz="3600" b="1">
                <a:solidFill>
                  <a:srgbClr val="12364E"/>
                </a:solidFill>
                <a:latin typeface="Segoe UI"/>
              </a:defRPr>
            </a:pPr>
            <a:r>
              <a:t>create a long chain of chasing.</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02 / 20</a:t>
            </a:r>
          </a:p>
        </p:txBody>
      </p:sp>
      <p:sp>
        <p:nvSpPr>
          <p:cNvPr id="9" name="TextBox 8"/>
          <p:cNvSpPr txBox="1"/>
          <p:nvPr/>
        </p:nvSpPr>
        <p:spPr>
          <a:xfrm>
            <a:off x="6096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007EAF"/>
                </a:solidFill>
                <a:latin typeface="Segoe UI Light"/>
              </a:defRPr>
            </a:pPr>
            <a:r>
              <a:t>01</a:t>
            </a:r>
          </a:p>
        </p:txBody>
      </p:sp>
      <p:cxnSp>
        <p:nvCxnSpPr>
          <p:cNvPr id="10" name="Connector 9"/>
          <p:cNvCxnSpPr/>
          <p:nvPr/>
        </p:nvCxnSpPr>
        <p:spPr>
          <a:xfrm>
            <a:off x="609600" y="3187700"/>
            <a:ext cx="3429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The request is scattered</a:t>
            </a:r>
          </a:p>
        </p:txBody>
      </p:sp>
      <p:sp>
        <p:nvSpPr>
          <p:cNvPr id="12" name="TextBox 11"/>
          <p:cNvSpPr txBox="1"/>
          <p:nvPr/>
        </p:nvSpPr>
        <p:spPr>
          <a:xfrm>
            <a:off x="6096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506C80"/>
                </a:solidFill>
                <a:latin typeface="Segoe UI"/>
              </a:defRPr>
            </a:pPr>
            <a:r>
              <a:t>A hallway conversation, a call and</a:t>
            </a:r>
          </a:p>
          <a:p>
            <a:pPr algn="l">
              <a:lnSpc>
                <a:spcPts val="2082"/>
              </a:lnSpc>
              <a:spcBef>
                <a:spcPts val="0"/>
              </a:spcBef>
              <a:spcAft>
                <a:spcPts val="0"/>
              </a:spcAft>
              <a:defRPr sz="1750" b="0">
                <a:solidFill>
                  <a:srgbClr val="506C80"/>
                </a:solidFill>
                <a:latin typeface="Segoe UI"/>
              </a:defRPr>
            </a:pPr>
            <a:r>
              <a:t>a message describe the same</a:t>
            </a:r>
          </a:p>
          <a:p>
            <a:pPr algn="l">
              <a:lnSpc>
                <a:spcPts val="2082"/>
              </a:lnSpc>
              <a:spcBef>
                <a:spcPts val="0"/>
              </a:spcBef>
              <a:spcAft>
                <a:spcPts val="0"/>
              </a:spcAft>
              <a:defRPr sz="1750" b="0">
                <a:solidFill>
                  <a:srgbClr val="506C80"/>
                </a:solidFill>
                <a:latin typeface="Segoe UI"/>
              </a:defRPr>
            </a:pPr>
            <a:r>
              <a:t>problem.</a:t>
            </a:r>
          </a:p>
        </p:txBody>
      </p:sp>
      <p:sp>
        <p:nvSpPr>
          <p:cNvPr id="13" name="TextBox 12"/>
          <p:cNvSpPr txBox="1"/>
          <p:nvPr/>
        </p:nvSpPr>
        <p:spPr>
          <a:xfrm>
            <a:off x="6096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008579"/>
                </a:solidFill>
                <a:latin typeface="Segoe UI"/>
              </a:defRPr>
            </a:pPr>
            <a:r>
              <a:t>The history fragments.</a:t>
            </a:r>
          </a:p>
        </p:txBody>
      </p:sp>
      <p:sp>
        <p:nvSpPr>
          <p:cNvPr id="14" name="TextBox 13"/>
          <p:cNvSpPr txBox="1"/>
          <p:nvPr/>
        </p:nvSpPr>
        <p:spPr>
          <a:xfrm>
            <a:off x="43688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007EAF"/>
                </a:solidFill>
                <a:latin typeface="Segoe UI Light"/>
              </a:defRPr>
            </a:pPr>
            <a:r>
              <a:t>02</a:t>
            </a:r>
          </a:p>
        </p:txBody>
      </p:sp>
      <p:cxnSp>
        <p:nvCxnSpPr>
          <p:cNvPr id="15" name="Connector 14"/>
          <p:cNvCxnSpPr/>
          <p:nvPr/>
        </p:nvCxnSpPr>
        <p:spPr>
          <a:xfrm>
            <a:off x="4368800" y="3187700"/>
            <a:ext cx="3429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4368800" y="3403600"/>
            <a:ext cx="34417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The owner is unclear</a:t>
            </a:r>
          </a:p>
        </p:txBody>
      </p:sp>
      <p:sp>
        <p:nvSpPr>
          <p:cNvPr id="17" name="TextBox 16"/>
          <p:cNvSpPr txBox="1"/>
          <p:nvPr/>
        </p:nvSpPr>
        <p:spPr>
          <a:xfrm>
            <a:off x="43688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506C80"/>
                </a:solidFill>
                <a:latin typeface="Segoe UI"/>
              </a:defRPr>
            </a:pPr>
            <a:r>
              <a:t>Facilities, equipment teams and</a:t>
            </a:r>
          </a:p>
          <a:p>
            <a:pPr algn="l">
              <a:lnSpc>
                <a:spcPts val="2082"/>
              </a:lnSpc>
              <a:spcBef>
                <a:spcPts val="0"/>
              </a:spcBef>
              <a:spcAft>
                <a:spcPts val="0"/>
              </a:spcAft>
              <a:defRPr sz="1750" b="0">
                <a:solidFill>
                  <a:srgbClr val="506C80"/>
                </a:solidFill>
                <a:latin typeface="Segoe UI"/>
              </a:defRPr>
            </a:pPr>
            <a:r>
              <a:t>vendors each hold a piece of the</a:t>
            </a:r>
          </a:p>
          <a:p>
            <a:pPr algn="l">
              <a:lnSpc>
                <a:spcPts val="2082"/>
              </a:lnSpc>
              <a:spcBef>
                <a:spcPts val="0"/>
              </a:spcBef>
              <a:spcAft>
                <a:spcPts val="0"/>
              </a:spcAft>
              <a:defRPr sz="1750" b="0">
                <a:solidFill>
                  <a:srgbClr val="506C80"/>
                </a:solidFill>
                <a:latin typeface="Segoe UI"/>
              </a:defRPr>
            </a:pPr>
            <a:r>
              <a:t>work.</a:t>
            </a:r>
          </a:p>
        </p:txBody>
      </p:sp>
      <p:sp>
        <p:nvSpPr>
          <p:cNvPr id="18" name="TextBox 17"/>
          <p:cNvSpPr txBox="1"/>
          <p:nvPr/>
        </p:nvSpPr>
        <p:spPr>
          <a:xfrm>
            <a:off x="43688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008579"/>
                </a:solidFill>
                <a:latin typeface="Segoe UI"/>
              </a:defRPr>
            </a:pPr>
            <a:r>
              <a:t>The handoff stalls.</a:t>
            </a:r>
          </a:p>
        </p:txBody>
      </p:sp>
      <p:sp>
        <p:nvSpPr>
          <p:cNvPr id="19" name="TextBox 18"/>
          <p:cNvSpPr txBox="1"/>
          <p:nvPr/>
        </p:nvSpPr>
        <p:spPr>
          <a:xfrm>
            <a:off x="8128000" y="2362200"/>
            <a:ext cx="1282700" cy="745997"/>
          </a:xfrm>
          <a:prstGeom prst="rect">
            <a:avLst/>
          </a:prstGeom>
          <a:noFill/>
        </p:spPr>
        <p:txBody>
          <a:bodyPr wrap="none" lIns="0" rIns="0" tIns="0" bIns="0" anchor="t">
            <a:spAutoFit/>
          </a:bodyPr>
          <a:lstStyle/>
          <a:p>
            <a:pPr algn="l">
              <a:lnSpc>
                <a:spcPts val="5473"/>
              </a:lnSpc>
              <a:spcBef>
                <a:spcPts val="0"/>
              </a:spcBef>
              <a:spcAft>
                <a:spcPts val="0"/>
              </a:spcAft>
              <a:defRPr sz="4600" b="0">
                <a:solidFill>
                  <a:srgbClr val="007EAF"/>
                </a:solidFill>
                <a:latin typeface="Segoe UI Light"/>
              </a:defRPr>
            </a:pPr>
            <a:r>
              <a:t>03</a:t>
            </a:r>
          </a:p>
        </p:txBody>
      </p:sp>
      <p:cxnSp>
        <p:nvCxnSpPr>
          <p:cNvPr id="20" name="Connector 19"/>
          <p:cNvCxnSpPr/>
          <p:nvPr/>
        </p:nvCxnSpPr>
        <p:spPr>
          <a:xfrm>
            <a:off x="8128000" y="3187700"/>
            <a:ext cx="3429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128000" y="3403600"/>
            <a:ext cx="34417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The delay is discovered</a:t>
            </a:r>
          </a:p>
          <a:p>
            <a:pPr algn="l">
              <a:lnSpc>
                <a:spcPts val="2499"/>
              </a:lnSpc>
              <a:spcBef>
                <a:spcPts val="0"/>
              </a:spcBef>
              <a:spcAft>
                <a:spcPts val="0"/>
              </a:spcAft>
              <a:defRPr sz="2100" b="1">
                <a:solidFill>
                  <a:srgbClr val="12364E"/>
                </a:solidFill>
                <a:latin typeface="Segoe UI"/>
              </a:defRPr>
            </a:pPr>
            <a:r>
              <a:t>late</a:t>
            </a:r>
          </a:p>
        </p:txBody>
      </p:sp>
      <p:sp>
        <p:nvSpPr>
          <p:cNvPr id="22" name="TextBox 21"/>
          <p:cNvSpPr txBox="1"/>
          <p:nvPr/>
        </p:nvSpPr>
        <p:spPr>
          <a:xfrm>
            <a:off x="8128000" y="4140200"/>
            <a:ext cx="3390900" cy="844232"/>
          </a:xfrm>
          <a:prstGeom prst="rect">
            <a:avLst/>
          </a:prstGeom>
          <a:noFill/>
        </p:spPr>
        <p:txBody>
          <a:bodyPr wrap="none" lIns="0" rIns="0" tIns="0" bIns="0" anchor="t">
            <a:spAutoFit/>
          </a:bodyPr>
          <a:lstStyle/>
          <a:p>
            <a:pPr algn="l">
              <a:lnSpc>
                <a:spcPts val="2082"/>
              </a:lnSpc>
              <a:spcBef>
                <a:spcPts val="0"/>
              </a:spcBef>
              <a:spcAft>
                <a:spcPts val="0"/>
              </a:spcAft>
              <a:defRPr sz="1750" b="0">
                <a:solidFill>
                  <a:srgbClr val="506C80"/>
                </a:solidFill>
                <a:latin typeface="Segoe UI"/>
              </a:defRPr>
            </a:pPr>
            <a:r>
              <a:t>Nobody has a shared view of</a:t>
            </a:r>
          </a:p>
          <a:p>
            <a:pPr algn="l">
              <a:lnSpc>
                <a:spcPts val="2082"/>
              </a:lnSpc>
              <a:spcBef>
                <a:spcPts val="0"/>
              </a:spcBef>
              <a:spcAft>
                <a:spcPts val="0"/>
              </a:spcAft>
              <a:defRPr sz="1750" b="0">
                <a:solidFill>
                  <a:srgbClr val="506C80"/>
                </a:solidFill>
                <a:latin typeface="Segoe UI"/>
              </a:defRPr>
            </a:pPr>
            <a:r>
              <a:t>response targets and waiting</a:t>
            </a:r>
          </a:p>
          <a:p>
            <a:pPr algn="l">
              <a:lnSpc>
                <a:spcPts val="2082"/>
              </a:lnSpc>
              <a:spcBef>
                <a:spcPts val="0"/>
              </a:spcBef>
              <a:spcAft>
                <a:spcPts val="0"/>
              </a:spcAft>
              <a:defRPr sz="1750" b="0">
                <a:solidFill>
                  <a:srgbClr val="506C80"/>
                </a:solidFill>
                <a:latin typeface="Segoe UI"/>
              </a:defRPr>
            </a:pPr>
            <a:r>
              <a:t>work.</a:t>
            </a:r>
          </a:p>
        </p:txBody>
      </p:sp>
      <p:sp>
        <p:nvSpPr>
          <p:cNvPr id="23" name="TextBox 22"/>
          <p:cNvSpPr txBox="1"/>
          <p:nvPr/>
        </p:nvSpPr>
        <p:spPr>
          <a:xfrm>
            <a:off x="8128000" y="5397500"/>
            <a:ext cx="3441700" cy="269938"/>
          </a:xfrm>
          <a:prstGeom prst="rect">
            <a:avLst/>
          </a:prstGeom>
          <a:noFill/>
        </p:spPr>
        <p:txBody>
          <a:bodyPr wrap="none" lIns="0" rIns="0" tIns="0" bIns="0" anchor="t">
            <a:spAutoFit/>
          </a:bodyPr>
          <a:lstStyle/>
          <a:p>
            <a:pPr algn="l">
              <a:lnSpc>
                <a:spcPts val="1725"/>
              </a:lnSpc>
              <a:spcBef>
                <a:spcPts val="0"/>
              </a:spcBef>
              <a:spcAft>
                <a:spcPts val="0"/>
              </a:spcAft>
              <a:defRPr sz="1450" b="1">
                <a:solidFill>
                  <a:srgbClr val="008579"/>
                </a:solidFill>
                <a:latin typeface="Segoe UI"/>
              </a:defRPr>
            </a:pPr>
            <a:r>
              <a:t>The pressure escalates.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Every request gets a route to resolution.">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CONNECTED WORKFLOW</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Every request gets</a:t>
            </a:r>
          </a:p>
          <a:p>
            <a:pPr algn="l">
              <a:lnSpc>
                <a:spcPts val="4284"/>
              </a:lnSpc>
              <a:spcBef>
                <a:spcPts val="0"/>
              </a:spcBef>
              <a:spcAft>
                <a:spcPts val="0"/>
              </a:spcAft>
              <a:defRPr sz="3600" b="1">
                <a:solidFill>
                  <a:srgbClr val="12364E"/>
                </a:solidFill>
                <a:latin typeface="Segoe UI"/>
              </a:defRPr>
            </a:pPr>
            <a:r>
              <a:t>a route to resolution.</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03 / 20</a:t>
            </a:r>
          </a:p>
        </p:txBody>
      </p:sp>
      <p:sp>
        <p:nvSpPr>
          <p:cNvPr id="9" name="Oval 8"/>
          <p:cNvSpPr/>
          <p:nvPr/>
        </p:nvSpPr>
        <p:spPr>
          <a:xfrm>
            <a:off x="609600" y="2603500"/>
            <a:ext cx="419100" cy="4191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96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F3F9FC"/>
                </a:solidFill>
                <a:latin typeface="Segoe UI"/>
              </a:defRPr>
            </a:pPr>
            <a:r>
              <a:t>1</a:t>
            </a:r>
          </a:p>
        </p:txBody>
      </p:sp>
      <p:cxnSp>
        <p:nvCxnSpPr>
          <p:cNvPr id="11" name="Connector 10"/>
          <p:cNvCxnSpPr/>
          <p:nvPr/>
        </p:nvCxnSpPr>
        <p:spPr>
          <a:xfrm>
            <a:off x="1117600" y="2819400"/>
            <a:ext cx="1600200" cy="0"/>
          </a:xfrm>
          <a:prstGeom prst="line">
            <a:avLst/>
          </a:prstGeom>
          <a:ln w="25400">
            <a:solidFill>
              <a:srgbClr val="BDD5E1"/>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096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12364E"/>
                </a:solidFill>
                <a:latin typeface="Segoe UI"/>
              </a:defRPr>
            </a:pPr>
            <a:r>
              <a:t>Capture</a:t>
            </a:r>
          </a:p>
        </p:txBody>
      </p:sp>
      <p:sp>
        <p:nvSpPr>
          <p:cNvPr id="13" name="TextBox 12"/>
          <p:cNvSpPr txBox="1"/>
          <p:nvPr/>
        </p:nvSpPr>
        <p:spPr>
          <a:xfrm>
            <a:off x="6096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Operational need</a:t>
            </a:r>
          </a:p>
        </p:txBody>
      </p:sp>
      <p:sp>
        <p:nvSpPr>
          <p:cNvPr id="14" name="Oval 13"/>
          <p:cNvSpPr/>
          <p:nvPr/>
        </p:nvSpPr>
        <p:spPr>
          <a:xfrm>
            <a:off x="2844800" y="2603500"/>
            <a:ext cx="419100" cy="4191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8448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F3F9FC"/>
                </a:solidFill>
                <a:latin typeface="Segoe UI"/>
              </a:defRPr>
            </a:pPr>
            <a:r>
              <a:t>2</a:t>
            </a:r>
          </a:p>
        </p:txBody>
      </p:sp>
      <p:cxnSp>
        <p:nvCxnSpPr>
          <p:cNvPr id="16" name="Connector 15"/>
          <p:cNvCxnSpPr/>
          <p:nvPr/>
        </p:nvCxnSpPr>
        <p:spPr>
          <a:xfrm>
            <a:off x="3352800" y="2819400"/>
            <a:ext cx="1600200" cy="0"/>
          </a:xfrm>
          <a:prstGeom prst="line">
            <a:avLst/>
          </a:prstGeom>
          <a:ln w="25400">
            <a:solidFill>
              <a:srgbClr val="BDD5E1"/>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28448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12364E"/>
                </a:solidFill>
                <a:latin typeface="Segoe UI"/>
              </a:defRPr>
            </a:pPr>
            <a:r>
              <a:t>Classify</a:t>
            </a:r>
          </a:p>
        </p:txBody>
      </p:sp>
      <p:sp>
        <p:nvSpPr>
          <p:cNvPr id="18" name="TextBox 17"/>
          <p:cNvSpPr txBox="1"/>
          <p:nvPr/>
        </p:nvSpPr>
        <p:spPr>
          <a:xfrm>
            <a:off x="28448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Location + type</a:t>
            </a:r>
          </a:p>
        </p:txBody>
      </p:sp>
      <p:sp>
        <p:nvSpPr>
          <p:cNvPr id="19" name="Oval 18"/>
          <p:cNvSpPr/>
          <p:nvPr/>
        </p:nvSpPr>
        <p:spPr>
          <a:xfrm>
            <a:off x="5080000" y="2603500"/>
            <a:ext cx="419100" cy="4191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800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F3F9FC"/>
                </a:solidFill>
                <a:latin typeface="Segoe UI"/>
              </a:defRPr>
            </a:pPr>
            <a:r>
              <a:t>3</a:t>
            </a:r>
          </a:p>
        </p:txBody>
      </p:sp>
      <p:cxnSp>
        <p:nvCxnSpPr>
          <p:cNvPr id="21" name="Connector 20"/>
          <p:cNvCxnSpPr/>
          <p:nvPr/>
        </p:nvCxnSpPr>
        <p:spPr>
          <a:xfrm>
            <a:off x="5588000" y="2819400"/>
            <a:ext cx="1600200" cy="0"/>
          </a:xfrm>
          <a:prstGeom prst="line">
            <a:avLst/>
          </a:prstGeom>
          <a:ln w="25400">
            <a:solidFill>
              <a:srgbClr val="BDD5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800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12364E"/>
                </a:solidFill>
                <a:latin typeface="Segoe UI"/>
              </a:defRPr>
            </a:pPr>
            <a:r>
              <a:t>Assign</a:t>
            </a:r>
          </a:p>
        </p:txBody>
      </p:sp>
      <p:sp>
        <p:nvSpPr>
          <p:cNvPr id="23" name="TextBox 22"/>
          <p:cNvSpPr txBox="1"/>
          <p:nvPr/>
        </p:nvSpPr>
        <p:spPr>
          <a:xfrm>
            <a:off x="50800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Owner + target</a:t>
            </a:r>
          </a:p>
        </p:txBody>
      </p:sp>
      <p:sp>
        <p:nvSpPr>
          <p:cNvPr id="24" name="Oval 23"/>
          <p:cNvSpPr/>
          <p:nvPr/>
        </p:nvSpPr>
        <p:spPr>
          <a:xfrm>
            <a:off x="7315200" y="2603500"/>
            <a:ext cx="419100" cy="4191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F3F9FC"/>
                </a:solidFill>
                <a:latin typeface="Segoe UI"/>
              </a:defRPr>
            </a:pPr>
            <a:r>
              <a:t>4</a:t>
            </a:r>
          </a:p>
        </p:txBody>
      </p:sp>
      <p:cxnSp>
        <p:nvCxnSpPr>
          <p:cNvPr id="26" name="Connector 25"/>
          <p:cNvCxnSpPr/>
          <p:nvPr/>
        </p:nvCxnSpPr>
        <p:spPr>
          <a:xfrm>
            <a:off x="7823200" y="2819400"/>
            <a:ext cx="1600200" cy="0"/>
          </a:xfrm>
          <a:prstGeom prst="line">
            <a:avLst/>
          </a:prstGeom>
          <a:ln w="25400">
            <a:solidFill>
              <a:srgbClr val="BDD5E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3152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12364E"/>
                </a:solidFill>
                <a:latin typeface="Segoe UI"/>
              </a:defRPr>
            </a:pPr>
            <a:r>
              <a:t>Coordinate</a:t>
            </a:r>
          </a:p>
        </p:txBody>
      </p:sp>
      <p:sp>
        <p:nvSpPr>
          <p:cNvPr id="28" name="TextBox 27"/>
          <p:cNvSpPr txBox="1"/>
          <p:nvPr/>
        </p:nvSpPr>
        <p:spPr>
          <a:xfrm>
            <a:off x="73152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Work + updates</a:t>
            </a:r>
          </a:p>
        </p:txBody>
      </p:sp>
      <p:sp>
        <p:nvSpPr>
          <p:cNvPr id="29" name="Oval 28"/>
          <p:cNvSpPr/>
          <p:nvPr/>
        </p:nvSpPr>
        <p:spPr>
          <a:xfrm>
            <a:off x="9550400" y="2603500"/>
            <a:ext cx="419100" cy="4191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550400" y="2679700"/>
            <a:ext cx="431800" cy="277495"/>
          </a:xfrm>
          <a:prstGeom prst="rect">
            <a:avLst/>
          </a:prstGeom>
          <a:noFill/>
        </p:spPr>
        <p:txBody>
          <a:bodyPr wrap="none" lIns="0" rIns="0" tIns="0" bIns="0" anchor="t">
            <a:spAutoFit/>
          </a:bodyPr>
          <a:lstStyle/>
          <a:p>
            <a:pPr algn="ctr">
              <a:lnSpc>
                <a:spcPts val="1784"/>
              </a:lnSpc>
              <a:spcBef>
                <a:spcPts val="0"/>
              </a:spcBef>
              <a:spcAft>
                <a:spcPts val="0"/>
              </a:spcAft>
              <a:defRPr sz="1500" b="1">
                <a:solidFill>
                  <a:srgbClr val="F3F9FC"/>
                </a:solidFill>
                <a:latin typeface="Segoe UI"/>
              </a:defRPr>
            </a:pPr>
            <a:r>
              <a:t>5</a:t>
            </a:r>
          </a:p>
        </p:txBody>
      </p:sp>
      <p:sp>
        <p:nvSpPr>
          <p:cNvPr id="31" name="TextBox 30"/>
          <p:cNvSpPr txBox="1"/>
          <p:nvPr/>
        </p:nvSpPr>
        <p:spPr>
          <a:xfrm>
            <a:off x="9550400" y="3340100"/>
            <a:ext cx="2044700" cy="413512"/>
          </a:xfrm>
          <a:prstGeom prst="rect">
            <a:avLst/>
          </a:prstGeom>
          <a:noFill/>
        </p:spPr>
        <p:txBody>
          <a:bodyPr wrap="none" lIns="0" rIns="0" tIns="0" bIns="0" anchor="t">
            <a:spAutoFit/>
          </a:bodyPr>
          <a:lstStyle/>
          <a:p>
            <a:pPr algn="l">
              <a:lnSpc>
                <a:spcPts val="2856"/>
              </a:lnSpc>
              <a:spcBef>
                <a:spcPts val="0"/>
              </a:spcBef>
              <a:spcAft>
                <a:spcPts val="0"/>
              </a:spcAft>
              <a:defRPr sz="2400" b="1">
                <a:solidFill>
                  <a:srgbClr val="12364E"/>
                </a:solidFill>
                <a:latin typeface="Segoe UI"/>
              </a:defRPr>
            </a:pPr>
            <a:r>
              <a:t>Resolve</a:t>
            </a:r>
          </a:p>
        </p:txBody>
      </p:sp>
      <p:sp>
        <p:nvSpPr>
          <p:cNvPr id="32" name="TextBox 31"/>
          <p:cNvSpPr txBox="1"/>
          <p:nvPr/>
        </p:nvSpPr>
        <p:spPr>
          <a:xfrm>
            <a:off x="9550400" y="3898900"/>
            <a:ext cx="19177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Outcome + history</a:t>
            </a:r>
          </a:p>
        </p:txBody>
      </p:sp>
      <p:sp>
        <p:nvSpPr>
          <p:cNvPr id="33" name="Rounded Rectangle 32"/>
          <p:cNvSpPr/>
          <p:nvPr/>
        </p:nvSpPr>
        <p:spPr>
          <a:xfrm>
            <a:off x="609600" y="4851400"/>
            <a:ext cx="10972800" cy="1066800"/>
          </a:xfrm>
          <a:prstGeom prst="roundRect">
            <a:avLst>
              <a:gd name="adj" fmla="val 5952"/>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25500" y="5029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RECORD YOU KEEP</a:t>
            </a:r>
          </a:p>
        </p:txBody>
      </p:sp>
      <p:sp>
        <p:nvSpPr>
          <p:cNvPr id="35" name="TextBox 34"/>
          <p:cNvSpPr txBox="1"/>
          <p:nvPr/>
        </p:nvSpPr>
        <p:spPr>
          <a:xfrm>
            <a:off x="825500" y="5334000"/>
            <a:ext cx="10553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12364E"/>
                </a:solidFill>
                <a:latin typeface="Segoe UI"/>
              </a:defRPr>
            </a:pPr>
            <a:r>
              <a:t>Keep the requester informed and retain the operational history across every handoff.</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Your core workflow. One OperatorOS home base.">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PLATFORM</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Your core workflow.</a:t>
            </a:r>
          </a:p>
          <a:p>
            <a:pPr algn="l">
              <a:lnSpc>
                <a:spcPts val="4284"/>
              </a:lnSpc>
              <a:spcBef>
                <a:spcPts val="0"/>
              </a:spcBef>
              <a:spcAft>
                <a:spcPts val="0"/>
              </a:spcAft>
              <a:defRPr sz="3600" b="1">
                <a:solidFill>
                  <a:srgbClr val="12364E"/>
                </a:solidFill>
                <a:latin typeface="Segoe UI"/>
              </a:defRPr>
            </a:pPr>
            <a:r>
              <a:t>One OperatorOS home base.</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04 / 20</a:t>
            </a:r>
          </a:p>
        </p:txBody>
      </p:sp>
      <p:sp>
        <p:nvSpPr>
          <p:cNvPr id="9" name="Oval 8"/>
          <p:cNvSpPr/>
          <p:nvPr/>
        </p:nvSpPr>
        <p:spPr>
          <a:xfrm>
            <a:off x="965200" y="2654300"/>
            <a:ext cx="2717800" cy="2717800"/>
          </a:xfrm>
          <a:prstGeom prst="ellipse">
            <a:avLst/>
          </a:prstGeom>
          <a:noFill/>
          <a:ln w="12700">
            <a:solidFill>
              <a:srgbClr val="BD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219200" y="2908300"/>
            <a:ext cx="2209800" cy="2209800"/>
          </a:xfrm>
          <a:prstGeom prst="ellipse">
            <a:avLst/>
          </a:prstGeom>
          <a:solidFill>
            <a:srgbClr val="E2F0F6"/>
          </a:solidFill>
          <a:ln w="12700">
            <a:solidFill>
              <a:srgbClr val="007EA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operatoros-mark.png"/>
          <p:cNvPicPr>
            <a:picLocks noChangeAspect="1"/>
          </p:cNvPicPr>
          <p:nvPr/>
        </p:nvPicPr>
        <p:blipFill>
          <a:blip r:embed="rId3"/>
          <a:stretch>
            <a:fillRect/>
          </a:stretch>
        </p:blipFill>
        <p:spPr>
          <a:xfrm>
            <a:off x="1968500" y="3213100"/>
            <a:ext cx="736600" cy="736600"/>
          </a:xfrm>
          <a:prstGeom prst="rect">
            <a:avLst/>
          </a:prstGeom>
        </p:spPr>
      </p:pic>
      <p:sp>
        <p:nvSpPr>
          <p:cNvPr id="12" name="TextBox 11"/>
          <p:cNvSpPr txBox="1"/>
          <p:nvPr/>
        </p:nvSpPr>
        <p:spPr>
          <a:xfrm>
            <a:off x="1460500" y="4102100"/>
            <a:ext cx="1854200" cy="368173"/>
          </a:xfrm>
          <a:prstGeom prst="rect">
            <a:avLst/>
          </a:prstGeom>
          <a:noFill/>
        </p:spPr>
        <p:txBody>
          <a:bodyPr wrap="none" lIns="0" rIns="0" tIns="0" bIns="0" anchor="t">
            <a:spAutoFit/>
          </a:bodyPr>
          <a:lstStyle/>
          <a:p>
            <a:pPr algn="ctr">
              <a:lnSpc>
                <a:spcPts val="2499"/>
              </a:lnSpc>
              <a:spcBef>
                <a:spcPts val="0"/>
              </a:spcBef>
              <a:spcAft>
                <a:spcPts val="0"/>
              </a:spcAft>
              <a:defRPr sz="2100" b="1">
                <a:solidFill>
                  <a:srgbClr val="12364E"/>
                </a:solidFill>
                <a:latin typeface="Segoe UI"/>
              </a:defRPr>
            </a:pPr>
            <a:r>
              <a:t>OperatorOS</a:t>
            </a:r>
          </a:p>
        </p:txBody>
      </p:sp>
      <p:sp>
        <p:nvSpPr>
          <p:cNvPr id="13" name="TextBox 12"/>
          <p:cNvSpPr txBox="1"/>
          <p:nvPr/>
        </p:nvSpPr>
        <p:spPr>
          <a:xfrm>
            <a:off x="1333500" y="4508500"/>
            <a:ext cx="2082800" cy="247269"/>
          </a:xfrm>
          <a:prstGeom prst="rect">
            <a:avLst/>
          </a:prstGeom>
          <a:noFill/>
        </p:spPr>
        <p:txBody>
          <a:bodyPr wrap="none" lIns="0" rIns="0" tIns="0" bIns="0" anchor="t">
            <a:spAutoFit/>
          </a:bodyPr>
          <a:lstStyle/>
          <a:p>
            <a:pPr algn="ctr">
              <a:lnSpc>
                <a:spcPts val="1547"/>
              </a:lnSpc>
              <a:spcBef>
                <a:spcPts val="0"/>
              </a:spcBef>
              <a:spcAft>
                <a:spcPts val="0"/>
              </a:spcAft>
              <a:defRPr sz="1300" b="0">
                <a:solidFill>
                  <a:srgbClr val="506C80"/>
                </a:solidFill>
                <a:latin typeface="Segoe UI"/>
              </a:defRPr>
            </a:pPr>
            <a:r>
              <a:t>Your home base</a:t>
            </a:r>
          </a:p>
        </p:txBody>
      </p:sp>
      <p:cxnSp>
        <p:nvCxnSpPr>
          <p:cNvPr id="14" name="Connector 13"/>
          <p:cNvCxnSpPr/>
          <p:nvPr/>
        </p:nvCxnSpPr>
        <p:spPr>
          <a:xfrm flipV="1">
            <a:off x="3695700" y="2882900"/>
            <a:ext cx="1270000" cy="113030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965700" y="2451100"/>
            <a:ext cx="6616700" cy="876300"/>
          </a:xfrm>
          <a:prstGeom prst="roundRect">
            <a:avLst>
              <a:gd name="adj" fmla="val 7246"/>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19700" y="25908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CORE WORKFLOW</a:t>
            </a:r>
          </a:p>
        </p:txBody>
      </p:sp>
      <p:sp>
        <p:nvSpPr>
          <p:cNvPr id="17" name="TextBox 16"/>
          <p:cNvSpPr txBox="1"/>
          <p:nvPr/>
        </p:nvSpPr>
        <p:spPr>
          <a:xfrm>
            <a:off x="5219700" y="28321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PulseDesk</a:t>
            </a:r>
          </a:p>
        </p:txBody>
      </p:sp>
      <p:cxnSp>
        <p:nvCxnSpPr>
          <p:cNvPr id="18" name="Connector 17"/>
          <p:cNvCxnSpPr/>
          <p:nvPr/>
        </p:nvCxnSpPr>
        <p:spPr>
          <a:xfrm flipV="1">
            <a:off x="3695700" y="3949700"/>
            <a:ext cx="1270000" cy="6350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65700" y="3517900"/>
            <a:ext cx="6616700" cy="876300"/>
          </a:xfrm>
          <a:prstGeom prst="roundRect">
            <a:avLst>
              <a:gd name="adj" fmla="val 7246"/>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19700" y="36576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CHOSEN COMPANION</a:t>
            </a:r>
          </a:p>
        </p:txBody>
      </p:sp>
      <p:sp>
        <p:nvSpPr>
          <p:cNvPr id="21" name="TextBox 20"/>
          <p:cNvSpPr txBox="1"/>
          <p:nvPr/>
        </p:nvSpPr>
        <p:spPr>
          <a:xfrm>
            <a:off x="5219700" y="3898900"/>
            <a:ext cx="60579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SnapProofOS</a:t>
            </a:r>
          </a:p>
        </p:txBody>
      </p:sp>
      <p:cxnSp>
        <p:nvCxnSpPr>
          <p:cNvPr id="22" name="Connector 21"/>
          <p:cNvCxnSpPr/>
          <p:nvPr/>
        </p:nvCxnSpPr>
        <p:spPr>
          <a:xfrm>
            <a:off x="3695700" y="4013200"/>
            <a:ext cx="1270000" cy="100330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65700" y="4584700"/>
            <a:ext cx="6616700" cy="876300"/>
          </a:xfrm>
          <a:prstGeom prst="roundRect">
            <a:avLst>
              <a:gd name="adj" fmla="val 7246"/>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9700" y="47244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CENTRAL CONTROLS</a:t>
            </a:r>
          </a:p>
        </p:txBody>
      </p:sp>
      <p:sp>
        <p:nvSpPr>
          <p:cNvPr id="25" name="TextBox 24"/>
          <p:cNvSpPr txBox="1"/>
          <p:nvPr/>
        </p:nvSpPr>
        <p:spPr>
          <a:xfrm>
            <a:off x="5219700" y="4965700"/>
            <a:ext cx="6057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People • roles • access • billing</a:t>
            </a:r>
          </a:p>
        </p:txBody>
      </p:sp>
      <p:sp>
        <p:nvSpPr>
          <p:cNvPr id="26" name="TextBox 25"/>
          <p:cNvSpPr txBox="1"/>
          <p:nvPr/>
        </p:nvSpPr>
        <p:spPr>
          <a:xfrm>
            <a:off x="609600" y="5930900"/>
            <a:ext cx="10960100" cy="277495"/>
          </a:xfrm>
          <a:prstGeom prst="rect">
            <a:avLst/>
          </a:prstGeom>
          <a:noFill/>
        </p:spPr>
        <p:txBody>
          <a:bodyPr wrap="none" lIns="0" rIns="0" tIns="0" bIns="0" anchor="t">
            <a:spAutoFit/>
          </a:bodyPr>
          <a:lstStyle/>
          <a:p>
            <a:pPr algn="l">
              <a:lnSpc>
                <a:spcPts val="1784"/>
              </a:lnSpc>
              <a:spcBef>
                <a:spcPts val="0"/>
              </a:spcBef>
              <a:spcAft>
                <a:spcPts val="0"/>
              </a:spcAft>
              <a:defRPr sz="1500" b="0">
                <a:solidFill>
                  <a:srgbClr val="506C80"/>
                </a:solidFill>
                <a:latin typeface="Segoe UI"/>
              </a:defRPr>
            </a:pPr>
            <a:r>
              <a:t>One flagship per organization. Expand with the eligible companions your team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The work behind a functioning department.">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WHAT THE TEAM GETS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The work behind</a:t>
            </a:r>
          </a:p>
          <a:p>
            <a:pPr algn="l">
              <a:lnSpc>
                <a:spcPts val="4284"/>
              </a:lnSpc>
              <a:spcBef>
                <a:spcPts val="0"/>
              </a:spcBef>
              <a:spcAft>
                <a:spcPts val="0"/>
              </a:spcAft>
              <a:defRPr sz="3600" b="1">
                <a:solidFill>
                  <a:srgbClr val="12364E"/>
                </a:solidFill>
                <a:latin typeface="Segoe UI"/>
              </a:defRPr>
            </a:pPr>
            <a:r>
              <a:t>a functioning department.</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05 / 20</a:t>
            </a:r>
          </a:p>
        </p:txBody>
      </p:sp>
      <p:sp>
        <p:nvSpPr>
          <p:cNvPr id="9" name="Rounded Rectangle 8"/>
          <p:cNvSpPr/>
          <p:nvPr/>
        </p:nvSpPr>
        <p:spPr>
          <a:xfrm>
            <a:off x="609600" y="24257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01</a:t>
            </a:r>
          </a:p>
        </p:txBody>
      </p:sp>
      <p:sp>
        <p:nvSpPr>
          <p:cNvPr id="11" name="TextBox 10"/>
          <p:cNvSpPr txBox="1"/>
          <p:nvPr/>
        </p:nvSpPr>
        <p:spPr>
          <a:xfrm>
            <a:off x="8128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Organize demand</a:t>
            </a:r>
          </a:p>
        </p:txBody>
      </p:sp>
      <p:sp>
        <p:nvSpPr>
          <p:cNvPr id="12" name="TextBox 11"/>
          <p:cNvSpPr txBox="1"/>
          <p:nvPr/>
        </p:nvSpPr>
        <p:spPr>
          <a:xfrm>
            <a:off x="812800" y="3263900"/>
            <a:ext cx="3035300" cy="519303"/>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Request queues, priorities, filters,</a:t>
            </a:r>
          </a:p>
          <a:p>
            <a:pPr algn="l">
              <a:lnSpc>
                <a:spcPts val="1844"/>
              </a:lnSpc>
              <a:spcBef>
                <a:spcPts val="0"/>
              </a:spcBef>
              <a:spcAft>
                <a:spcPts val="0"/>
              </a:spcAft>
              <a:defRPr sz="1550" b="0">
                <a:solidFill>
                  <a:srgbClr val="506C80"/>
                </a:solidFill>
                <a:latin typeface="Segoe UI"/>
              </a:defRPr>
            </a:pPr>
            <a:r>
              <a:t>saved views and protected intake.</a:t>
            </a:r>
          </a:p>
        </p:txBody>
      </p:sp>
      <p:sp>
        <p:nvSpPr>
          <p:cNvPr id="13" name="Rounded Rectangle 12"/>
          <p:cNvSpPr/>
          <p:nvPr/>
        </p:nvSpPr>
        <p:spPr>
          <a:xfrm>
            <a:off x="4368800" y="24257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02</a:t>
            </a:r>
          </a:p>
        </p:txBody>
      </p:sp>
      <p:sp>
        <p:nvSpPr>
          <p:cNvPr id="15" name="TextBox 14"/>
          <p:cNvSpPr txBox="1"/>
          <p:nvPr/>
        </p:nvSpPr>
        <p:spPr>
          <a:xfrm>
            <a:off x="45720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Make ownership clear</a:t>
            </a:r>
          </a:p>
        </p:txBody>
      </p:sp>
      <p:sp>
        <p:nvSpPr>
          <p:cNvPr id="16" name="TextBox 15"/>
          <p:cNvSpPr txBox="1"/>
          <p:nvPr/>
        </p:nvSpPr>
        <p:spPr>
          <a:xfrm>
            <a:off x="4572000" y="3263900"/>
            <a:ext cx="3035300" cy="519303"/>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Departments, queues, teams,</a:t>
            </a:r>
          </a:p>
          <a:p>
            <a:pPr algn="l">
              <a:lnSpc>
                <a:spcPts val="1844"/>
              </a:lnSpc>
              <a:spcBef>
                <a:spcPts val="0"/>
              </a:spcBef>
              <a:spcAft>
                <a:spcPts val="0"/>
              </a:spcAft>
              <a:defRPr sz="1550" b="0">
                <a:solidFill>
                  <a:srgbClr val="506C80"/>
                </a:solidFill>
                <a:latin typeface="Segoe UI"/>
              </a:defRPr>
            </a:pPr>
            <a:r>
              <a:t>assignments and escalation views.</a:t>
            </a:r>
          </a:p>
        </p:txBody>
      </p:sp>
      <p:sp>
        <p:nvSpPr>
          <p:cNvPr id="17" name="Rounded Rectangle 16"/>
          <p:cNvSpPr/>
          <p:nvPr/>
        </p:nvSpPr>
        <p:spPr>
          <a:xfrm>
            <a:off x="8128000" y="24257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1200" y="26035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03</a:t>
            </a:r>
          </a:p>
        </p:txBody>
      </p:sp>
      <p:sp>
        <p:nvSpPr>
          <p:cNvPr id="19" name="TextBox 18"/>
          <p:cNvSpPr txBox="1"/>
          <p:nvPr/>
        </p:nvSpPr>
        <p:spPr>
          <a:xfrm>
            <a:off x="8331200" y="28575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Watch service pressure</a:t>
            </a:r>
          </a:p>
        </p:txBody>
      </p:sp>
      <p:sp>
        <p:nvSpPr>
          <p:cNvPr id="20" name="TextBox 19"/>
          <p:cNvSpPr txBox="1"/>
          <p:nvPr/>
        </p:nvSpPr>
        <p:spPr>
          <a:xfrm>
            <a:off x="8331200" y="32639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Response and resolution targets</a:t>
            </a:r>
          </a:p>
          <a:p>
            <a:pPr algn="l">
              <a:lnSpc>
                <a:spcPts val="1844"/>
              </a:lnSpc>
              <a:spcBef>
                <a:spcPts val="0"/>
              </a:spcBef>
              <a:spcAft>
                <a:spcPts val="0"/>
              </a:spcAft>
              <a:defRPr sz="1550" b="0">
                <a:solidFill>
                  <a:srgbClr val="506C80"/>
                </a:solidFill>
                <a:latin typeface="Segoe UI"/>
              </a:defRPr>
            </a:pPr>
            <a:r>
              <a:t>with due, at-risk and overdue</a:t>
            </a:r>
          </a:p>
          <a:p>
            <a:pPr algn="l">
              <a:lnSpc>
                <a:spcPts val="1844"/>
              </a:lnSpc>
              <a:spcBef>
                <a:spcPts val="0"/>
              </a:spcBef>
              <a:spcAft>
                <a:spcPts val="0"/>
              </a:spcAft>
              <a:defRPr sz="1550" b="0">
                <a:solidFill>
                  <a:srgbClr val="506C80"/>
                </a:solidFill>
                <a:latin typeface="Segoe UI"/>
              </a:defRPr>
            </a:pPr>
            <a:r>
              <a:t>status.</a:t>
            </a:r>
          </a:p>
        </p:txBody>
      </p:sp>
      <p:sp>
        <p:nvSpPr>
          <p:cNvPr id="21" name="Rounded Rectangle 20"/>
          <p:cNvSpPr/>
          <p:nvPr/>
        </p:nvSpPr>
        <p:spPr>
          <a:xfrm>
            <a:off x="609600" y="42799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28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04</a:t>
            </a:r>
          </a:p>
        </p:txBody>
      </p:sp>
      <p:sp>
        <p:nvSpPr>
          <p:cNvPr id="23" name="TextBox 22"/>
          <p:cNvSpPr txBox="1"/>
          <p:nvPr/>
        </p:nvSpPr>
        <p:spPr>
          <a:xfrm>
            <a:off x="8128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Connect the context</a:t>
            </a:r>
          </a:p>
        </p:txBody>
      </p:sp>
      <p:sp>
        <p:nvSpPr>
          <p:cNvPr id="24" name="TextBox 23"/>
          <p:cNvSpPr txBox="1"/>
          <p:nvPr/>
        </p:nvSpPr>
        <p:spPr>
          <a:xfrm>
            <a:off x="8128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Equipment, facilities, supplies,</a:t>
            </a:r>
          </a:p>
          <a:p>
            <a:pPr algn="l">
              <a:lnSpc>
                <a:spcPts val="1844"/>
              </a:lnSpc>
              <a:spcBef>
                <a:spcPts val="0"/>
              </a:spcBef>
              <a:spcAft>
                <a:spcPts val="0"/>
              </a:spcAft>
              <a:defRPr sz="1550" b="0">
                <a:solidFill>
                  <a:srgbClr val="506C80"/>
                </a:solidFill>
                <a:latin typeface="Segoe UI"/>
              </a:defRPr>
            </a:pPr>
            <a:r>
              <a:t>vendors, sites and service</a:t>
            </a:r>
          </a:p>
          <a:p>
            <a:pPr algn="l">
              <a:lnSpc>
                <a:spcPts val="1844"/>
              </a:lnSpc>
              <a:spcBef>
                <a:spcPts val="0"/>
              </a:spcBef>
              <a:spcAft>
                <a:spcPts val="0"/>
              </a:spcAft>
              <a:defRPr sz="1550" b="0">
                <a:solidFill>
                  <a:srgbClr val="506C80"/>
                </a:solidFill>
                <a:latin typeface="Segoe UI"/>
              </a:defRPr>
            </a:pPr>
            <a:r>
              <a:t>contacts.</a:t>
            </a:r>
          </a:p>
        </p:txBody>
      </p:sp>
      <p:sp>
        <p:nvSpPr>
          <p:cNvPr id="25" name="Rounded Rectangle 24"/>
          <p:cNvSpPr/>
          <p:nvPr/>
        </p:nvSpPr>
        <p:spPr>
          <a:xfrm>
            <a:off x="4368800" y="42799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720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05</a:t>
            </a:r>
          </a:p>
        </p:txBody>
      </p:sp>
      <p:sp>
        <p:nvSpPr>
          <p:cNvPr id="27" name="TextBox 26"/>
          <p:cNvSpPr txBox="1"/>
          <p:nvPr/>
        </p:nvSpPr>
        <p:spPr>
          <a:xfrm>
            <a:off x="45720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Keep work together</a:t>
            </a:r>
          </a:p>
        </p:txBody>
      </p:sp>
      <p:sp>
        <p:nvSpPr>
          <p:cNvPr id="28" name="TextBox 27"/>
          <p:cNvSpPr txBox="1"/>
          <p:nvPr/>
        </p:nvSpPr>
        <p:spPr>
          <a:xfrm>
            <a:off x="45720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Requester replies, internal notes,</a:t>
            </a:r>
          </a:p>
          <a:p>
            <a:pPr algn="l">
              <a:lnSpc>
                <a:spcPts val="1844"/>
              </a:lnSpc>
              <a:spcBef>
                <a:spcPts val="0"/>
              </a:spcBef>
              <a:spcAft>
                <a:spcPts val="0"/>
              </a:spcAft>
              <a:defRPr sz="1550" b="0">
                <a:solidFill>
                  <a:srgbClr val="506C80"/>
                </a:solidFill>
                <a:latin typeface="Segoe UI"/>
              </a:defRPr>
            </a:pPr>
            <a:r>
              <a:t>time records and controlled</a:t>
            </a:r>
          </a:p>
          <a:p>
            <a:pPr algn="l">
              <a:lnSpc>
                <a:spcPts val="1844"/>
              </a:lnSpc>
              <a:spcBef>
                <a:spcPts val="0"/>
              </a:spcBef>
              <a:spcAft>
                <a:spcPts val="0"/>
              </a:spcAft>
              <a:defRPr sz="1550" b="0">
                <a:solidFill>
                  <a:srgbClr val="506C80"/>
                </a:solidFill>
                <a:latin typeface="Segoe UI"/>
              </a:defRPr>
            </a:pPr>
            <a:r>
              <a:t>attachments.</a:t>
            </a:r>
          </a:p>
        </p:txBody>
      </p:sp>
      <p:sp>
        <p:nvSpPr>
          <p:cNvPr id="29" name="Rounded Rectangle 28"/>
          <p:cNvSpPr/>
          <p:nvPr/>
        </p:nvSpPr>
        <p:spPr>
          <a:xfrm>
            <a:off x="8128000" y="4279900"/>
            <a:ext cx="3454400" cy="1638300"/>
          </a:xfrm>
          <a:prstGeom prst="roundRect">
            <a:avLst>
              <a:gd name="adj" fmla="val 465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31200" y="4457700"/>
            <a:ext cx="546100" cy="217043"/>
          </a:xfrm>
          <a:prstGeom prst="rect">
            <a:avLst/>
          </a:prstGeom>
          <a:noFill/>
        </p:spPr>
        <p:txBody>
          <a:bodyPr wrap="none" lIns="0" rIns="0" tIns="0" bIns="0" anchor="t">
            <a:spAutoFit/>
          </a:bodyPr>
          <a:lstStyle/>
          <a:p>
            <a:pPr algn="l">
              <a:lnSpc>
                <a:spcPts val="1309"/>
              </a:lnSpc>
              <a:spcBef>
                <a:spcPts val="0"/>
              </a:spcBef>
              <a:spcAft>
                <a:spcPts val="0"/>
              </a:spcAft>
              <a:defRPr sz="1100" b="0">
                <a:solidFill>
                  <a:srgbClr val="007EAF"/>
                </a:solidFill>
                <a:latin typeface="Consolas"/>
              </a:defRPr>
            </a:pPr>
            <a:r>
              <a:t>06</a:t>
            </a:r>
          </a:p>
        </p:txBody>
      </p:sp>
      <p:sp>
        <p:nvSpPr>
          <p:cNvPr id="31" name="TextBox 30"/>
          <p:cNvSpPr txBox="1"/>
          <p:nvPr/>
        </p:nvSpPr>
        <p:spPr>
          <a:xfrm>
            <a:off x="8331200" y="4711700"/>
            <a:ext cx="30607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Improve the next handoff</a:t>
            </a:r>
          </a:p>
        </p:txBody>
      </p:sp>
      <p:sp>
        <p:nvSpPr>
          <p:cNvPr id="32" name="TextBox 31"/>
          <p:cNvSpPr txBox="1"/>
          <p:nvPr/>
        </p:nvSpPr>
        <p:spPr>
          <a:xfrm>
            <a:off x="8331200" y="5118100"/>
            <a:ext cx="3035300" cy="753554"/>
          </a:xfrm>
          <a:prstGeom prst="rect">
            <a:avLst/>
          </a:prstGeom>
          <a:noFill/>
        </p:spPr>
        <p:txBody>
          <a:bodyPr wrap="none" lIns="0" rIns="0" tIns="0" bIns="0" anchor="t">
            <a:spAutoFit/>
          </a:bodyPr>
          <a:lstStyle/>
          <a:p>
            <a:pPr algn="l">
              <a:lnSpc>
                <a:spcPts val="1844"/>
              </a:lnSpc>
              <a:spcBef>
                <a:spcPts val="0"/>
              </a:spcBef>
              <a:spcAft>
                <a:spcPts val="0"/>
              </a:spcAft>
              <a:defRPr sz="1550" b="0">
                <a:solidFill>
                  <a:srgbClr val="506C80"/>
                </a:solidFill>
                <a:latin typeface="Segoe UI"/>
              </a:defRPr>
            </a:pPr>
            <a:r>
              <a:t>Operational knowledge, activity</a:t>
            </a:r>
          </a:p>
          <a:p>
            <a:pPr algn="l">
              <a:lnSpc>
                <a:spcPts val="1844"/>
              </a:lnSpc>
              <a:spcBef>
                <a:spcPts val="0"/>
              </a:spcBef>
              <a:spcAft>
                <a:spcPts val="0"/>
              </a:spcAft>
              <a:defRPr sz="1550" b="0">
                <a:solidFill>
                  <a:srgbClr val="506C80"/>
                </a:solidFill>
                <a:latin typeface="Segoe UI"/>
              </a:defRPr>
            </a:pPr>
            <a:r>
              <a:t>history and response/workload</a:t>
            </a:r>
          </a:p>
          <a:p>
            <a:pPr algn="l">
              <a:lnSpc>
                <a:spcPts val="1844"/>
              </a:lnSpc>
              <a:spcBef>
                <a:spcPts val="0"/>
              </a:spcBef>
              <a:spcAft>
                <a:spcPts val="0"/>
              </a:spcAft>
              <a:defRPr sz="1550" b="0">
                <a:solidFill>
                  <a:srgbClr val="506C80"/>
                </a:solidFill>
                <a:latin typeface="Segoe UI"/>
              </a:defRPr>
            </a:pPr>
            <a:r>
              <a:t>reporting.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See where operations need attention next.">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OPERATIONAL PULSE</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See where operations</a:t>
            </a:r>
          </a:p>
          <a:p>
            <a:pPr algn="l">
              <a:lnSpc>
                <a:spcPts val="4284"/>
              </a:lnSpc>
              <a:spcBef>
                <a:spcPts val="0"/>
              </a:spcBef>
              <a:spcAft>
                <a:spcPts val="0"/>
              </a:spcAft>
              <a:defRPr sz="3600" b="1">
                <a:solidFill>
                  <a:srgbClr val="12364E"/>
                </a:solidFill>
                <a:latin typeface="Segoe UI"/>
              </a:defRPr>
            </a:pPr>
            <a:r>
              <a:t>need attention next.</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06 / 20</a:t>
            </a:r>
          </a:p>
        </p:txBody>
      </p:sp>
      <p:sp>
        <p:nvSpPr>
          <p:cNvPr id="9" name="TextBox 8"/>
          <p:cNvSpPr txBox="1"/>
          <p:nvPr/>
        </p:nvSpPr>
        <p:spPr>
          <a:xfrm>
            <a:off x="609600" y="2641600"/>
            <a:ext cx="3695700" cy="1501648"/>
          </a:xfrm>
          <a:prstGeom prst="rect">
            <a:avLst/>
          </a:prstGeom>
          <a:noFill/>
        </p:spPr>
        <p:txBody>
          <a:bodyPr wrap="none" lIns="0" rIns="0" tIns="0" bIns="0" anchor="t">
            <a:spAutoFit/>
          </a:bodyPr>
          <a:lstStyle/>
          <a:p>
            <a:pPr algn="l">
              <a:lnSpc>
                <a:spcPts val="2856"/>
              </a:lnSpc>
              <a:spcBef>
                <a:spcPts val="0"/>
              </a:spcBef>
              <a:spcAft>
                <a:spcPts val="0"/>
              </a:spcAft>
              <a:defRPr sz="2400" b="0">
                <a:solidFill>
                  <a:srgbClr val="506C80"/>
                </a:solidFill>
                <a:latin typeface="Segoe UI"/>
              </a:defRPr>
            </a:pPr>
            <a:r>
              <a:t>A workday brief brings</a:t>
            </a:r>
          </a:p>
          <a:p>
            <a:pPr algn="l">
              <a:lnSpc>
                <a:spcPts val="2856"/>
              </a:lnSpc>
              <a:spcBef>
                <a:spcPts val="0"/>
              </a:spcBef>
              <a:spcAft>
                <a:spcPts val="0"/>
              </a:spcAft>
              <a:defRPr sz="2400" b="0">
                <a:solidFill>
                  <a:srgbClr val="506C80"/>
                </a:solidFill>
                <a:latin typeface="Segoe UI"/>
              </a:defRPr>
            </a:pPr>
            <a:r>
              <a:t>service-target pressure</a:t>
            </a:r>
          </a:p>
          <a:p>
            <a:pPr algn="l">
              <a:lnSpc>
                <a:spcPts val="2856"/>
              </a:lnSpc>
              <a:spcBef>
                <a:spcPts val="0"/>
              </a:spcBef>
              <a:spcAft>
                <a:spcPts val="0"/>
              </a:spcAft>
              <a:defRPr sz="2400" b="0">
                <a:solidFill>
                  <a:srgbClr val="506C80"/>
                </a:solidFill>
                <a:latin typeface="Segoe UI"/>
              </a:defRPr>
            </a:pPr>
            <a:r>
              <a:t>and operational demand</a:t>
            </a:r>
          </a:p>
          <a:p>
            <a:pPr algn="l">
              <a:lnSpc>
                <a:spcPts val="2856"/>
              </a:lnSpc>
              <a:spcBef>
                <a:spcPts val="0"/>
              </a:spcBef>
              <a:spcAft>
                <a:spcPts val="0"/>
              </a:spcAft>
              <a:defRPr sz="2400" b="0">
                <a:solidFill>
                  <a:srgbClr val="506C80"/>
                </a:solidFill>
                <a:latin typeface="Segoe UI"/>
              </a:defRPr>
            </a:pPr>
            <a:r>
              <a:t>into one view.</a:t>
            </a:r>
          </a:p>
        </p:txBody>
      </p:sp>
      <p:sp>
        <p:nvSpPr>
          <p:cNvPr id="10" name="Rounded Rectangle 9"/>
          <p:cNvSpPr/>
          <p:nvPr/>
        </p:nvSpPr>
        <p:spPr>
          <a:xfrm>
            <a:off x="4864100" y="2476500"/>
            <a:ext cx="6718300" cy="685800"/>
          </a:xfrm>
          <a:prstGeom prst="roundRect">
            <a:avLst>
              <a:gd name="adj" fmla="val 7407"/>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41900" y="2679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007EAF"/>
                </a:solidFill>
                <a:latin typeface="Consolas"/>
              </a:defRPr>
            </a:pPr>
            <a:r>
              <a:t>01</a:t>
            </a:r>
          </a:p>
        </p:txBody>
      </p:sp>
      <p:sp>
        <p:nvSpPr>
          <p:cNvPr id="12" name="TextBox 11"/>
          <p:cNvSpPr txBox="1"/>
          <p:nvPr/>
        </p:nvSpPr>
        <p:spPr>
          <a:xfrm>
            <a:off x="5575300" y="2565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12364E"/>
                </a:solidFill>
                <a:latin typeface="Segoe UI"/>
              </a:defRPr>
            </a:pPr>
            <a:r>
              <a:t>Overdue / at risk</a:t>
            </a:r>
          </a:p>
        </p:txBody>
      </p:sp>
      <p:sp>
        <p:nvSpPr>
          <p:cNvPr id="13" name="TextBox 12"/>
          <p:cNvSpPr txBox="1"/>
          <p:nvPr/>
        </p:nvSpPr>
        <p:spPr>
          <a:xfrm>
            <a:off x="5575300" y="2882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506C80"/>
                </a:solidFill>
                <a:latin typeface="Segoe UI"/>
              </a:defRPr>
            </a:pPr>
            <a:r>
              <a:t>Review the request and service target.</a:t>
            </a:r>
          </a:p>
        </p:txBody>
      </p:sp>
      <p:sp>
        <p:nvSpPr>
          <p:cNvPr id="14" name="Rounded Rectangle 13"/>
          <p:cNvSpPr/>
          <p:nvPr/>
        </p:nvSpPr>
        <p:spPr>
          <a:xfrm>
            <a:off x="4864100" y="3238500"/>
            <a:ext cx="6718300" cy="685800"/>
          </a:xfrm>
          <a:prstGeom prst="roundRect">
            <a:avLst>
              <a:gd name="adj" fmla="val 7407"/>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41900" y="3441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007EAF"/>
                </a:solidFill>
                <a:latin typeface="Consolas"/>
              </a:defRPr>
            </a:pPr>
            <a:r>
              <a:t>02</a:t>
            </a:r>
          </a:p>
        </p:txBody>
      </p:sp>
      <p:sp>
        <p:nvSpPr>
          <p:cNvPr id="16" name="TextBox 15"/>
          <p:cNvSpPr txBox="1"/>
          <p:nvPr/>
        </p:nvSpPr>
        <p:spPr>
          <a:xfrm>
            <a:off x="5575300" y="3327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12364E"/>
                </a:solidFill>
                <a:latin typeface="Segoe UI"/>
              </a:defRPr>
            </a:pPr>
            <a:r>
              <a:t>Urgent / unassigned</a:t>
            </a:r>
          </a:p>
        </p:txBody>
      </p:sp>
      <p:sp>
        <p:nvSpPr>
          <p:cNvPr id="17" name="TextBox 16"/>
          <p:cNvSpPr txBox="1"/>
          <p:nvPr/>
        </p:nvSpPr>
        <p:spPr>
          <a:xfrm>
            <a:off x="5575300" y="3644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506C80"/>
                </a:solidFill>
                <a:latin typeface="Segoe UI"/>
              </a:defRPr>
            </a:pPr>
            <a:r>
              <a:t>Name the team or person responsible.</a:t>
            </a:r>
          </a:p>
        </p:txBody>
      </p:sp>
      <p:sp>
        <p:nvSpPr>
          <p:cNvPr id="18" name="Rounded Rectangle 17"/>
          <p:cNvSpPr/>
          <p:nvPr/>
        </p:nvSpPr>
        <p:spPr>
          <a:xfrm>
            <a:off x="4864100" y="4000500"/>
            <a:ext cx="6718300" cy="685800"/>
          </a:xfrm>
          <a:prstGeom prst="roundRect">
            <a:avLst>
              <a:gd name="adj" fmla="val 7407"/>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41900" y="4203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007EAF"/>
                </a:solidFill>
                <a:latin typeface="Consolas"/>
              </a:defRPr>
            </a:pPr>
            <a:r>
              <a:t>03</a:t>
            </a:r>
          </a:p>
        </p:txBody>
      </p:sp>
      <p:sp>
        <p:nvSpPr>
          <p:cNvPr id="20" name="TextBox 19"/>
          <p:cNvSpPr txBox="1"/>
          <p:nvPr/>
        </p:nvSpPr>
        <p:spPr>
          <a:xfrm>
            <a:off x="5575300" y="4089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12364E"/>
                </a:solidFill>
                <a:latin typeface="Segoe UI"/>
              </a:defRPr>
            </a:pPr>
            <a:r>
              <a:t>Pending supplies</a:t>
            </a:r>
          </a:p>
        </p:txBody>
      </p:sp>
      <p:sp>
        <p:nvSpPr>
          <p:cNvPr id="21" name="TextBox 20"/>
          <p:cNvSpPr txBox="1"/>
          <p:nvPr/>
        </p:nvSpPr>
        <p:spPr>
          <a:xfrm>
            <a:off x="5575300" y="4406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506C80"/>
                </a:solidFill>
                <a:latin typeface="Segoe UI"/>
              </a:defRPr>
            </a:pPr>
            <a:r>
              <a:t>Open the supply request and next action.</a:t>
            </a:r>
          </a:p>
        </p:txBody>
      </p:sp>
      <p:sp>
        <p:nvSpPr>
          <p:cNvPr id="22" name="Rounded Rectangle 21"/>
          <p:cNvSpPr/>
          <p:nvPr/>
        </p:nvSpPr>
        <p:spPr>
          <a:xfrm>
            <a:off x="4864100" y="4762500"/>
            <a:ext cx="6718300" cy="685800"/>
          </a:xfrm>
          <a:prstGeom prst="roundRect">
            <a:avLst>
              <a:gd name="adj" fmla="val 7407"/>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41900" y="4965700"/>
            <a:ext cx="457200" cy="262382"/>
          </a:xfrm>
          <a:prstGeom prst="rect">
            <a:avLst/>
          </a:prstGeom>
          <a:noFill/>
        </p:spPr>
        <p:txBody>
          <a:bodyPr wrap="none" lIns="0" rIns="0" tIns="0" bIns="0" anchor="t">
            <a:spAutoFit/>
          </a:bodyPr>
          <a:lstStyle/>
          <a:p>
            <a:pPr algn="l">
              <a:lnSpc>
                <a:spcPts val="1666"/>
              </a:lnSpc>
              <a:spcBef>
                <a:spcPts val="0"/>
              </a:spcBef>
              <a:spcAft>
                <a:spcPts val="0"/>
              </a:spcAft>
              <a:defRPr sz="1400" b="0">
                <a:solidFill>
                  <a:srgbClr val="007EAF"/>
                </a:solidFill>
                <a:latin typeface="Consolas"/>
              </a:defRPr>
            </a:pPr>
            <a:r>
              <a:t>04</a:t>
            </a:r>
          </a:p>
        </p:txBody>
      </p:sp>
      <p:sp>
        <p:nvSpPr>
          <p:cNvPr id="24" name="TextBox 23"/>
          <p:cNvSpPr txBox="1"/>
          <p:nvPr/>
        </p:nvSpPr>
        <p:spPr>
          <a:xfrm>
            <a:off x="5575300" y="4851400"/>
            <a:ext cx="57531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12364E"/>
                </a:solidFill>
                <a:latin typeface="Segoe UI"/>
              </a:defRPr>
            </a:pPr>
            <a:r>
              <a:t>Open facilities work</a:t>
            </a:r>
          </a:p>
        </p:txBody>
      </p:sp>
      <p:sp>
        <p:nvSpPr>
          <p:cNvPr id="25" name="TextBox 24"/>
          <p:cNvSpPr txBox="1"/>
          <p:nvPr/>
        </p:nvSpPr>
        <p:spPr>
          <a:xfrm>
            <a:off x="5575300" y="5168900"/>
            <a:ext cx="5753100" cy="254825"/>
          </a:xfrm>
          <a:prstGeom prst="rect">
            <a:avLst/>
          </a:prstGeom>
          <a:noFill/>
        </p:spPr>
        <p:txBody>
          <a:bodyPr wrap="none" lIns="0" rIns="0" tIns="0" bIns="0" anchor="t">
            <a:spAutoFit/>
          </a:bodyPr>
          <a:lstStyle/>
          <a:p>
            <a:pPr algn="l">
              <a:lnSpc>
                <a:spcPts val="1606"/>
              </a:lnSpc>
              <a:spcBef>
                <a:spcPts val="0"/>
              </a:spcBef>
              <a:spcAft>
                <a:spcPts val="0"/>
              </a:spcAft>
              <a:defRPr sz="1350" b="0">
                <a:solidFill>
                  <a:srgbClr val="506C80"/>
                </a:solidFill>
                <a:latin typeface="Segoe UI"/>
              </a:defRPr>
            </a:pPr>
            <a:r>
              <a:t>Follow the location and vendor context.</a:t>
            </a:r>
          </a:p>
        </p:txBody>
      </p:sp>
      <p:sp>
        <p:nvSpPr>
          <p:cNvPr id="26" name="TextBox 25"/>
          <p:cNvSpPr txBox="1"/>
          <p:nvPr/>
        </p:nvSpPr>
        <p:spPr>
          <a:xfrm>
            <a:off x="609600" y="5397500"/>
            <a:ext cx="3721100" cy="564642"/>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Urgency, location and ownership</a:t>
            </a:r>
          </a:p>
          <a:p>
            <a:pPr algn="l">
              <a:lnSpc>
                <a:spcPts val="2023"/>
              </a:lnSpc>
              <a:spcBef>
                <a:spcPts val="0"/>
              </a:spcBef>
              <a:spcAft>
                <a:spcPts val="0"/>
              </a:spcAft>
              <a:defRPr sz="1700" b="1">
                <a:solidFill>
                  <a:srgbClr val="007EAF"/>
                </a:solidFill>
                <a:latin typeface="Segoe UI"/>
              </a:defRPr>
            </a:pPr>
            <a:r>
              <a:t>stay together.</a:t>
            </a:r>
          </a:p>
        </p:txBody>
      </p:sp>
      <p:sp>
        <p:nvSpPr>
          <p:cNvPr id="27" name="TextBox 26"/>
          <p:cNvSpPr txBox="1"/>
          <p:nvPr/>
        </p:nvSpPr>
        <p:spPr>
          <a:xfrm>
            <a:off x="4864100" y="5765800"/>
            <a:ext cx="6718300" cy="194373"/>
          </a:xfrm>
          <a:prstGeom prst="rect">
            <a:avLst/>
          </a:prstGeom>
          <a:noFill/>
        </p:spPr>
        <p:txBody>
          <a:bodyPr wrap="none" lIns="0" rIns="0" tIns="0" bIns="0" anchor="t">
            <a:spAutoFit/>
          </a:bodyPr>
          <a:lstStyle/>
          <a:p>
            <a:pPr algn="l">
              <a:lnSpc>
                <a:spcPts val="1130"/>
              </a:lnSpc>
              <a:spcBef>
                <a:spcPts val="0"/>
              </a:spcBef>
              <a:spcAft>
                <a:spcPts val="0"/>
              </a:spcAft>
              <a:defRPr sz="950" b="0">
                <a:solidFill>
                  <a:srgbClr val="506C80"/>
                </a:solidFill>
                <a:latin typeface="Segoe UI"/>
              </a:defRPr>
            </a:pPr>
            <a:r>
              <a:t>WORKFLOW DIAGRAM / ILLUSTRATIVE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One equipment issue. One visible owner.">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ILLUSTRATIVE SCENARIO 01 / HEALTHCARE / EQUIPMENT COORDINATION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One equipment issue.</a:t>
            </a:r>
          </a:p>
          <a:p>
            <a:pPr algn="l">
              <a:lnSpc>
                <a:spcPts val="4284"/>
              </a:lnSpc>
              <a:spcBef>
                <a:spcPts val="0"/>
              </a:spcBef>
              <a:spcAft>
                <a:spcPts val="0"/>
              </a:spcAft>
              <a:defRPr sz="3600" b="1">
                <a:solidFill>
                  <a:srgbClr val="12364E"/>
                </a:solidFill>
                <a:latin typeface="Segoe UI"/>
              </a:defRPr>
            </a:pPr>
            <a:r>
              <a:t>One visible owner.</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07 / 20</a:t>
            </a:r>
          </a:p>
        </p:txBody>
      </p:sp>
      <p:sp>
        <p:nvSpPr>
          <p:cNvPr id="9" name="Rounded Rectangle 8"/>
          <p:cNvSpPr/>
          <p:nvPr/>
        </p:nvSpPr>
        <p:spPr>
          <a:xfrm>
            <a:off x="609600" y="2374900"/>
            <a:ext cx="3429000" cy="3581400"/>
          </a:xfrm>
          <a:prstGeom prst="roundRect">
            <a:avLst>
              <a:gd name="adj" fmla="val 2222"/>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MOMENT</a:t>
            </a:r>
          </a:p>
        </p:txBody>
      </p:sp>
      <p:sp>
        <p:nvSpPr>
          <p:cNvPr id="11" name="TextBox 10"/>
          <p:cNvSpPr txBox="1"/>
          <p:nvPr/>
        </p:nvSpPr>
        <p:spPr>
          <a:xfrm>
            <a:off x="838200" y="2971800"/>
            <a:ext cx="2984500" cy="1713230"/>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12364E"/>
                </a:solidFill>
                <a:latin typeface="Segoe UI"/>
              </a:defRPr>
            </a:pPr>
            <a:r>
              <a:t>A department reports</a:t>
            </a:r>
          </a:p>
          <a:p>
            <a:pPr algn="l">
              <a:lnSpc>
                <a:spcPts val="2618"/>
              </a:lnSpc>
              <a:spcBef>
                <a:spcPts val="0"/>
              </a:spcBef>
              <a:spcAft>
                <a:spcPts val="0"/>
              </a:spcAft>
              <a:defRPr sz="2200" b="0">
                <a:solidFill>
                  <a:srgbClr val="12364E"/>
                </a:solidFill>
                <a:latin typeface="Segoe UI"/>
              </a:defRPr>
            </a:pPr>
            <a:r>
              <a:t>an equipment fault and</a:t>
            </a:r>
          </a:p>
          <a:p>
            <a:pPr algn="l">
              <a:lnSpc>
                <a:spcPts val="2618"/>
              </a:lnSpc>
              <a:spcBef>
                <a:spcPts val="0"/>
              </a:spcBef>
              <a:spcAft>
                <a:spcPts val="0"/>
              </a:spcAft>
              <a:defRPr sz="2200" b="0">
                <a:solidFill>
                  <a:srgbClr val="12364E"/>
                </a:solidFill>
                <a:latin typeface="Segoe UI"/>
              </a:defRPr>
            </a:pPr>
            <a:r>
              <a:t>needs a clear path</a:t>
            </a:r>
          </a:p>
          <a:p>
            <a:pPr algn="l">
              <a:lnSpc>
                <a:spcPts val="2618"/>
              </a:lnSpc>
              <a:spcBef>
                <a:spcPts val="0"/>
              </a:spcBef>
              <a:spcAft>
                <a:spcPts val="0"/>
              </a:spcAft>
              <a:defRPr sz="2200" b="0">
                <a:solidFill>
                  <a:srgbClr val="12364E"/>
                </a:solidFill>
                <a:latin typeface="Segoe UI"/>
              </a:defRPr>
            </a:pPr>
            <a:r>
              <a:t>through service and</a:t>
            </a:r>
          </a:p>
          <a:p>
            <a:pPr algn="l">
              <a:lnSpc>
                <a:spcPts val="2618"/>
              </a:lnSpc>
              <a:spcBef>
                <a:spcPts val="0"/>
              </a:spcBef>
              <a:spcAft>
                <a:spcPts val="0"/>
              </a:spcAft>
              <a:defRPr sz="2200" b="0">
                <a:solidFill>
                  <a:srgbClr val="12364E"/>
                </a:solidFill>
                <a:latin typeface="Segoe UI"/>
              </a:defRPr>
            </a:pPr>
            <a:r>
              <a:t>vendor follow-up.</a:t>
            </a:r>
          </a:p>
        </p:txBody>
      </p:sp>
      <p:sp>
        <p:nvSpPr>
          <p:cNvPr id="12" name="Oval 11"/>
          <p:cNvSpPr/>
          <p:nvPr/>
        </p:nvSpPr>
        <p:spPr>
          <a:xfrm>
            <a:off x="4457700" y="24130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Capture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Record the equipment, location and operational concern.</a:t>
            </a:r>
          </a:p>
        </p:txBody>
      </p:sp>
      <p:sp>
        <p:nvSpPr>
          <p:cNvPr id="17" name="Oval 16"/>
          <p:cNvSpPr/>
          <p:nvPr/>
        </p:nvSpPr>
        <p:spPr>
          <a:xfrm>
            <a:off x="4457700" y="32639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Coordinate</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Assign the team, set the target and track vendor updates.</a:t>
            </a:r>
          </a:p>
        </p:txBody>
      </p:sp>
      <p:sp>
        <p:nvSpPr>
          <p:cNvPr id="22" name="Oval 21"/>
          <p:cNvSpPr/>
          <p:nvPr/>
        </p:nvSpPr>
        <p:spPr>
          <a:xfrm>
            <a:off x="4457700" y="41148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Close the loop</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Record the service outcome and update the requester.</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12364E"/>
                </a:solidFill>
                <a:latin typeface="Segoe UI"/>
              </a:defRPr>
            </a:pPr>
            <a:r>
              <a:t>An equipment-linked service history with accountable follow-up.</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506C80"/>
                </a:solidFill>
                <a:latin typeface="Segoe UI"/>
              </a:defRPr>
            </a:pPr>
            <a:r>
              <a:t>MEASURE / Time from intake to ownership and first response.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he room issue stops bouncing around.">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ILLUSTRATIVE SCENARIO 02 / HEALTHCARE / FACILITIES HANDOFF</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The room issue</a:t>
            </a:r>
          </a:p>
          <a:p>
            <a:pPr algn="l">
              <a:lnSpc>
                <a:spcPts val="4284"/>
              </a:lnSpc>
              <a:spcBef>
                <a:spcPts val="0"/>
              </a:spcBef>
              <a:spcAft>
                <a:spcPts val="0"/>
              </a:spcAft>
              <a:defRPr sz="3600" b="1">
                <a:solidFill>
                  <a:srgbClr val="12364E"/>
                </a:solidFill>
                <a:latin typeface="Segoe UI"/>
              </a:defRPr>
            </a:pPr>
            <a:r>
              <a:t>stops bouncing around.</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08 / 20</a:t>
            </a:r>
          </a:p>
        </p:txBody>
      </p:sp>
      <p:sp>
        <p:nvSpPr>
          <p:cNvPr id="9" name="Rounded Rectangle 8"/>
          <p:cNvSpPr/>
          <p:nvPr/>
        </p:nvSpPr>
        <p:spPr>
          <a:xfrm>
            <a:off x="609600" y="2374900"/>
            <a:ext cx="3429000" cy="3581400"/>
          </a:xfrm>
          <a:prstGeom prst="roundRect">
            <a:avLst>
              <a:gd name="adj" fmla="val 2222"/>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MOMENT</a:t>
            </a:r>
          </a:p>
        </p:txBody>
      </p:sp>
      <p:sp>
        <p:nvSpPr>
          <p:cNvPr id="11" name="TextBox 10"/>
          <p:cNvSpPr txBox="1"/>
          <p:nvPr/>
        </p:nvSpPr>
        <p:spPr>
          <a:xfrm>
            <a:off x="838200" y="2971800"/>
            <a:ext cx="2984500" cy="2045715"/>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12364E"/>
                </a:solidFill>
                <a:latin typeface="Segoe UI"/>
              </a:defRPr>
            </a:pPr>
            <a:r>
              <a:t>A department reports a</a:t>
            </a:r>
          </a:p>
          <a:p>
            <a:pPr algn="l">
              <a:lnSpc>
                <a:spcPts val="2618"/>
              </a:lnSpc>
              <a:spcBef>
                <a:spcPts val="0"/>
              </a:spcBef>
              <a:spcAft>
                <a:spcPts val="0"/>
              </a:spcAft>
              <a:defRPr sz="2200" b="0">
                <a:solidFill>
                  <a:srgbClr val="12364E"/>
                </a:solidFill>
                <a:latin typeface="Segoe UI"/>
              </a:defRPr>
            </a:pPr>
            <a:r>
              <a:t>facilities problem.</a:t>
            </a:r>
          </a:p>
          <a:p>
            <a:pPr algn="l">
              <a:lnSpc>
                <a:spcPts val="2618"/>
              </a:lnSpc>
              <a:spcBef>
                <a:spcPts val="0"/>
              </a:spcBef>
              <a:spcAft>
                <a:spcPts val="0"/>
              </a:spcAft>
              <a:defRPr sz="2200" b="0">
                <a:solidFill>
                  <a:srgbClr val="12364E"/>
                </a:solidFill>
                <a:latin typeface="Segoe UI"/>
              </a:defRPr>
            </a:pPr>
            <a:r>
              <a:t>Multiple teams need</a:t>
            </a:r>
          </a:p>
          <a:p>
            <a:pPr algn="l">
              <a:lnSpc>
                <a:spcPts val="2618"/>
              </a:lnSpc>
              <a:spcBef>
                <a:spcPts val="0"/>
              </a:spcBef>
              <a:spcAft>
                <a:spcPts val="0"/>
              </a:spcAft>
              <a:defRPr sz="2200" b="0">
                <a:solidFill>
                  <a:srgbClr val="12364E"/>
                </a:solidFill>
                <a:latin typeface="Segoe UI"/>
              </a:defRPr>
            </a:pPr>
            <a:r>
              <a:t>updates, but nobody</a:t>
            </a:r>
          </a:p>
          <a:p>
            <a:pPr algn="l">
              <a:lnSpc>
                <a:spcPts val="2618"/>
              </a:lnSpc>
              <a:spcBef>
                <a:spcPts val="0"/>
              </a:spcBef>
              <a:spcAft>
                <a:spcPts val="0"/>
              </a:spcAft>
              <a:defRPr sz="2200" b="0">
                <a:solidFill>
                  <a:srgbClr val="12364E"/>
                </a:solidFill>
                <a:latin typeface="Segoe UI"/>
              </a:defRPr>
            </a:pPr>
            <a:r>
              <a:t>has the complete</a:t>
            </a:r>
          </a:p>
          <a:p>
            <a:pPr algn="l">
              <a:lnSpc>
                <a:spcPts val="2618"/>
              </a:lnSpc>
              <a:spcBef>
                <a:spcPts val="0"/>
              </a:spcBef>
              <a:spcAft>
                <a:spcPts val="0"/>
              </a:spcAft>
              <a:defRPr sz="2200" b="0">
                <a:solidFill>
                  <a:srgbClr val="12364E"/>
                </a:solidFill>
                <a:latin typeface="Segoe UI"/>
              </a:defRPr>
            </a:pPr>
            <a:r>
              <a:t>history.</a:t>
            </a:r>
          </a:p>
        </p:txBody>
      </p:sp>
      <p:sp>
        <p:nvSpPr>
          <p:cNvPr id="12" name="Oval 11"/>
          <p:cNvSpPr/>
          <p:nvPr/>
        </p:nvSpPr>
        <p:spPr>
          <a:xfrm>
            <a:off x="4457700" y="24130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Route</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Classify the facility need and assign a responsible queue.</a:t>
            </a:r>
          </a:p>
        </p:txBody>
      </p:sp>
      <p:sp>
        <p:nvSpPr>
          <p:cNvPr id="17" name="Oval 16"/>
          <p:cNvSpPr/>
          <p:nvPr/>
        </p:nvSpPr>
        <p:spPr>
          <a:xfrm>
            <a:off x="4457700" y="32639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Track</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Keep internal notes, service time and requester updates together.</a:t>
            </a:r>
          </a:p>
        </p:txBody>
      </p:sp>
      <p:sp>
        <p:nvSpPr>
          <p:cNvPr id="22" name="Oval 21"/>
          <p:cNvSpPr/>
          <p:nvPr/>
        </p:nvSpPr>
        <p:spPr>
          <a:xfrm>
            <a:off x="4457700" y="41148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Escalate</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Use target status to surface delay and record the resolution.</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12364E"/>
                </a:solidFill>
                <a:latin typeface="Segoe UI"/>
              </a:defRPr>
            </a:pPr>
            <a:r>
              <a:t>A location-based record of ownership, timing and work.</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506C80"/>
                </a:solidFill>
                <a:latin typeface="Segoe UI"/>
              </a:defRPr>
            </a:pPr>
            <a:r>
              <a:t>MEASURE / Aged open requests and missed service targets.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The restock request has a next step.">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ILLUSTRATIVE SCENARIO 03 / HEALTHCARE / SUPPLY COORDINATION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The restock request</a:t>
            </a:r>
          </a:p>
          <a:p>
            <a:pPr algn="l">
              <a:lnSpc>
                <a:spcPts val="4284"/>
              </a:lnSpc>
              <a:spcBef>
                <a:spcPts val="0"/>
              </a:spcBef>
              <a:spcAft>
                <a:spcPts val="0"/>
              </a:spcAft>
              <a:defRPr sz="3600" b="1">
                <a:solidFill>
                  <a:srgbClr val="12364E"/>
                </a:solidFill>
                <a:latin typeface="Segoe UI"/>
              </a:defRPr>
            </a:pPr>
            <a:r>
              <a:t>has a next step.</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09 / 20</a:t>
            </a:r>
          </a:p>
        </p:txBody>
      </p:sp>
      <p:sp>
        <p:nvSpPr>
          <p:cNvPr id="9" name="Rounded Rectangle 8"/>
          <p:cNvSpPr/>
          <p:nvPr/>
        </p:nvSpPr>
        <p:spPr>
          <a:xfrm>
            <a:off x="609600" y="2374900"/>
            <a:ext cx="3429000" cy="3581400"/>
          </a:xfrm>
          <a:prstGeom prst="roundRect">
            <a:avLst>
              <a:gd name="adj" fmla="val 2222"/>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2933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MOMENT</a:t>
            </a:r>
          </a:p>
        </p:txBody>
      </p:sp>
      <p:sp>
        <p:nvSpPr>
          <p:cNvPr id="11" name="TextBox 10"/>
          <p:cNvSpPr txBox="1"/>
          <p:nvPr/>
        </p:nvSpPr>
        <p:spPr>
          <a:xfrm>
            <a:off x="838200" y="2971800"/>
            <a:ext cx="2984500" cy="2045715"/>
          </a:xfrm>
          <a:prstGeom prst="rect">
            <a:avLst/>
          </a:prstGeom>
          <a:noFill/>
        </p:spPr>
        <p:txBody>
          <a:bodyPr wrap="none" lIns="0" rIns="0" tIns="0" bIns="0" anchor="t">
            <a:spAutoFit/>
          </a:bodyPr>
          <a:lstStyle/>
          <a:p>
            <a:pPr algn="l">
              <a:lnSpc>
                <a:spcPts val="2618"/>
              </a:lnSpc>
              <a:spcBef>
                <a:spcPts val="0"/>
              </a:spcBef>
              <a:spcAft>
                <a:spcPts val="0"/>
              </a:spcAft>
              <a:defRPr sz="2200" b="0">
                <a:solidFill>
                  <a:srgbClr val="12364E"/>
                </a:solidFill>
                <a:latin typeface="Segoe UI"/>
              </a:defRPr>
            </a:pPr>
            <a:r>
              <a:t>A department needs</a:t>
            </a:r>
          </a:p>
          <a:p>
            <a:pPr algn="l">
              <a:lnSpc>
                <a:spcPts val="2618"/>
              </a:lnSpc>
              <a:spcBef>
                <a:spcPts val="0"/>
              </a:spcBef>
              <a:spcAft>
                <a:spcPts val="0"/>
              </a:spcAft>
              <a:defRPr sz="2200" b="0">
                <a:solidFill>
                  <a:srgbClr val="12364E"/>
                </a:solidFill>
                <a:latin typeface="Segoe UI"/>
              </a:defRPr>
            </a:pPr>
            <a:r>
              <a:t>operational supplies.</a:t>
            </a:r>
          </a:p>
          <a:p>
            <a:pPr algn="l">
              <a:lnSpc>
                <a:spcPts val="2618"/>
              </a:lnSpc>
              <a:spcBef>
                <a:spcPts val="0"/>
              </a:spcBef>
              <a:spcAft>
                <a:spcPts val="0"/>
              </a:spcAft>
              <a:defRPr sz="2200" b="0">
                <a:solidFill>
                  <a:srgbClr val="12364E"/>
                </a:solidFill>
                <a:latin typeface="Segoe UI"/>
              </a:defRPr>
            </a:pPr>
            <a:r>
              <a:t>Follow-up is split</a:t>
            </a:r>
          </a:p>
          <a:p>
            <a:pPr algn="l">
              <a:lnSpc>
                <a:spcPts val="2618"/>
              </a:lnSpc>
              <a:spcBef>
                <a:spcPts val="0"/>
              </a:spcBef>
              <a:spcAft>
                <a:spcPts val="0"/>
              </a:spcAft>
              <a:defRPr sz="2200" b="0">
                <a:solidFill>
                  <a:srgbClr val="12364E"/>
                </a:solidFill>
                <a:latin typeface="Segoe UI"/>
              </a:defRPr>
            </a:pPr>
            <a:r>
              <a:t>between a spreadsheet,</a:t>
            </a:r>
          </a:p>
          <a:p>
            <a:pPr algn="l">
              <a:lnSpc>
                <a:spcPts val="2618"/>
              </a:lnSpc>
              <a:spcBef>
                <a:spcPts val="0"/>
              </a:spcBef>
              <a:spcAft>
                <a:spcPts val="0"/>
              </a:spcAft>
              <a:defRPr sz="2200" b="0">
                <a:solidFill>
                  <a:srgbClr val="12364E"/>
                </a:solidFill>
                <a:latin typeface="Segoe UI"/>
              </a:defRPr>
            </a:pPr>
            <a:r>
              <a:t>a vendor and a shift</a:t>
            </a:r>
          </a:p>
          <a:p>
            <a:pPr algn="l">
              <a:lnSpc>
                <a:spcPts val="2618"/>
              </a:lnSpc>
              <a:spcBef>
                <a:spcPts val="0"/>
              </a:spcBef>
              <a:spcAft>
                <a:spcPts val="0"/>
              </a:spcAft>
              <a:defRPr sz="2200" b="0">
                <a:solidFill>
                  <a:srgbClr val="12364E"/>
                </a:solidFill>
                <a:latin typeface="Segoe UI"/>
              </a:defRPr>
            </a:pPr>
            <a:r>
              <a:t>change.</a:t>
            </a:r>
          </a:p>
        </p:txBody>
      </p:sp>
      <p:sp>
        <p:nvSpPr>
          <p:cNvPr id="12" name="Oval 11"/>
          <p:cNvSpPr/>
          <p:nvPr/>
        </p:nvSpPr>
        <p:spPr>
          <a:xfrm>
            <a:off x="4457700" y="24130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57700" y="24638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1</a:t>
            </a:r>
          </a:p>
        </p:txBody>
      </p:sp>
      <p:cxnSp>
        <p:nvCxnSpPr>
          <p:cNvPr id="14" name="Connector 13"/>
          <p:cNvCxnSpPr/>
          <p:nvPr/>
        </p:nvCxnSpPr>
        <p:spPr>
          <a:xfrm>
            <a:off x="4610100" y="27432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965700" y="23749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Request</a:t>
            </a:r>
          </a:p>
        </p:txBody>
      </p:sp>
      <p:sp>
        <p:nvSpPr>
          <p:cNvPr id="16" name="TextBox 15"/>
          <p:cNvSpPr txBox="1"/>
          <p:nvPr/>
        </p:nvSpPr>
        <p:spPr>
          <a:xfrm>
            <a:off x="4965700" y="26924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Capture the supply need with department context.</a:t>
            </a:r>
          </a:p>
        </p:txBody>
      </p:sp>
      <p:sp>
        <p:nvSpPr>
          <p:cNvPr id="17" name="Oval 16"/>
          <p:cNvSpPr/>
          <p:nvPr/>
        </p:nvSpPr>
        <p:spPr>
          <a:xfrm>
            <a:off x="4457700" y="32639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57700" y="33147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2</a:t>
            </a:r>
          </a:p>
        </p:txBody>
      </p:sp>
      <p:cxnSp>
        <p:nvCxnSpPr>
          <p:cNvPr id="19" name="Connector 18"/>
          <p:cNvCxnSpPr/>
          <p:nvPr/>
        </p:nvCxnSpPr>
        <p:spPr>
          <a:xfrm>
            <a:off x="4610100" y="3594100"/>
            <a:ext cx="0" cy="457200"/>
          </a:xfrm>
          <a:prstGeom prst="line">
            <a:avLst/>
          </a:prstGeom>
          <a:ln w="19050">
            <a:solidFill>
              <a:srgbClr val="BDD5E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965700" y="32258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Own</a:t>
            </a:r>
          </a:p>
        </p:txBody>
      </p:sp>
      <p:sp>
        <p:nvSpPr>
          <p:cNvPr id="21" name="TextBox 20"/>
          <p:cNvSpPr txBox="1"/>
          <p:nvPr/>
        </p:nvSpPr>
        <p:spPr>
          <a:xfrm>
            <a:off x="4965700" y="35433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Assign follow-up and retain status and vendor details.</a:t>
            </a:r>
          </a:p>
        </p:txBody>
      </p:sp>
      <p:sp>
        <p:nvSpPr>
          <p:cNvPr id="22" name="Oval 21"/>
          <p:cNvSpPr/>
          <p:nvPr/>
        </p:nvSpPr>
        <p:spPr>
          <a:xfrm>
            <a:off x="4457700" y="4114800"/>
            <a:ext cx="304800" cy="304800"/>
          </a:xfrm>
          <a:prstGeom prst="ellipse">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57700" y="4165600"/>
            <a:ext cx="317500" cy="232156"/>
          </a:xfrm>
          <a:prstGeom prst="rect">
            <a:avLst/>
          </a:prstGeom>
          <a:noFill/>
        </p:spPr>
        <p:txBody>
          <a:bodyPr wrap="none" lIns="0" rIns="0" tIns="0" bIns="0" anchor="t">
            <a:spAutoFit/>
          </a:bodyPr>
          <a:lstStyle/>
          <a:p>
            <a:pPr algn="ctr">
              <a:lnSpc>
                <a:spcPts val="1428"/>
              </a:lnSpc>
              <a:spcBef>
                <a:spcPts val="0"/>
              </a:spcBef>
              <a:spcAft>
                <a:spcPts val="0"/>
              </a:spcAft>
              <a:defRPr sz="1200" b="1">
                <a:solidFill>
                  <a:srgbClr val="F3F9FC"/>
                </a:solidFill>
                <a:latin typeface="Segoe UI"/>
              </a:defRPr>
            </a:pPr>
            <a:r>
              <a:t>3</a:t>
            </a:r>
          </a:p>
        </p:txBody>
      </p:sp>
      <p:sp>
        <p:nvSpPr>
          <p:cNvPr id="24" name="TextBox 23"/>
          <p:cNvSpPr txBox="1"/>
          <p:nvPr/>
        </p:nvSpPr>
        <p:spPr>
          <a:xfrm>
            <a:off x="4965700" y="4076700"/>
            <a:ext cx="64897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12364E"/>
                </a:solidFill>
                <a:latin typeface="Segoe UI"/>
              </a:defRPr>
            </a:pPr>
            <a:r>
              <a:t>Confirm</a:t>
            </a:r>
          </a:p>
        </p:txBody>
      </p:sp>
      <p:sp>
        <p:nvSpPr>
          <p:cNvPr id="25" name="TextBox 24"/>
          <p:cNvSpPr txBox="1"/>
          <p:nvPr/>
        </p:nvSpPr>
        <p:spPr>
          <a:xfrm>
            <a:off x="4965700" y="4394200"/>
            <a:ext cx="6489700" cy="288074"/>
          </a:xfrm>
          <a:prstGeom prst="rect">
            <a:avLst/>
          </a:prstGeom>
          <a:noFill/>
        </p:spPr>
        <p:txBody>
          <a:bodyPr wrap="none" lIns="0" rIns="0" tIns="0" bIns="0" anchor="t">
            <a:spAutoFit/>
          </a:bodyPr>
          <a:lstStyle/>
          <a:p>
            <a:pPr algn="l">
              <a:lnSpc>
                <a:spcPts val="1868"/>
              </a:lnSpc>
              <a:spcBef>
                <a:spcPts val="0"/>
              </a:spcBef>
              <a:spcAft>
                <a:spcPts val="0"/>
              </a:spcAft>
              <a:defRPr sz="1570" b="0">
                <a:solidFill>
                  <a:srgbClr val="506C80"/>
                </a:solidFill>
                <a:latin typeface="Segoe UI"/>
              </a:defRPr>
            </a:pPr>
            <a:r>
              <a:t>Record fulfillment or the remaining blocker before closure.</a:t>
            </a:r>
          </a:p>
        </p:txBody>
      </p:sp>
      <p:sp>
        <p:nvSpPr>
          <p:cNvPr id="26" name="TextBox 25"/>
          <p:cNvSpPr txBox="1"/>
          <p:nvPr/>
        </p:nvSpPr>
        <p:spPr>
          <a:xfrm>
            <a:off x="4445000" y="5029200"/>
            <a:ext cx="6870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WHAT THE TEAM CAN SHOW</a:t>
            </a:r>
          </a:p>
        </p:txBody>
      </p:sp>
      <p:sp>
        <p:nvSpPr>
          <p:cNvPr id="27" name="TextBox 26"/>
          <p:cNvSpPr txBox="1"/>
          <p:nvPr/>
        </p:nvSpPr>
        <p:spPr>
          <a:xfrm>
            <a:off x="4445000" y="5270500"/>
            <a:ext cx="7124700" cy="322834"/>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12364E"/>
                </a:solidFill>
                <a:latin typeface="Segoe UI"/>
              </a:defRPr>
            </a:pPr>
            <a:r>
              <a:t>A visible supply request with a complete handoff history.</a:t>
            </a:r>
          </a:p>
        </p:txBody>
      </p:sp>
      <p:sp>
        <p:nvSpPr>
          <p:cNvPr id="28" name="TextBox 27"/>
          <p:cNvSpPr txBox="1"/>
          <p:nvPr/>
        </p:nvSpPr>
        <p:spPr>
          <a:xfrm>
            <a:off x="609600" y="60579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506C80"/>
                </a:solidFill>
                <a:latin typeface="Segoe UI"/>
              </a:defRPr>
            </a:pPr>
            <a:r>
              <a:t>MEASURE / Open supply requests without a named next action.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Follow one request across the handoff.">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LIVE DEMO STORY</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Follow one request</a:t>
            </a:r>
          </a:p>
          <a:p>
            <a:pPr algn="l">
              <a:lnSpc>
                <a:spcPts val="4284"/>
              </a:lnSpc>
              <a:spcBef>
                <a:spcPts val="0"/>
              </a:spcBef>
              <a:spcAft>
                <a:spcPts val="0"/>
              </a:spcAft>
              <a:defRPr sz="3600" b="1">
                <a:solidFill>
                  <a:srgbClr val="12364E"/>
                </a:solidFill>
                <a:latin typeface="Segoe UI"/>
              </a:defRPr>
            </a:pPr>
            <a:r>
              <a:t>across the handoff.</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10 / 20</a:t>
            </a:r>
          </a:p>
        </p:txBody>
      </p:sp>
      <p:sp>
        <p:nvSpPr>
          <p:cNvPr id="9" name="Rounded Rectangle 8"/>
          <p:cNvSpPr/>
          <p:nvPr/>
        </p:nvSpPr>
        <p:spPr>
          <a:xfrm>
            <a:off x="609600" y="2476500"/>
            <a:ext cx="2514600" cy="3022600"/>
          </a:xfrm>
          <a:prstGeom prst="roundRect">
            <a:avLst>
              <a:gd name="adj" fmla="val 2525"/>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28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007EAF"/>
                </a:solidFill>
                <a:latin typeface="Segoe UI Light"/>
              </a:defRPr>
            </a:pPr>
            <a:r>
              <a:t>01</a:t>
            </a:r>
          </a:p>
        </p:txBody>
      </p:sp>
      <p:sp>
        <p:nvSpPr>
          <p:cNvPr id="11" name="TextBox 10"/>
          <p:cNvSpPr txBox="1"/>
          <p:nvPr/>
        </p:nvSpPr>
        <p:spPr>
          <a:xfrm>
            <a:off x="812800" y="3479800"/>
            <a:ext cx="21209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Capture the</a:t>
            </a:r>
          </a:p>
          <a:p>
            <a:pPr algn="l">
              <a:lnSpc>
                <a:spcPts val="2499"/>
              </a:lnSpc>
              <a:spcBef>
                <a:spcPts val="0"/>
              </a:spcBef>
              <a:spcAft>
                <a:spcPts val="0"/>
              </a:spcAft>
              <a:defRPr sz="2100" b="1">
                <a:solidFill>
                  <a:srgbClr val="12364E"/>
                </a:solidFill>
                <a:latin typeface="Segoe UI"/>
              </a:defRPr>
            </a:pPr>
            <a:r>
              <a:t>need</a:t>
            </a:r>
          </a:p>
        </p:txBody>
      </p:sp>
      <p:sp>
        <p:nvSpPr>
          <p:cNvPr id="12" name="TextBox 11"/>
          <p:cNvSpPr txBox="1"/>
          <p:nvPr/>
        </p:nvSpPr>
        <p:spPr>
          <a:xfrm>
            <a:off x="812800" y="4343400"/>
            <a:ext cx="2108200" cy="1018032"/>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Use an</a:t>
            </a:r>
          </a:p>
          <a:p>
            <a:pPr algn="l">
              <a:lnSpc>
                <a:spcPts val="1904"/>
              </a:lnSpc>
              <a:spcBef>
                <a:spcPts val="0"/>
              </a:spcBef>
              <a:spcAft>
                <a:spcPts val="0"/>
              </a:spcAft>
              <a:defRPr sz="1600" b="0">
                <a:solidFill>
                  <a:srgbClr val="506C80"/>
                </a:solidFill>
                <a:latin typeface="Segoe UI"/>
              </a:defRPr>
            </a:pPr>
            <a:r>
              <a:t>operations-only</a:t>
            </a:r>
          </a:p>
          <a:p>
            <a:pPr algn="l">
              <a:lnSpc>
                <a:spcPts val="1904"/>
              </a:lnSpc>
              <a:spcBef>
                <a:spcPts val="0"/>
              </a:spcBef>
              <a:spcAft>
                <a:spcPts val="0"/>
              </a:spcAft>
              <a:defRPr sz="1600" b="0">
                <a:solidFill>
                  <a:srgbClr val="506C80"/>
                </a:solidFill>
                <a:latin typeface="Segoe UI"/>
              </a:defRPr>
            </a:pPr>
            <a:r>
              <a:t>request with location</a:t>
            </a:r>
          </a:p>
          <a:p>
            <a:pPr algn="l">
              <a:lnSpc>
                <a:spcPts val="1904"/>
              </a:lnSpc>
              <a:spcBef>
                <a:spcPts val="0"/>
              </a:spcBef>
              <a:spcAft>
                <a:spcPts val="0"/>
              </a:spcAft>
              <a:defRPr sz="1600" b="0">
                <a:solidFill>
                  <a:srgbClr val="506C80"/>
                </a:solidFill>
                <a:latin typeface="Segoe UI"/>
              </a:defRPr>
            </a:pPr>
            <a:r>
              <a:t>and category.</a:t>
            </a:r>
          </a:p>
        </p:txBody>
      </p:sp>
      <p:sp>
        <p:nvSpPr>
          <p:cNvPr id="13" name="Rounded Rectangle 12"/>
          <p:cNvSpPr/>
          <p:nvPr/>
        </p:nvSpPr>
        <p:spPr>
          <a:xfrm>
            <a:off x="3429000" y="2476500"/>
            <a:ext cx="2514600" cy="3022600"/>
          </a:xfrm>
          <a:prstGeom prst="roundRect">
            <a:avLst>
              <a:gd name="adj" fmla="val 2525"/>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322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007EAF"/>
                </a:solidFill>
                <a:latin typeface="Segoe UI Light"/>
              </a:defRPr>
            </a:pPr>
            <a:r>
              <a:t>02</a:t>
            </a:r>
          </a:p>
        </p:txBody>
      </p:sp>
      <p:sp>
        <p:nvSpPr>
          <p:cNvPr id="15" name="TextBox 14"/>
          <p:cNvSpPr txBox="1"/>
          <p:nvPr/>
        </p:nvSpPr>
        <p:spPr>
          <a:xfrm>
            <a:off x="3632200" y="3479800"/>
            <a:ext cx="21209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Set</a:t>
            </a:r>
          </a:p>
          <a:p>
            <a:pPr algn="l">
              <a:lnSpc>
                <a:spcPts val="2499"/>
              </a:lnSpc>
              <a:spcBef>
                <a:spcPts val="0"/>
              </a:spcBef>
              <a:spcAft>
                <a:spcPts val="0"/>
              </a:spcAft>
              <a:defRPr sz="2100" b="1">
                <a:solidFill>
                  <a:srgbClr val="12364E"/>
                </a:solidFill>
                <a:latin typeface="Segoe UI"/>
              </a:defRPr>
            </a:pPr>
            <a:r>
              <a:t>responsibility</a:t>
            </a:r>
          </a:p>
        </p:txBody>
      </p:sp>
      <p:sp>
        <p:nvSpPr>
          <p:cNvPr id="16" name="TextBox 15"/>
          <p:cNvSpPr txBox="1"/>
          <p:nvPr/>
        </p:nvSpPr>
        <p:spPr>
          <a:xfrm>
            <a:off x="3632200" y="4343400"/>
            <a:ext cx="2108200" cy="534416"/>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Assign the owner and</a:t>
            </a:r>
          </a:p>
          <a:p>
            <a:pPr algn="l">
              <a:lnSpc>
                <a:spcPts val="1904"/>
              </a:lnSpc>
              <a:spcBef>
                <a:spcPts val="0"/>
              </a:spcBef>
              <a:spcAft>
                <a:spcPts val="0"/>
              </a:spcAft>
              <a:defRPr sz="1600" b="0">
                <a:solidFill>
                  <a:srgbClr val="506C80"/>
                </a:solidFill>
                <a:latin typeface="Segoe UI"/>
              </a:defRPr>
            </a:pPr>
            <a:r>
              <a:t>response target.</a:t>
            </a:r>
          </a:p>
        </p:txBody>
      </p:sp>
      <p:sp>
        <p:nvSpPr>
          <p:cNvPr id="17" name="Rounded Rectangle 16"/>
          <p:cNvSpPr/>
          <p:nvPr/>
        </p:nvSpPr>
        <p:spPr>
          <a:xfrm>
            <a:off x="6248400" y="2476500"/>
            <a:ext cx="2514600" cy="3022600"/>
          </a:xfrm>
          <a:prstGeom prst="roundRect">
            <a:avLst>
              <a:gd name="adj" fmla="val 2525"/>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516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007EAF"/>
                </a:solidFill>
                <a:latin typeface="Segoe UI Light"/>
              </a:defRPr>
            </a:pPr>
            <a:r>
              <a:t>03</a:t>
            </a:r>
          </a:p>
        </p:txBody>
      </p:sp>
      <p:sp>
        <p:nvSpPr>
          <p:cNvPr id="19" name="TextBox 18"/>
          <p:cNvSpPr txBox="1"/>
          <p:nvPr/>
        </p:nvSpPr>
        <p:spPr>
          <a:xfrm>
            <a:off x="6451600" y="3479800"/>
            <a:ext cx="2120900" cy="685546"/>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Coordinate the</a:t>
            </a:r>
          </a:p>
          <a:p>
            <a:pPr algn="l">
              <a:lnSpc>
                <a:spcPts val="2499"/>
              </a:lnSpc>
              <a:spcBef>
                <a:spcPts val="0"/>
              </a:spcBef>
              <a:spcAft>
                <a:spcPts val="0"/>
              </a:spcAft>
              <a:defRPr sz="2100" b="1">
                <a:solidFill>
                  <a:srgbClr val="12364E"/>
                </a:solidFill>
                <a:latin typeface="Segoe UI"/>
              </a:defRPr>
            </a:pPr>
            <a:r>
              <a:t>work</a:t>
            </a:r>
          </a:p>
        </p:txBody>
      </p:sp>
      <p:sp>
        <p:nvSpPr>
          <p:cNvPr id="20" name="TextBox 19"/>
          <p:cNvSpPr txBox="1"/>
          <p:nvPr/>
        </p:nvSpPr>
        <p:spPr>
          <a:xfrm>
            <a:off x="64516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Show notes, requester</a:t>
            </a:r>
          </a:p>
          <a:p>
            <a:pPr algn="l">
              <a:lnSpc>
                <a:spcPts val="1904"/>
              </a:lnSpc>
              <a:spcBef>
                <a:spcPts val="0"/>
              </a:spcBef>
              <a:spcAft>
                <a:spcPts val="0"/>
              </a:spcAft>
              <a:defRPr sz="1600" b="0">
                <a:solidFill>
                  <a:srgbClr val="506C80"/>
                </a:solidFill>
                <a:latin typeface="Segoe UI"/>
              </a:defRPr>
            </a:pPr>
            <a:r>
              <a:t>updates and vendor</a:t>
            </a:r>
          </a:p>
          <a:p>
            <a:pPr algn="l">
              <a:lnSpc>
                <a:spcPts val="1904"/>
              </a:lnSpc>
              <a:spcBef>
                <a:spcPts val="0"/>
              </a:spcBef>
              <a:spcAft>
                <a:spcPts val="0"/>
              </a:spcAft>
              <a:defRPr sz="1600" b="0">
                <a:solidFill>
                  <a:srgbClr val="506C80"/>
                </a:solidFill>
                <a:latin typeface="Segoe UI"/>
              </a:defRPr>
            </a:pPr>
            <a:r>
              <a:t>context.</a:t>
            </a:r>
          </a:p>
        </p:txBody>
      </p:sp>
      <p:sp>
        <p:nvSpPr>
          <p:cNvPr id="21" name="Rounded Rectangle 20"/>
          <p:cNvSpPr/>
          <p:nvPr/>
        </p:nvSpPr>
        <p:spPr>
          <a:xfrm>
            <a:off x="9067800" y="2476500"/>
            <a:ext cx="2514600" cy="3022600"/>
          </a:xfrm>
          <a:prstGeom prst="roundRect">
            <a:avLst>
              <a:gd name="adj" fmla="val 2525"/>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71000" y="2679700"/>
            <a:ext cx="2108200" cy="700658"/>
          </a:xfrm>
          <a:prstGeom prst="rect">
            <a:avLst/>
          </a:prstGeom>
          <a:noFill/>
        </p:spPr>
        <p:txBody>
          <a:bodyPr wrap="none" lIns="0" rIns="0" tIns="0" bIns="0" anchor="t">
            <a:spAutoFit/>
          </a:bodyPr>
          <a:lstStyle/>
          <a:p>
            <a:pPr algn="l">
              <a:lnSpc>
                <a:spcPts val="5116"/>
              </a:lnSpc>
              <a:spcBef>
                <a:spcPts val="0"/>
              </a:spcBef>
              <a:spcAft>
                <a:spcPts val="0"/>
              </a:spcAft>
              <a:defRPr sz="4300" b="0">
                <a:solidFill>
                  <a:srgbClr val="007EAF"/>
                </a:solidFill>
                <a:latin typeface="Segoe UI Light"/>
              </a:defRPr>
            </a:pPr>
            <a:r>
              <a:t>04</a:t>
            </a:r>
          </a:p>
        </p:txBody>
      </p:sp>
      <p:sp>
        <p:nvSpPr>
          <p:cNvPr id="23" name="TextBox 22"/>
          <p:cNvSpPr txBox="1"/>
          <p:nvPr/>
        </p:nvSpPr>
        <p:spPr>
          <a:xfrm>
            <a:off x="9271000" y="3479800"/>
            <a:ext cx="2120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12364E"/>
                </a:solidFill>
                <a:latin typeface="Segoe UI"/>
              </a:defRPr>
            </a:pPr>
            <a:r>
              <a:t>Close and learn</a:t>
            </a:r>
          </a:p>
        </p:txBody>
      </p:sp>
      <p:sp>
        <p:nvSpPr>
          <p:cNvPr id="24" name="TextBox 23"/>
          <p:cNvSpPr txBox="1"/>
          <p:nvPr/>
        </p:nvSpPr>
        <p:spPr>
          <a:xfrm>
            <a:off x="9271000" y="4343400"/>
            <a:ext cx="2108200" cy="776224"/>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Record the resolution;</a:t>
            </a:r>
          </a:p>
          <a:p>
            <a:pPr algn="l">
              <a:lnSpc>
                <a:spcPts val="1904"/>
              </a:lnSpc>
              <a:spcBef>
                <a:spcPts val="0"/>
              </a:spcBef>
              <a:spcAft>
                <a:spcPts val="0"/>
              </a:spcAft>
              <a:defRPr sz="1600" b="0">
                <a:solidFill>
                  <a:srgbClr val="506C80"/>
                </a:solidFill>
                <a:latin typeface="Segoe UI"/>
              </a:defRPr>
            </a:pPr>
            <a:r>
              <a:t>review the workload</a:t>
            </a:r>
          </a:p>
          <a:p>
            <a:pPr algn="l">
              <a:lnSpc>
                <a:spcPts val="1904"/>
              </a:lnSpc>
              <a:spcBef>
                <a:spcPts val="0"/>
              </a:spcBef>
              <a:spcAft>
                <a:spcPts val="0"/>
              </a:spcAft>
              <a:defRPr sz="1600" b="0">
                <a:solidFill>
                  <a:srgbClr val="506C80"/>
                </a:solidFill>
                <a:latin typeface="Segoe UI"/>
              </a:defRPr>
            </a:pPr>
            <a:r>
              <a:t>pattern.</a:t>
            </a:r>
          </a:p>
        </p:txBody>
      </p:sp>
      <p:sp>
        <p:nvSpPr>
          <p:cNvPr id="25" name="TextBox 24"/>
          <p:cNvSpPr txBox="1"/>
          <p:nvPr/>
        </p:nvSpPr>
        <p:spPr>
          <a:xfrm>
            <a:off x="609600" y="5803900"/>
            <a:ext cx="1727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SUCCESS CHECK</a:t>
            </a:r>
          </a:p>
        </p:txBody>
      </p:sp>
      <p:sp>
        <p:nvSpPr>
          <p:cNvPr id="26" name="TextBox 25"/>
          <p:cNvSpPr txBox="1"/>
          <p:nvPr/>
        </p:nvSpPr>
        <p:spPr>
          <a:xfrm>
            <a:off x="2540000" y="5727700"/>
            <a:ext cx="90551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12364E"/>
                </a:solidFill>
                <a:latin typeface="Segoe UI"/>
              </a:defRPr>
            </a:pPr>
            <a:r>
              <a:t>The requester and the responsible team can identify the current owner and next action.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Extend the workflow where it matters.">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USEFUL COMPANIONS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Extend the workflow</a:t>
            </a:r>
          </a:p>
          <a:p>
            <a:pPr algn="l">
              <a:lnSpc>
                <a:spcPts val="4284"/>
              </a:lnSpc>
              <a:spcBef>
                <a:spcPts val="0"/>
              </a:spcBef>
              <a:spcAft>
                <a:spcPts val="0"/>
              </a:spcAft>
              <a:defRPr sz="3600" b="1">
                <a:solidFill>
                  <a:srgbClr val="12364E"/>
                </a:solidFill>
                <a:latin typeface="Segoe UI"/>
              </a:defRPr>
            </a:pPr>
            <a:r>
              <a:t>where it matters.</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11 / 20</a:t>
            </a:r>
          </a:p>
        </p:txBody>
      </p:sp>
      <p:sp>
        <p:nvSpPr>
          <p:cNvPr id="9" name="Rounded Rectangle 8"/>
          <p:cNvSpPr/>
          <p:nvPr/>
        </p:nvSpPr>
        <p:spPr>
          <a:xfrm>
            <a:off x="609600" y="2413000"/>
            <a:ext cx="5334000" cy="3009900"/>
          </a:xfrm>
          <a:prstGeom prst="roundRect">
            <a:avLst>
              <a:gd name="adj" fmla="val 253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09600" y="2413000"/>
            <a:ext cx="5334000" cy="508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890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12364E"/>
                </a:solidFill>
                <a:latin typeface="Segoe UI"/>
              </a:defRPr>
            </a:pPr>
            <a:r>
              <a:t>SnapProofOS</a:t>
            </a:r>
          </a:p>
        </p:txBody>
      </p:sp>
      <p:sp>
        <p:nvSpPr>
          <p:cNvPr id="12" name="TextBox 11"/>
          <p:cNvSpPr txBox="1"/>
          <p:nvPr/>
        </p:nvSpPr>
        <p:spPr>
          <a:xfrm>
            <a:off x="8890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007EAF"/>
                </a:solidFill>
                <a:latin typeface="Segoe UI"/>
              </a:defRPr>
            </a:pPr>
            <a:r>
              <a:t>Make the closeout clear.</a:t>
            </a:r>
          </a:p>
        </p:txBody>
      </p:sp>
      <p:sp>
        <p:nvSpPr>
          <p:cNvPr id="13" name="TextBox 12"/>
          <p:cNvSpPr txBox="1"/>
          <p:nvPr/>
        </p:nvSpPr>
        <p:spPr>
          <a:xfrm>
            <a:off x="889000" y="3835400"/>
            <a:ext cx="4737100" cy="594868"/>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506C80"/>
                </a:solidFill>
                <a:latin typeface="Segoe UI"/>
              </a:defRPr>
            </a:pPr>
            <a:r>
              <a:t>Prepare reviewed facilities or equipment</a:t>
            </a:r>
          </a:p>
          <a:p>
            <a:pPr algn="l">
              <a:lnSpc>
                <a:spcPts val="2142"/>
              </a:lnSpc>
              <a:spcBef>
                <a:spcPts val="0"/>
              </a:spcBef>
              <a:spcAft>
                <a:spcPts val="0"/>
              </a:spcAft>
              <a:defRPr sz="1800" b="0">
                <a:solidFill>
                  <a:srgbClr val="506C80"/>
                </a:solidFill>
                <a:latin typeface="Segoe UI"/>
              </a:defRPr>
            </a:pPr>
            <a:r>
              <a:t>reports using approved photos and findings.</a:t>
            </a:r>
          </a:p>
        </p:txBody>
      </p:sp>
      <p:sp>
        <p:nvSpPr>
          <p:cNvPr id="14" name="TextBox 13"/>
          <p:cNvSpPr txBox="1"/>
          <p:nvPr/>
        </p:nvSpPr>
        <p:spPr>
          <a:xfrm>
            <a:off x="8890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12364E"/>
                </a:solidFill>
                <a:latin typeface="Segoe UI"/>
              </a:defRPr>
            </a:pPr>
            <a:r>
              <a:t>Choose it for service documentation.</a:t>
            </a:r>
          </a:p>
        </p:txBody>
      </p:sp>
      <p:sp>
        <p:nvSpPr>
          <p:cNvPr id="15" name="Rounded Rectangle 14"/>
          <p:cNvSpPr/>
          <p:nvPr/>
        </p:nvSpPr>
        <p:spPr>
          <a:xfrm>
            <a:off x="6248400" y="2413000"/>
            <a:ext cx="5334000" cy="3009900"/>
          </a:xfrm>
          <a:prstGeom prst="roundRect">
            <a:avLst>
              <a:gd name="adj" fmla="val 2531"/>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48400" y="2413000"/>
            <a:ext cx="5334000" cy="50800"/>
          </a:xfrm>
          <a:prstGeom prst="rect">
            <a:avLst/>
          </a:prstGeom>
          <a:solidFill>
            <a:srgbClr val="0085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27800" y="2679700"/>
            <a:ext cx="4787900" cy="458850"/>
          </a:xfrm>
          <a:prstGeom prst="rect">
            <a:avLst/>
          </a:prstGeom>
          <a:noFill/>
        </p:spPr>
        <p:txBody>
          <a:bodyPr wrap="none" lIns="0" rIns="0" tIns="0" bIns="0" anchor="t">
            <a:spAutoFit/>
          </a:bodyPr>
          <a:lstStyle/>
          <a:p>
            <a:pPr algn="l">
              <a:lnSpc>
                <a:spcPts val="3212"/>
              </a:lnSpc>
              <a:spcBef>
                <a:spcPts val="0"/>
              </a:spcBef>
              <a:spcAft>
                <a:spcPts val="0"/>
              </a:spcAft>
              <a:defRPr sz="2700" b="1">
                <a:solidFill>
                  <a:srgbClr val="12364E"/>
                </a:solidFill>
                <a:latin typeface="Segoe UI"/>
              </a:defRPr>
            </a:pPr>
            <a:r>
              <a:t>StudyForge AI</a:t>
            </a:r>
          </a:p>
        </p:txBody>
      </p:sp>
      <p:sp>
        <p:nvSpPr>
          <p:cNvPr id="18" name="TextBox 17"/>
          <p:cNvSpPr txBox="1"/>
          <p:nvPr/>
        </p:nvSpPr>
        <p:spPr>
          <a:xfrm>
            <a:off x="6527800" y="3276600"/>
            <a:ext cx="4787900" cy="368173"/>
          </a:xfrm>
          <a:prstGeom prst="rect">
            <a:avLst/>
          </a:prstGeom>
          <a:noFill/>
        </p:spPr>
        <p:txBody>
          <a:bodyPr wrap="none" lIns="0" rIns="0" tIns="0" bIns="0" anchor="t">
            <a:spAutoFit/>
          </a:bodyPr>
          <a:lstStyle/>
          <a:p>
            <a:pPr algn="l">
              <a:lnSpc>
                <a:spcPts val="2499"/>
              </a:lnSpc>
              <a:spcBef>
                <a:spcPts val="0"/>
              </a:spcBef>
              <a:spcAft>
                <a:spcPts val="0"/>
              </a:spcAft>
              <a:defRPr sz="2100" b="1">
                <a:solidFill>
                  <a:srgbClr val="007EAF"/>
                </a:solidFill>
                <a:latin typeface="Segoe UI"/>
              </a:defRPr>
            </a:pPr>
            <a:r>
              <a:t>Prepare reusable learning.</a:t>
            </a:r>
          </a:p>
        </p:txBody>
      </p:sp>
      <p:sp>
        <p:nvSpPr>
          <p:cNvPr id="19" name="TextBox 18"/>
          <p:cNvSpPr txBox="1"/>
          <p:nvPr/>
        </p:nvSpPr>
        <p:spPr>
          <a:xfrm>
            <a:off x="6527800" y="3835400"/>
            <a:ext cx="4737100" cy="594868"/>
          </a:xfrm>
          <a:prstGeom prst="rect">
            <a:avLst/>
          </a:prstGeom>
          <a:noFill/>
        </p:spPr>
        <p:txBody>
          <a:bodyPr wrap="none" lIns="0" rIns="0" tIns="0" bIns="0" anchor="t">
            <a:spAutoFit/>
          </a:bodyPr>
          <a:lstStyle/>
          <a:p>
            <a:pPr algn="l">
              <a:lnSpc>
                <a:spcPts val="2142"/>
              </a:lnSpc>
              <a:spcBef>
                <a:spcPts val="0"/>
              </a:spcBef>
              <a:spcAft>
                <a:spcPts val="0"/>
              </a:spcAft>
              <a:defRPr sz="1800" b="0">
                <a:solidFill>
                  <a:srgbClr val="506C80"/>
                </a:solidFill>
                <a:latin typeface="Segoe UI"/>
              </a:defRPr>
            </a:pPr>
            <a:r>
              <a:t>Build study material from approved,</a:t>
            </a:r>
          </a:p>
          <a:p>
            <a:pPr algn="l">
              <a:lnSpc>
                <a:spcPts val="2142"/>
              </a:lnSpc>
              <a:spcBef>
                <a:spcPts val="0"/>
              </a:spcBef>
              <a:spcAft>
                <a:spcPts val="0"/>
              </a:spcAft>
              <a:defRPr sz="1800" b="0">
                <a:solidFill>
                  <a:srgbClr val="506C80"/>
                </a:solidFill>
                <a:latin typeface="Segoe UI"/>
              </a:defRPr>
            </a:pPr>
            <a:r>
              <a:t>non-sensitive operational training notes.</a:t>
            </a:r>
          </a:p>
        </p:txBody>
      </p:sp>
      <p:sp>
        <p:nvSpPr>
          <p:cNvPr id="20" name="TextBox 19"/>
          <p:cNvSpPr txBox="1"/>
          <p:nvPr/>
        </p:nvSpPr>
        <p:spPr>
          <a:xfrm>
            <a:off x="6527800" y="5067300"/>
            <a:ext cx="4787900" cy="239712"/>
          </a:xfrm>
          <a:prstGeom prst="rect">
            <a:avLst/>
          </a:prstGeom>
          <a:noFill/>
        </p:spPr>
        <p:txBody>
          <a:bodyPr wrap="none" lIns="0" rIns="0" tIns="0" bIns="0" anchor="t">
            <a:spAutoFit/>
          </a:bodyPr>
          <a:lstStyle/>
          <a:p>
            <a:pPr algn="l">
              <a:lnSpc>
                <a:spcPts val="1487"/>
              </a:lnSpc>
              <a:spcBef>
                <a:spcPts val="0"/>
              </a:spcBef>
              <a:spcAft>
                <a:spcPts val="0"/>
              </a:spcAft>
              <a:defRPr sz="1250" b="1">
                <a:solidFill>
                  <a:srgbClr val="12364E"/>
                </a:solidFill>
                <a:latin typeface="Segoe UI"/>
              </a:defRPr>
            </a:pPr>
            <a:r>
              <a:t>Choose it for team learning.</a:t>
            </a:r>
          </a:p>
        </p:txBody>
      </p:sp>
      <p:sp>
        <p:nvSpPr>
          <p:cNvPr id="21" name="TextBox 20"/>
          <p:cNvSpPr txBox="1"/>
          <p:nvPr/>
        </p:nvSpPr>
        <p:spPr>
          <a:xfrm>
            <a:off x="609600" y="5664200"/>
            <a:ext cx="10985500" cy="413512"/>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506C80"/>
                </a:solidFill>
                <a:latin typeface="Segoe UI"/>
              </a:defRPr>
            </a:pPr>
            <a:r>
              <a:t>One eligible companion is included. Access is separate from automatic data transfer. AI generation requires a verified provider; keep patient and confidential data</a:t>
            </a:r>
          </a:p>
          <a:p>
            <a:pPr algn="l">
              <a:lnSpc>
                <a:spcPts val="1428"/>
              </a:lnSpc>
              <a:spcBef>
                <a:spcPts val="0"/>
              </a:spcBef>
              <a:spcAft>
                <a:spcPts val="0"/>
              </a:spcAft>
              <a:defRPr sz="1200" b="0">
                <a:solidFill>
                  <a:srgbClr val="506C80"/>
                </a:solidFill>
                <a:latin typeface="Segoe UI"/>
              </a:defRPr>
            </a:pPr>
            <a:r>
              <a:t>out.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Fit the workflow to your real environment.">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WORK WITH THE TOOLS YOU RELY ON</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Fit the workflow</a:t>
            </a:r>
          </a:p>
          <a:p>
            <a:pPr algn="l">
              <a:lnSpc>
                <a:spcPts val="4284"/>
              </a:lnSpc>
              <a:spcBef>
                <a:spcPts val="0"/>
              </a:spcBef>
              <a:spcAft>
                <a:spcPts val="0"/>
              </a:spcAft>
              <a:defRPr sz="3600" b="1">
                <a:solidFill>
                  <a:srgbClr val="12364E"/>
                </a:solidFill>
                <a:latin typeface="Segoe UI"/>
              </a:defRPr>
            </a:pPr>
            <a:r>
              <a:t>to your real environment.</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12 / 20</a:t>
            </a:r>
          </a:p>
        </p:txBody>
      </p:sp>
      <p:sp>
        <p:nvSpPr>
          <p:cNvPr id="9" name="TextBox 8"/>
          <p:cNvSpPr txBox="1"/>
          <p:nvPr/>
        </p:nvSpPr>
        <p:spPr>
          <a:xfrm>
            <a:off x="6096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PULSEDESK OWNS</a:t>
            </a:r>
          </a:p>
        </p:txBody>
      </p:sp>
      <p:cxnSp>
        <p:nvCxnSpPr>
          <p:cNvPr id="10" name="Connector 9"/>
          <p:cNvCxnSpPr/>
          <p:nvPr/>
        </p:nvCxnSpPr>
        <p:spPr>
          <a:xfrm>
            <a:off x="609600" y="29083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12364E"/>
                </a:solidFill>
                <a:latin typeface="Segoe UI"/>
              </a:defRPr>
            </a:pPr>
            <a:r>
              <a:t>Operational</a:t>
            </a:r>
          </a:p>
          <a:p>
            <a:pPr algn="l">
              <a:lnSpc>
                <a:spcPts val="3094"/>
              </a:lnSpc>
              <a:spcBef>
                <a:spcPts val="0"/>
              </a:spcBef>
              <a:spcAft>
                <a:spcPts val="0"/>
              </a:spcAft>
              <a:defRPr sz="2600" b="1">
                <a:solidFill>
                  <a:srgbClr val="12364E"/>
                </a:solidFill>
                <a:latin typeface="Segoe UI"/>
              </a:defRPr>
            </a:pPr>
            <a:r>
              <a:t>coordination</a:t>
            </a:r>
          </a:p>
        </p:txBody>
      </p:sp>
      <p:sp>
        <p:nvSpPr>
          <p:cNvPr id="12" name="TextBox 11"/>
          <p:cNvSpPr txBox="1"/>
          <p:nvPr/>
        </p:nvSpPr>
        <p:spPr>
          <a:xfrm>
            <a:off x="609600" y="4445000"/>
            <a:ext cx="3441700" cy="95757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506C80"/>
                </a:solidFill>
                <a:latin typeface="Segoe UI"/>
              </a:defRPr>
            </a:pPr>
            <a:r>
              <a:t>Requests, responsibility,</a:t>
            </a:r>
          </a:p>
          <a:p>
            <a:pPr algn="l">
              <a:lnSpc>
                <a:spcPts val="2379"/>
              </a:lnSpc>
              <a:spcBef>
                <a:spcPts val="0"/>
              </a:spcBef>
              <a:spcAft>
                <a:spcPts val="0"/>
              </a:spcAft>
              <a:defRPr sz="2000" b="0">
                <a:solidFill>
                  <a:srgbClr val="506C80"/>
                </a:solidFill>
                <a:latin typeface="Segoe UI"/>
              </a:defRPr>
            </a:pPr>
            <a:r>
              <a:t>service targets, updates and</a:t>
            </a:r>
          </a:p>
          <a:p>
            <a:pPr algn="l">
              <a:lnSpc>
                <a:spcPts val="2379"/>
              </a:lnSpc>
              <a:spcBef>
                <a:spcPts val="0"/>
              </a:spcBef>
              <a:spcAft>
                <a:spcPts val="0"/>
              </a:spcAft>
              <a:defRPr sz="2000" b="0">
                <a:solidFill>
                  <a:srgbClr val="506C80"/>
                </a:solidFill>
                <a:latin typeface="Segoe UI"/>
              </a:defRPr>
            </a:pPr>
            <a:r>
              <a:t>work history.</a:t>
            </a:r>
          </a:p>
        </p:txBody>
      </p:sp>
      <p:sp>
        <p:nvSpPr>
          <p:cNvPr id="13" name="TextBox 12"/>
          <p:cNvSpPr txBox="1"/>
          <p:nvPr/>
        </p:nvSpPr>
        <p:spPr>
          <a:xfrm>
            <a:off x="43688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SPECIALIST SYSTEMS RETAIN</a:t>
            </a:r>
          </a:p>
        </p:txBody>
      </p:sp>
      <p:cxnSp>
        <p:nvCxnSpPr>
          <p:cNvPr id="14" name="Connector 13"/>
          <p:cNvCxnSpPr/>
          <p:nvPr/>
        </p:nvCxnSpPr>
        <p:spPr>
          <a:xfrm>
            <a:off x="4368800" y="29083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12364E"/>
                </a:solidFill>
                <a:latin typeface="Segoe UI"/>
              </a:defRPr>
            </a:pPr>
            <a:r>
              <a:t>Patient + clinical</a:t>
            </a:r>
          </a:p>
          <a:p>
            <a:pPr algn="l">
              <a:lnSpc>
                <a:spcPts val="3094"/>
              </a:lnSpc>
              <a:spcBef>
                <a:spcPts val="0"/>
              </a:spcBef>
              <a:spcAft>
                <a:spcPts val="0"/>
              </a:spcAft>
              <a:defRPr sz="2600" b="1">
                <a:solidFill>
                  <a:srgbClr val="12364E"/>
                </a:solidFill>
                <a:latin typeface="Segoe UI"/>
              </a:defRPr>
            </a:pPr>
            <a:r>
              <a:t>records</a:t>
            </a:r>
          </a:p>
        </p:txBody>
      </p:sp>
      <p:sp>
        <p:nvSpPr>
          <p:cNvPr id="16" name="TextBox 15"/>
          <p:cNvSpPr txBox="1"/>
          <p:nvPr/>
        </p:nvSpPr>
        <p:spPr>
          <a:xfrm>
            <a:off x="4368800" y="4445000"/>
            <a:ext cx="3441700" cy="95757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506C80"/>
                </a:solidFill>
                <a:latin typeface="Segoe UI"/>
              </a:defRPr>
            </a:pPr>
            <a:r>
              <a:t>Keep charts, clinical decisions</a:t>
            </a:r>
          </a:p>
          <a:p>
            <a:pPr algn="l">
              <a:lnSpc>
                <a:spcPts val="2379"/>
              </a:lnSpc>
              <a:spcBef>
                <a:spcPts val="0"/>
              </a:spcBef>
              <a:spcAft>
                <a:spcPts val="0"/>
              </a:spcAft>
              <a:defRPr sz="2000" b="0">
                <a:solidFill>
                  <a:srgbClr val="506C80"/>
                </a:solidFill>
                <a:latin typeface="Segoe UI"/>
              </a:defRPr>
            </a:pPr>
            <a:r>
              <a:t>and clinical workflows in</a:t>
            </a:r>
          </a:p>
          <a:p>
            <a:pPr algn="l">
              <a:lnSpc>
                <a:spcPts val="2379"/>
              </a:lnSpc>
              <a:spcBef>
                <a:spcPts val="0"/>
              </a:spcBef>
              <a:spcAft>
                <a:spcPts val="0"/>
              </a:spcAft>
              <a:defRPr sz="2000" b="0">
                <a:solidFill>
                  <a:srgbClr val="506C80"/>
                </a:solidFill>
                <a:latin typeface="Segoe UI"/>
              </a:defRPr>
            </a:pPr>
            <a:r>
              <a:t>approved healthcare systems.</a:t>
            </a:r>
          </a:p>
        </p:txBody>
      </p:sp>
      <p:sp>
        <p:nvSpPr>
          <p:cNvPr id="17" name="TextBox 16"/>
          <p:cNvSpPr txBox="1"/>
          <p:nvPr/>
        </p:nvSpPr>
        <p:spPr>
          <a:xfrm>
            <a:off x="8128000" y="2527300"/>
            <a:ext cx="3441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START WITH APPROVED INTAKE</a:t>
            </a:r>
          </a:p>
        </p:txBody>
      </p:sp>
      <p:cxnSp>
        <p:nvCxnSpPr>
          <p:cNvPr id="18" name="Connector 17"/>
          <p:cNvCxnSpPr/>
          <p:nvPr/>
        </p:nvCxnSpPr>
        <p:spPr>
          <a:xfrm>
            <a:off x="8128000" y="29083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238500"/>
            <a:ext cx="3441700" cy="836676"/>
          </a:xfrm>
          <a:prstGeom prst="rect">
            <a:avLst/>
          </a:prstGeom>
          <a:noFill/>
        </p:spPr>
        <p:txBody>
          <a:bodyPr wrap="none" lIns="0" rIns="0" tIns="0" bIns="0" anchor="t">
            <a:spAutoFit/>
          </a:bodyPr>
          <a:lstStyle/>
          <a:p>
            <a:pPr algn="l">
              <a:lnSpc>
                <a:spcPts val="3094"/>
              </a:lnSpc>
              <a:spcBef>
                <a:spcPts val="0"/>
              </a:spcBef>
              <a:spcAft>
                <a:spcPts val="0"/>
              </a:spcAft>
              <a:defRPr sz="2600" b="1">
                <a:solidFill>
                  <a:srgbClr val="12364E"/>
                </a:solidFill>
                <a:latin typeface="Segoe UI"/>
              </a:defRPr>
            </a:pPr>
            <a:r>
              <a:t>A deliberate first</a:t>
            </a:r>
          </a:p>
          <a:p>
            <a:pPr algn="l">
              <a:lnSpc>
                <a:spcPts val="3094"/>
              </a:lnSpc>
              <a:spcBef>
                <a:spcPts val="0"/>
              </a:spcBef>
              <a:spcAft>
                <a:spcPts val="0"/>
              </a:spcAft>
              <a:defRPr sz="2600" b="1">
                <a:solidFill>
                  <a:srgbClr val="12364E"/>
                </a:solidFill>
                <a:latin typeface="Segoe UI"/>
              </a:defRPr>
            </a:pPr>
            <a:r>
              <a:t>workflow</a:t>
            </a:r>
          </a:p>
        </p:txBody>
      </p:sp>
      <p:sp>
        <p:nvSpPr>
          <p:cNvPr id="20" name="TextBox 19"/>
          <p:cNvSpPr txBox="1"/>
          <p:nvPr/>
        </p:nvSpPr>
        <p:spPr>
          <a:xfrm>
            <a:off x="8128000" y="4445000"/>
            <a:ext cx="3441700" cy="125983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506C80"/>
                </a:solidFill>
                <a:latin typeface="Segoe UI"/>
              </a:defRPr>
            </a:pPr>
            <a:r>
              <a:t>Use in-product entry or</a:t>
            </a:r>
          </a:p>
          <a:p>
            <a:pPr algn="l">
              <a:lnSpc>
                <a:spcPts val="2379"/>
              </a:lnSpc>
              <a:spcBef>
                <a:spcPts val="0"/>
              </a:spcBef>
              <a:spcAft>
                <a:spcPts val="0"/>
              </a:spcAft>
              <a:defRPr sz="2000" b="0">
                <a:solidFill>
                  <a:srgbClr val="506C80"/>
                </a:solidFill>
                <a:latin typeface="Segoe UI"/>
              </a:defRPr>
            </a:pPr>
            <a:r>
              <a:t>protected request intake.</a:t>
            </a:r>
          </a:p>
          <a:p>
            <a:pPr algn="l">
              <a:lnSpc>
                <a:spcPts val="2379"/>
              </a:lnSpc>
              <a:spcBef>
                <a:spcPts val="0"/>
              </a:spcBef>
              <a:spcAft>
                <a:spcPts val="0"/>
              </a:spcAft>
              <a:defRPr sz="2000" b="0">
                <a:solidFill>
                  <a:srgbClr val="506C80"/>
                </a:solidFill>
                <a:latin typeface="Segoe UI"/>
              </a:defRPr>
            </a:pPr>
            <a:r>
              <a:t>Direct mailbox connections</a:t>
            </a:r>
          </a:p>
          <a:p>
            <a:pPr algn="l">
              <a:lnSpc>
                <a:spcPts val="2379"/>
              </a:lnSpc>
              <a:spcBef>
                <a:spcPts val="0"/>
              </a:spcBef>
              <a:spcAft>
                <a:spcPts val="0"/>
              </a:spcAft>
              <a:defRPr sz="2000" b="0">
                <a:solidFill>
                  <a:srgbClr val="506C80"/>
                </a:solidFill>
                <a:latin typeface="Segoe UI"/>
              </a:defRPr>
            </a:pPr>
            <a:r>
              <a:t>are unavailable.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Useful visibility. A clear information boundary.">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CONFIDENCE IN THE RECORD</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Useful visibility.</a:t>
            </a:r>
          </a:p>
          <a:p>
            <a:pPr algn="l">
              <a:lnSpc>
                <a:spcPts val="4284"/>
              </a:lnSpc>
              <a:spcBef>
                <a:spcPts val="0"/>
              </a:spcBef>
              <a:spcAft>
                <a:spcPts val="0"/>
              </a:spcAft>
              <a:defRPr sz="3600" b="1">
                <a:solidFill>
                  <a:srgbClr val="12364E"/>
                </a:solidFill>
                <a:latin typeface="Segoe UI"/>
              </a:defRPr>
            </a:pPr>
            <a:r>
              <a:t>A clear information boundary.</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13 / 20</a:t>
            </a:r>
          </a:p>
        </p:txBody>
      </p:sp>
      <p:cxnSp>
        <p:nvCxnSpPr>
          <p:cNvPr id="9" name="Connector 8"/>
          <p:cNvCxnSpPr/>
          <p:nvPr/>
        </p:nvCxnSpPr>
        <p:spPr>
          <a:xfrm>
            <a:off x="609600" y="2425700"/>
            <a:ext cx="53086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Operational context</a:t>
            </a:r>
          </a:p>
        </p:txBody>
      </p:sp>
      <p:sp>
        <p:nvSpPr>
          <p:cNvPr id="11" name="TextBox 10"/>
          <p:cNvSpPr txBox="1"/>
          <p:nvPr/>
        </p:nvSpPr>
        <p:spPr>
          <a:xfrm>
            <a:off x="609600" y="30607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Record the location, equipment, supply or facility</a:t>
            </a:r>
          </a:p>
          <a:p>
            <a:pPr algn="l">
              <a:lnSpc>
                <a:spcPts val="2023"/>
              </a:lnSpc>
              <a:spcBef>
                <a:spcPts val="0"/>
              </a:spcBef>
              <a:spcAft>
                <a:spcPts val="0"/>
              </a:spcAft>
              <a:defRPr sz="1700" b="0">
                <a:solidFill>
                  <a:srgbClr val="506C80"/>
                </a:solidFill>
                <a:latin typeface="Segoe UI"/>
              </a:defRPr>
            </a:pPr>
            <a:r>
              <a:t>need.</a:t>
            </a:r>
          </a:p>
        </p:txBody>
      </p:sp>
      <p:cxnSp>
        <p:nvCxnSpPr>
          <p:cNvPr id="12" name="Connector 11"/>
          <p:cNvCxnSpPr/>
          <p:nvPr/>
        </p:nvCxnSpPr>
        <p:spPr>
          <a:xfrm>
            <a:off x="6248400" y="2425700"/>
            <a:ext cx="53086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26035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Role-aware access</a:t>
            </a:r>
          </a:p>
        </p:txBody>
      </p:sp>
      <p:sp>
        <p:nvSpPr>
          <p:cNvPr id="14" name="TextBox 13"/>
          <p:cNvSpPr txBox="1"/>
          <p:nvPr/>
        </p:nvSpPr>
        <p:spPr>
          <a:xfrm>
            <a:off x="6248400" y="30607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Organization membership and app access are</a:t>
            </a:r>
          </a:p>
          <a:p>
            <a:pPr algn="l">
              <a:lnSpc>
                <a:spcPts val="2023"/>
              </a:lnSpc>
              <a:spcBef>
                <a:spcPts val="0"/>
              </a:spcBef>
              <a:spcAft>
                <a:spcPts val="0"/>
              </a:spcAft>
              <a:defRPr sz="1700" b="0">
                <a:solidFill>
                  <a:srgbClr val="506C80"/>
                </a:solidFill>
                <a:latin typeface="Segoe UI"/>
              </a:defRPr>
            </a:pPr>
            <a:r>
              <a:t>managed centrally.</a:t>
            </a:r>
          </a:p>
        </p:txBody>
      </p:sp>
      <p:cxnSp>
        <p:nvCxnSpPr>
          <p:cNvPr id="15" name="Connector 14"/>
          <p:cNvCxnSpPr/>
          <p:nvPr/>
        </p:nvCxnSpPr>
        <p:spPr>
          <a:xfrm>
            <a:off x="609600" y="3873500"/>
            <a:ext cx="53086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Clear audiences</a:t>
            </a:r>
          </a:p>
        </p:txBody>
      </p:sp>
      <p:sp>
        <p:nvSpPr>
          <p:cNvPr id="17" name="TextBox 16"/>
          <p:cNvSpPr txBox="1"/>
          <p:nvPr/>
        </p:nvSpPr>
        <p:spPr>
          <a:xfrm>
            <a:off x="609600" y="4508500"/>
            <a:ext cx="51435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Separate requester updates from internal notes and</a:t>
            </a:r>
          </a:p>
          <a:p>
            <a:pPr algn="l">
              <a:lnSpc>
                <a:spcPts val="2023"/>
              </a:lnSpc>
              <a:spcBef>
                <a:spcPts val="0"/>
              </a:spcBef>
              <a:spcAft>
                <a:spcPts val="0"/>
              </a:spcAft>
              <a:defRPr sz="1700" b="0">
                <a:solidFill>
                  <a:srgbClr val="506C80"/>
                </a:solidFill>
                <a:latin typeface="Segoe UI"/>
              </a:defRPr>
            </a:pPr>
            <a:r>
              <a:t>attachments.</a:t>
            </a:r>
          </a:p>
        </p:txBody>
      </p:sp>
      <p:cxnSp>
        <p:nvCxnSpPr>
          <p:cNvPr id="18" name="Connector 17"/>
          <p:cNvCxnSpPr/>
          <p:nvPr/>
        </p:nvCxnSpPr>
        <p:spPr>
          <a:xfrm>
            <a:off x="6248400" y="3873500"/>
            <a:ext cx="53086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4051300"/>
            <a:ext cx="5283200" cy="383286"/>
          </a:xfrm>
          <a:prstGeom prst="rect">
            <a:avLst/>
          </a:prstGeom>
          <a:noFill/>
        </p:spPr>
        <p:txBody>
          <a:bodyPr wrap="none" lIns="0" rIns="0" tIns="0" bIns="0" anchor="t">
            <a:spAutoFit/>
          </a:bodyPr>
          <a:lstStyle/>
          <a:p>
            <a:pPr algn="l">
              <a:lnSpc>
                <a:spcPts val="2618"/>
              </a:lnSpc>
              <a:spcBef>
                <a:spcPts val="0"/>
              </a:spcBef>
              <a:spcAft>
                <a:spcPts val="0"/>
              </a:spcAft>
              <a:defRPr sz="2200" b="1">
                <a:solidFill>
                  <a:srgbClr val="12364E"/>
                </a:solidFill>
                <a:latin typeface="Segoe UI"/>
              </a:defRPr>
            </a:pPr>
            <a:r>
              <a:t>Reviewable history</a:t>
            </a:r>
          </a:p>
        </p:txBody>
      </p:sp>
      <p:sp>
        <p:nvSpPr>
          <p:cNvPr id="20" name="TextBox 19"/>
          <p:cNvSpPr txBox="1"/>
          <p:nvPr/>
        </p:nvSpPr>
        <p:spPr>
          <a:xfrm>
            <a:off x="6248400" y="4508500"/>
            <a:ext cx="5143500" cy="307721"/>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Retain assignment, timing, activity and the resolution.</a:t>
            </a:r>
          </a:p>
        </p:txBody>
      </p:sp>
      <p:sp>
        <p:nvSpPr>
          <p:cNvPr id="21" name="TextBox 20"/>
          <p:cNvSpPr txBox="1"/>
          <p:nvPr/>
        </p:nvSpPr>
        <p:spPr>
          <a:xfrm>
            <a:off x="609600" y="5765800"/>
            <a:ext cx="10985500" cy="239712"/>
          </a:xfrm>
          <a:prstGeom prst="rect">
            <a:avLst/>
          </a:prstGeom>
          <a:noFill/>
        </p:spPr>
        <p:txBody>
          <a:bodyPr wrap="none" lIns="0" rIns="0" tIns="0" bIns="0" anchor="t">
            <a:spAutoFit/>
          </a:bodyPr>
          <a:lstStyle/>
          <a:p>
            <a:pPr algn="l">
              <a:lnSpc>
                <a:spcPts val="1487"/>
              </a:lnSpc>
              <a:spcBef>
                <a:spcPts val="0"/>
              </a:spcBef>
              <a:spcAft>
                <a:spcPts val="0"/>
              </a:spcAft>
              <a:defRPr sz="1250" b="0">
                <a:solidFill>
                  <a:srgbClr val="506C80"/>
                </a:solidFill>
                <a:latin typeface="Segoe UI"/>
              </a:defRPr>
            </a:pPr>
            <a:r>
              <a:t>Keep patient identifiers, charts and clinical decisions out. No HIPAA certification or clinical-system claim is made.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Measure the change in your own operation.">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A BUSINESS CASE YOU CAN TEST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Measure the change</a:t>
            </a:r>
          </a:p>
          <a:p>
            <a:pPr algn="l">
              <a:lnSpc>
                <a:spcPts val="4284"/>
              </a:lnSpc>
              <a:spcBef>
                <a:spcPts val="0"/>
              </a:spcBef>
              <a:spcAft>
                <a:spcPts val="0"/>
              </a:spcAft>
              <a:defRPr sz="3600" b="1">
                <a:solidFill>
                  <a:srgbClr val="12364E"/>
                </a:solidFill>
                <a:latin typeface="Segoe UI"/>
              </a:defRPr>
            </a:pPr>
            <a:r>
              <a:t>in your own operation.</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14 / 20</a:t>
            </a:r>
          </a:p>
        </p:txBody>
      </p:sp>
      <p:sp>
        <p:nvSpPr>
          <p:cNvPr id="9" name="Rounded Rectangle 8"/>
          <p:cNvSpPr/>
          <p:nvPr/>
        </p:nvSpPr>
        <p:spPr>
          <a:xfrm>
            <a:off x="609600" y="2413000"/>
            <a:ext cx="5334000" cy="1092200"/>
          </a:xfrm>
          <a:prstGeom prst="roundRect">
            <a:avLst>
              <a:gd name="adj" fmla="val 5813"/>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82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Time to ownership</a:t>
            </a:r>
          </a:p>
        </p:txBody>
      </p:sp>
      <p:sp>
        <p:nvSpPr>
          <p:cNvPr id="11" name="TextBox 10"/>
          <p:cNvSpPr txBox="1"/>
          <p:nvPr/>
        </p:nvSpPr>
        <p:spPr>
          <a:xfrm>
            <a:off x="8382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506C80"/>
                </a:solidFill>
                <a:latin typeface="Segoe UI"/>
              </a:defRPr>
            </a:pPr>
            <a:r>
              <a:t>Intake → responsible team or person</a:t>
            </a:r>
          </a:p>
        </p:txBody>
      </p:sp>
      <p:sp>
        <p:nvSpPr>
          <p:cNvPr id="12" name="Rounded Rectangle 11"/>
          <p:cNvSpPr/>
          <p:nvPr/>
        </p:nvSpPr>
        <p:spPr>
          <a:xfrm>
            <a:off x="6248400" y="2413000"/>
            <a:ext cx="5334000" cy="1092200"/>
          </a:xfrm>
          <a:prstGeom prst="roundRect">
            <a:avLst>
              <a:gd name="adj" fmla="val 5813"/>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77000" y="26035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Service reliability</a:t>
            </a:r>
          </a:p>
        </p:txBody>
      </p:sp>
      <p:sp>
        <p:nvSpPr>
          <p:cNvPr id="14" name="TextBox 13"/>
          <p:cNvSpPr txBox="1"/>
          <p:nvPr/>
        </p:nvSpPr>
        <p:spPr>
          <a:xfrm>
            <a:off x="6477000" y="30353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506C80"/>
                </a:solidFill>
                <a:latin typeface="Segoe UI"/>
              </a:defRPr>
            </a:pPr>
            <a:r>
              <a:t>Response and resolution target attainment</a:t>
            </a:r>
          </a:p>
        </p:txBody>
      </p:sp>
      <p:sp>
        <p:nvSpPr>
          <p:cNvPr id="15" name="Rounded Rectangle 14"/>
          <p:cNvSpPr/>
          <p:nvPr/>
        </p:nvSpPr>
        <p:spPr>
          <a:xfrm>
            <a:off x="609600" y="3695700"/>
            <a:ext cx="5334000" cy="1092200"/>
          </a:xfrm>
          <a:prstGeom prst="roundRect">
            <a:avLst>
              <a:gd name="adj" fmla="val 5813"/>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2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Handoff quality</a:t>
            </a:r>
          </a:p>
        </p:txBody>
      </p:sp>
      <p:sp>
        <p:nvSpPr>
          <p:cNvPr id="17" name="TextBox 16"/>
          <p:cNvSpPr txBox="1"/>
          <p:nvPr/>
        </p:nvSpPr>
        <p:spPr>
          <a:xfrm>
            <a:off x="8382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506C80"/>
                </a:solidFill>
                <a:latin typeface="Segoe UI"/>
              </a:defRPr>
            </a:pPr>
            <a:r>
              <a:t>Open requests with an owner + next action</a:t>
            </a:r>
          </a:p>
        </p:txBody>
      </p:sp>
      <p:sp>
        <p:nvSpPr>
          <p:cNvPr id="18" name="Rounded Rectangle 17"/>
          <p:cNvSpPr/>
          <p:nvPr/>
        </p:nvSpPr>
        <p:spPr>
          <a:xfrm>
            <a:off x="6248400" y="3695700"/>
            <a:ext cx="5334000" cy="1092200"/>
          </a:xfrm>
          <a:prstGeom prst="roundRect">
            <a:avLst>
              <a:gd name="adj" fmla="val 5813"/>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77000" y="3886200"/>
            <a:ext cx="48895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Operational demand</a:t>
            </a:r>
          </a:p>
        </p:txBody>
      </p:sp>
      <p:sp>
        <p:nvSpPr>
          <p:cNvPr id="20" name="TextBox 19"/>
          <p:cNvSpPr txBox="1"/>
          <p:nvPr/>
        </p:nvSpPr>
        <p:spPr>
          <a:xfrm>
            <a:off x="6477000" y="4318000"/>
            <a:ext cx="4889500" cy="272961"/>
          </a:xfrm>
          <a:prstGeom prst="rect">
            <a:avLst/>
          </a:prstGeom>
          <a:noFill/>
        </p:spPr>
        <p:txBody>
          <a:bodyPr wrap="none" lIns="0" rIns="0" tIns="0" bIns="0" anchor="t">
            <a:spAutoFit/>
          </a:bodyPr>
          <a:lstStyle/>
          <a:p>
            <a:pPr algn="l">
              <a:lnSpc>
                <a:spcPts val="1749"/>
              </a:lnSpc>
              <a:spcBef>
                <a:spcPts val="0"/>
              </a:spcBef>
              <a:spcAft>
                <a:spcPts val="0"/>
              </a:spcAft>
              <a:defRPr sz="1470" b="0">
                <a:solidFill>
                  <a:srgbClr val="506C80"/>
                </a:solidFill>
                <a:latin typeface="Segoe UI"/>
              </a:defRPr>
            </a:pPr>
            <a:r>
              <a:t>Age and type of recurring requests</a:t>
            </a:r>
          </a:p>
        </p:txBody>
      </p:sp>
      <p:sp>
        <p:nvSpPr>
          <p:cNvPr id="21" name="TextBox 20"/>
          <p:cNvSpPr txBox="1"/>
          <p:nvPr/>
        </p:nvSpPr>
        <p:spPr>
          <a:xfrm>
            <a:off x="609600" y="5194300"/>
            <a:ext cx="10985500" cy="806450"/>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007EAF"/>
                </a:solidFill>
                <a:latin typeface="Segoe UI"/>
              </a:defRPr>
            </a:pPr>
            <a:r>
              <a:t>Which request is being chased today because nobody can see who owns</a:t>
            </a:r>
          </a:p>
          <a:p>
            <a:pPr algn="l">
              <a:lnSpc>
                <a:spcPts val="2975"/>
              </a:lnSpc>
              <a:spcBef>
                <a:spcPts val="0"/>
              </a:spcBef>
              <a:spcAft>
                <a:spcPts val="0"/>
              </a:spcAft>
              <a:defRPr sz="2500" b="1">
                <a:solidFill>
                  <a:srgbClr val="007EAF"/>
                </a:solidFill>
                <a:latin typeface="Segoe UI"/>
              </a:defRPr>
            </a:pPr>
            <a:r>
              <a:t>it?</a:t>
            </a:r>
          </a:p>
        </p:txBody>
      </p:sp>
      <p:sp>
        <p:nvSpPr>
          <p:cNvPr id="22" name="TextBox 21"/>
          <p:cNvSpPr txBox="1"/>
          <p:nvPr/>
        </p:nvSpPr>
        <p:spPr>
          <a:xfrm>
            <a:off x="609600" y="6083300"/>
            <a:ext cx="10985500" cy="209486"/>
          </a:xfrm>
          <a:prstGeom prst="rect">
            <a:avLst/>
          </a:prstGeom>
          <a:noFill/>
        </p:spPr>
        <p:txBody>
          <a:bodyPr wrap="none" lIns="0" rIns="0" tIns="0" bIns="0" anchor="t">
            <a:spAutoFit/>
          </a:bodyPr>
          <a:lstStyle/>
          <a:p>
            <a:pPr algn="l">
              <a:lnSpc>
                <a:spcPts val="1249"/>
              </a:lnSpc>
              <a:spcBef>
                <a:spcPts val="0"/>
              </a:spcBef>
              <a:spcAft>
                <a:spcPts val="0"/>
              </a:spcAft>
              <a:defRPr sz="1050" b="0">
                <a:solidFill>
                  <a:srgbClr val="506C80"/>
                </a:solidFill>
                <a:latin typeface="Segoe UI"/>
              </a:defRPr>
            </a:pPr>
            <a:r>
              <a:t>Agree the baseline, sample and success threshold together. No outcome guarantee is implied.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Start focused. Give the team room to work.">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OPERATOROS APPLICATION STACK</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Start focused.</a:t>
            </a:r>
          </a:p>
          <a:p>
            <a:pPr algn="l">
              <a:lnSpc>
                <a:spcPts val="4284"/>
              </a:lnSpc>
              <a:spcBef>
                <a:spcPts val="0"/>
              </a:spcBef>
              <a:spcAft>
                <a:spcPts val="0"/>
              </a:spcAft>
              <a:defRPr sz="3600" b="1">
                <a:solidFill>
                  <a:srgbClr val="12364E"/>
                </a:solidFill>
                <a:latin typeface="Segoe UI"/>
              </a:defRPr>
            </a:pPr>
            <a:r>
              <a:t>Give the team room to work.</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15 / 20</a:t>
            </a:r>
          </a:p>
        </p:txBody>
      </p:sp>
      <p:sp>
        <p:nvSpPr>
          <p:cNvPr id="9" name="TextBox 8"/>
          <p:cNvSpPr txBox="1"/>
          <p:nvPr/>
        </p:nvSpPr>
        <p:spPr>
          <a:xfrm>
            <a:off x="6096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007EAF"/>
                </a:solidFill>
                <a:latin typeface="Segoe UI Light"/>
              </a:defRPr>
            </a:pPr>
            <a:r>
              <a:t>1</a:t>
            </a:r>
          </a:p>
        </p:txBody>
      </p:sp>
      <p:sp>
        <p:nvSpPr>
          <p:cNvPr id="10" name="TextBox 9"/>
          <p:cNvSpPr txBox="1"/>
          <p:nvPr/>
        </p:nvSpPr>
        <p:spPr>
          <a:xfrm>
            <a:off x="6096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12364E"/>
                </a:solidFill>
                <a:latin typeface="Segoe UI"/>
              </a:defRPr>
            </a:pPr>
            <a:r>
              <a:t>PulseDesk</a:t>
            </a:r>
          </a:p>
        </p:txBody>
      </p:sp>
      <p:sp>
        <p:nvSpPr>
          <p:cNvPr id="11" name="TextBox 10"/>
          <p:cNvSpPr txBox="1"/>
          <p:nvPr/>
        </p:nvSpPr>
        <p:spPr>
          <a:xfrm>
            <a:off x="6096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Your flagship application</a:t>
            </a:r>
          </a:p>
        </p:txBody>
      </p:sp>
      <p:sp>
        <p:nvSpPr>
          <p:cNvPr id="12" name="TextBox 11"/>
          <p:cNvSpPr txBox="1"/>
          <p:nvPr/>
        </p:nvSpPr>
        <p:spPr>
          <a:xfrm>
            <a:off x="43688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007EAF"/>
                </a:solidFill>
                <a:latin typeface="Segoe UI Light"/>
              </a:defRPr>
            </a:pPr>
            <a:r>
              <a:t>5</a:t>
            </a:r>
          </a:p>
        </p:txBody>
      </p:sp>
      <p:sp>
        <p:nvSpPr>
          <p:cNvPr id="13" name="TextBox 12"/>
          <p:cNvSpPr txBox="1"/>
          <p:nvPr/>
        </p:nvSpPr>
        <p:spPr>
          <a:xfrm>
            <a:off x="43688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12364E"/>
                </a:solidFill>
                <a:latin typeface="Segoe UI"/>
              </a:defRPr>
            </a:pPr>
            <a:r>
              <a:t>Team seats</a:t>
            </a:r>
          </a:p>
        </p:txBody>
      </p:sp>
      <p:sp>
        <p:nvSpPr>
          <p:cNvPr id="14" name="TextBox 13"/>
          <p:cNvSpPr txBox="1"/>
          <p:nvPr/>
        </p:nvSpPr>
        <p:spPr>
          <a:xfrm>
            <a:off x="43688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Included with the stack</a:t>
            </a:r>
          </a:p>
        </p:txBody>
      </p:sp>
      <p:sp>
        <p:nvSpPr>
          <p:cNvPr id="15" name="TextBox 14"/>
          <p:cNvSpPr txBox="1"/>
          <p:nvPr/>
        </p:nvSpPr>
        <p:spPr>
          <a:xfrm>
            <a:off x="8128000" y="2209800"/>
            <a:ext cx="3492500" cy="1562100"/>
          </a:xfrm>
          <a:prstGeom prst="rect">
            <a:avLst/>
          </a:prstGeom>
          <a:noFill/>
        </p:spPr>
        <p:txBody>
          <a:bodyPr wrap="none" lIns="0" rIns="0" tIns="0" bIns="0" anchor="t">
            <a:spAutoFit/>
          </a:bodyPr>
          <a:lstStyle/>
          <a:p>
            <a:pPr algn="l">
              <a:lnSpc>
                <a:spcPts val="11900"/>
              </a:lnSpc>
              <a:spcBef>
                <a:spcPts val="0"/>
              </a:spcBef>
              <a:spcAft>
                <a:spcPts val="0"/>
              </a:spcAft>
              <a:defRPr sz="10000" b="0">
                <a:solidFill>
                  <a:srgbClr val="007EAF"/>
                </a:solidFill>
                <a:latin typeface="Segoe UI Light"/>
              </a:defRPr>
            </a:pPr>
            <a:r>
              <a:t>1</a:t>
            </a:r>
          </a:p>
        </p:txBody>
      </p:sp>
      <p:sp>
        <p:nvSpPr>
          <p:cNvPr id="16" name="TextBox 15"/>
          <p:cNvSpPr txBox="1"/>
          <p:nvPr/>
        </p:nvSpPr>
        <p:spPr>
          <a:xfrm>
            <a:off x="8128000" y="3771900"/>
            <a:ext cx="3492500" cy="428625"/>
          </a:xfrm>
          <a:prstGeom prst="rect">
            <a:avLst/>
          </a:prstGeom>
          <a:noFill/>
        </p:spPr>
        <p:txBody>
          <a:bodyPr wrap="none" lIns="0" rIns="0" tIns="0" bIns="0" anchor="t">
            <a:spAutoFit/>
          </a:bodyPr>
          <a:lstStyle/>
          <a:p>
            <a:pPr algn="l">
              <a:lnSpc>
                <a:spcPts val="2975"/>
              </a:lnSpc>
              <a:spcBef>
                <a:spcPts val="0"/>
              </a:spcBef>
              <a:spcAft>
                <a:spcPts val="0"/>
              </a:spcAft>
              <a:defRPr sz="2500" b="1">
                <a:solidFill>
                  <a:srgbClr val="12364E"/>
                </a:solidFill>
                <a:latin typeface="Segoe UI"/>
              </a:defRPr>
            </a:pPr>
            <a:r>
              <a:t>Eligible companion</a:t>
            </a:r>
          </a:p>
        </p:txBody>
      </p:sp>
      <p:sp>
        <p:nvSpPr>
          <p:cNvPr id="17" name="TextBox 16"/>
          <p:cNvSpPr txBox="1"/>
          <p:nvPr/>
        </p:nvSpPr>
        <p:spPr>
          <a:xfrm>
            <a:off x="8128000" y="4343400"/>
            <a:ext cx="34925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506C80"/>
                </a:solidFill>
                <a:latin typeface="Segoe UI"/>
              </a:defRPr>
            </a:pPr>
            <a:r>
              <a:t>Chosen for your organization</a:t>
            </a:r>
          </a:p>
        </p:txBody>
      </p:sp>
      <p:sp>
        <p:nvSpPr>
          <p:cNvPr id="18" name="Rounded Rectangle 17"/>
          <p:cNvSpPr/>
          <p:nvPr/>
        </p:nvSpPr>
        <p:spPr>
          <a:xfrm>
            <a:off x="609600" y="5130800"/>
            <a:ext cx="10972800" cy="596900"/>
          </a:xfrm>
          <a:prstGeom prst="roundRect">
            <a:avLst>
              <a:gd name="adj" fmla="val 10638"/>
            </a:avLst>
          </a:prstGeom>
          <a:solidFill>
            <a:srgbClr val="E2F0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800" y="5270500"/>
            <a:ext cx="10579100" cy="292608"/>
          </a:xfrm>
          <a:prstGeom prst="rect">
            <a:avLst/>
          </a:prstGeom>
          <a:noFill/>
        </p:spPr>
        <p:txBody>
          <a:bodyPr wrap="none" lIns="0" rIns="0" tIns="0" bIns="0" anchor="t">
            <a:spAutoFit/>
          </a:bodyPr>
          <a:lstStyle/>
          <a:p>
            <a:pPr algn="l">
              <a:lnSpc>
                <a:spcPts val="1904"/>
              </a:lnSpc>
              <a:spcBef>
                <a:spcPts val="0"/>
              </a:spcBef>
              <a:spcAft>
                <a:spcPts val="0"/>
              </a:spcAft>
              <a:defRPr sz="1600" b="0">
                <a:solidFill>
                  <a:srgbClr val="12364E"/>
                </a:solidFill>
                <a:latin typeface="Segoe UI"/>
              </a:defRPr>
            </a:pPr>
            <a:r>
              <a:t>Free OperatorOS home base. Monthly billing. Add seats and eligible companions as needed.</a:t>
            </a:r>
          </a:p>
        </p:txBody>
      </p:sp>
      <p:sp>
        <p:nvSpPr>
          <p:cNvPr id="20" name="TextBox 19"/>
          <p:cNvSpPr txBox="1"/>
          <p:nvPr/>
        </p:nvSpPr>
        <p:spPr>
          <a:xfrm>
            <a:off x="609600" y="5905500"/>
            <a:ext cx="7962900" cy="247269"/>
          </a:xfrm>
          <a:prstGeom prst="rect">
            <a:avLst/>
          </a:prstGeom>
          <a:noFill/>
        </p:spPr>
        <p:txBody>
          <a:bodyPr wrap="none" lIns="0" rIns="0" tIns="0" bIns="0" anchor="t">
            <a:spAutoFit/>
          </a:bodyPr>
          <a:lstStyle/>
          <a:p>
            <a:pPr algn="l">
              <a:lnSpc>
                <a:spcPts val="1547"/>
              </a:lnSpc>
              <a:spcBef>
                <a:spcPts val="0"/>
              </a:spcBef>
              <a:spcAft>
                <a:spcPts val="0"/>
              </a:spcAft>
              <a:defRPr sz="1300" b="0">
                <a:solidFill>
                  <a:srgbClr val="506C80"/>
                </a:solidFill>
                <a:latin typeface="Segoe UI"/>
              </a:defRPr>
            </a:pPr>
            <a:r>
              <a:t>Confirm the current quote and any usage charges before activation.</a:t>
            </a:r>
          </a:p>
        </p:txBody>
      </p:sp>
      <p:sp>
        <p:nvSpPr>
          <p:cNvPr id="21" name="TextBox 20"/>
          <p:cNvSpPr txBox="1"/>
          <p:nvPr/>
        </p:nvSpPr>
        <p:spPr>
          <a:xfrm>
            <a:off x="9359900" y="5880100"/>
            <a:ext cx="2235200" cy="277495"/>
          </a:xfrm>
          <a:prstGeom prst="rect">
            <a:avLst/>
          </a:prstGeom>
          <a:noFill/>
        </p:spPr>
        <p:txBody>
          <a:bodyPr wrap="none" lIns="0" rIns="0" tIns="0" bIns="0" anchor="t">
            <a:spAutoFit/>
          </a:bodyPr>
          <a:lstStyle/>
          <a:p>
            <a:pPr algn="r">
              <a:lnSpc>
                <a:spcPts val="1784"/>
              </a:lnSpc>
              <a:spcBef>
                <a:spcPts val="0"/>
              </a:spcBef>
              <a:spcAft>
                <a:spcPts val="0"/>
              </a:spcAft>
              <a:defRPr sz="1500" b="1">
                <a:solidFill>
                  <a:srgbClr val="007EAF"/>
                </a:solidFill>
                <a:latin typeface="Segoe UI"/>
              </a:defRPr>
            </a:pPr>
            <a:r>
              <a:rPr>
                <a:hlinkClick r:id="rId3"/>
              </a:rPr>
              <a:t>Review plans →</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Prove the fit with a focused 30-day pilot.">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PROPOSED EVALUATION / SCOPE AND TERMS BY AGREEMENT</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Prove the fit</a:t>
            </a:r>
          </a:p>
          <a:p>
            <a:pPr algn="l">
              <a:lnSpc>
                <a:spcPts val="4284"/>
              </a:lnSpc>
              <a:spcBef>
                <a:spcPts val="0"/>
              </a:spcBef>
              <a:spcAft>
                <a:spcPts val="0"/>
              </a:spcAft>
              <a:defRPr sz="3600" b="1">
                <a:solidFill>
                  <a:srgbClr val="12364E"/>
                </a:solidFill>
                <a:latin typeface="Segoe UI"/>
              </a:defRPr>
            </a:pPr>
            <a:r>
              <a:t>with a focused 30-day pilot.</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16 / 20</a:t>
            </a:r>
          </a:p>
        </p:txBody>
      </p:sp>
      <p:sp>
        <p:nvSpPr>
          <p:cNvPr id="9" name="TextBox 8"/>
          <p:cNvSpPr txBox="1"/>
          <p:nvPr/>
        </p:nvSpPr>
        <p:spPr>
          <a:xfrm>
            <a:off x="6096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WEEK 1</a:t>
            </a:r>
          </a:p>
        </p:txBody>
      </p:sp>
      <p:cxnSp>
        <p:nvCxnSpPr>
          <p:cNvPr id="10" name="Connector 9"/>
          <p:cNvCxnSpPr/>
          <p:nvPr/>
        </p:nvCxnSpPr>
        <p:spPr>
          <a:xfrm>
            <a:off x="609600" y="28575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096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SET THE BASELINE</a:t>
            </a:r>
          </a:p>
        </p:txBody>
      </p:sp>
      <p:sp>
        <p:nvSpPr>
          <p:cNvPr id="12" name="TextBox 11"/>
          <p:cNvSpPr txBox="1"/>
          <p:nvPr/>
        </p:nvSpPr>
        <p:spPr>
          <a:xfrm>
            <a:off x="6096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506C80"/>
                </a:solidFill>
                <a:latin typeface="Segoe UI"/>
              </a:defRPr>
            </a:pPr>
            <a:r>
              <a:t>Choose one department and</a:t>
            </a:r>
          </a:p>
          <a:p>
            <a:pPr algn="l">
              <a:lnSpc>
                <a:spcPts val="2261"/>
              </a:lnSpc>
              <a:spcBef>
                <a:spcPts val="0"/>
              </a:spcBef>
              <a:spcAft>
                <a:spcPts val="0"/>
              </a:spcAft>
              <a:defRPr sz="1900" b="0">
                <a:solidFill>
                  <a:srgbClr val="506C80"/>
                </a:solidFill>
                <a:latin typeface="Segoe UI"/>
              </a:defRPr>
            </a:pPr>
            <a:r>
              <a:t>five users. Agree an</a:t>
            </a:r>
          </a:p>
          <a:p>
            <a:pPr algn="l">
              <a:lnSpc>
                <a:spcPts val="2261"/>
              </a:lnSpc>
              <a:spcBef>
                <a:spcPts val="0"/>
              </a:spcBef>
              <a:spcAft>
                <a:spcPts val="0"/>
              </a:spcAft>
              <a:defRPr sz="1900" b="0">
                <a:solidFill>
                  <a:srgbClr val="506C80"/>
                </a:solidFill>
                <a:latin typeface="Segoe UI"/>
              </a:defRPr>
            </a:pPr>
            <a:r>
              <a:t>operations-only request type.</a:t>
            </a:r>
          </a:p>
        </p:txBody>
      </p:sp>
      <p:sp>
        <p:nvSpPr>
          <p:cNvPr id="13" name="TextBox 12"/>
          <p:cNvSpPr txBox="1"/>
          <p:nvPr/>
        </p:nvSpPr>
        <p:spPr>
          <a:xfrm>
            <a:off x="43688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WEEKS 2–3</a:t>
            </a:r>
          </a:p>
        </p:txBody>
      </p:sp>
      <p:cxnSp>
        <p:nvCxnSpPr>
          <p:cNvPr id="14" name="Connector 13"/>
          <p:cNvCxnSpPr/>
          <p:nvPr/>
        </p:nvCxnSpPr>
        <p:spPr>
          <a:xfrm>
            <a:off x="4368800" y="28575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43688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WORK THE FLOW</a:t>
            </a:r>
          </a:p>
        </p:txBody>
      </p:sp>
      <p:sp>
        <p:nvSpPr>
          <p:cNvPr id="16" name="TextBox 15"/>
          <p:cNvSpPr txBox="1"/>
          <p:nvPr/>
        </p:nvSpPr>
        <p:spPr>
          <a:xfrm>
            <a:off x="43688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506C80"/>
                </a:solidFill>
                <a:latin typeface="Segoe UI"/>
              </a:defRPr>
            </a:pPr>
            <a:r>
              <a:t>Assign targets and owners.</a:t>
            </a:r>
          </a:p>
          <a:p>
            <a:pPr algn="l">
              <a:lnSpc>
                <a:spcPts val="2261"/>
              </a:lnSpc>
              <a:spcBef>
                <a:spcPts val="0"/>
              </a:spcBef>
              <a:spcAft>
                <a:spcPts val="0"/>
              </a:spcAft>
              <a:defRPr sz="1900" b="0">
                <a:solidFill>
                  <a:srgbClr val="506C80"/>
                </a:solidFill>
                <a:latin typeface="Segoe UI"/>
              </a:defRPr>
            </a:pPr>
            <a:r>
              <a:t>Review at-risk work and</a:t>
            </a:r>
          </a:p>
          <a:p>
            <a:pPr algn="l">
              <a:lnSpc>
                <a:spcPts val="2261"/>
              </a:lnSpc>
              <a:spcBef>
                <a:spcPts val="0"/>
              </a:spcBef>
              <a:spcAft>
                <a:spcPts val="0"/>
              </a:spcAft>
              <a:defRPr sz="1900" b="0">
                <a:solidFill>
                  <a:srgbClr val="506C80"/>
                </a:solidFill>
                <a:latin typeface="Segoe UI"/>
              </a:defRPr>
            </a:pPr>
            <a:r>
              <a:t>handoffs daily.</a:t>
            </a:r>
          </a:p>
        </p:txBody>
      </p:sp>
      <p:sp>
        <p:nvSpPr>
          <p:cNvPr id="17" name="TextBox 16"/>
          <p:cNvSpPr txBox="1"/>
          <p:nvPr/>
        </p:nvSpPr>
        <p:spPr>
          <a:xfrm>
            <a:off x="8128000" y="2489200"/>
            <a:ext cx="34671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WEEK 4</a:t>
            </a:r>
          </a:p>
        </p:txBody>
      </p:sp>
      <p:cxnSp>
        <p:nvCxnSpPr>
          <p:cNvPr id="18" name="Connector 17"/>
          <p:cNvCxnSpPr/>
          <p:nvPr/>
        </p:nvCxnSpPr>
        <p:spPr>
          <a:xfrm>
            <a:off x="8128000" y="2857500"/>
            <a:ext cx="3454400" cy="0"/>
          </a:xfrm>
          <a:prstGeom prst="line">
            <a:avLst/>
          </a:prstGeom>
          <a:ln w="25400">
            <a:solidFill>
              <a:srgbClr val="007EAF"/>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8128000" y="3162300"/>
            <a:ext cx="3467100" cy="353059"/>
          </a:xfrm>
          <a:prstGeom prst="rect">
            <a:avLst/>
          </a:prstGeom>
          <a:noFill/>
        </p:spPr>
        <p:txBody>
          <a:bodyPr wrap="none" lIns="0" rIns="0" tIns="0" bIns="0" anchor="t">
            <a:spAutoFit/>
          </a:bodyPr>
          <a:lstStyle/>
          <a:p>
            <a:pPr algn="l">
              <a:lnSpc>
                <a:spcPts val="2379"/>
              </a:lnSpc>
              <a:spcBef>
                <a:spcPts val="0"/>
              </a:spcBef>
              <a:spcAft>
                <a:spcPts val="0"/>
              </a:spcAft>
              <a:defRPr sz="2000" b="1">
                <a:solidFill>
                  <a:srgbClr val="12364E"/>
                </a:solidFill>
                <a:latin typeface="Segoe UI"/>
              </a:defRPr>
            </a:pPr>
            <a:r>
              <a:t>CLOSE THE LOOP</a:t>
            </a:r>
          </a:p>
        </p:txBody>
      </p:sp>
      <p:sp>
        <p:nvSpPr>
          <p:cNvPr id="20" name="TextBox 19"/>
          <p:cNvSpPr txBox="1"/>
          <p:nvPr/>
        </p:nvSpPr>
        <p:spPr>
          <a:xfrm>
            <a:off x="8128000" y="3949700"/>
            <a:ext cx="3378200" cy="912241"/>
          </a:xfrm>
          <a:prstGeom prst="rect">
            <a:avLst/>
          </a:prstGeom>
          <a:noFill/>
        </p:spPr>
        <p:txBody>
          <a:bodyPr wrap="none" lIns="0" rIns="0" tIns="0" bIns="0" anchor="t">
            <a:spAutoFit/>
          </a:bodyPr>
          <a:lstStyle/>
          <a:p>
            <a:pPr algn="l">
              <a:lnSpc>
                <a:spcPts val="2261"/>
              </a:lnSpc>
              <a:spcBef>
                <a:spcPts val="0"/>
              </a:spcBef>
              <a:spcAft>
                <a:spcPts val="0"/>
              </a:spcAft>
              <a:defRPr sz="1900" b="0">
                <a:solidFill>
                  <a:srgbClr val="506C80"/>
                </a:solidFill>
                <a:latin typeface="Segoe UI"/>
              </a:defRPr>
            </a:pPr>
            <a:r>
              <a:t>Check requester updates and</a:t>
            </a:r>
          </a:p>
          <a:p>
            <a:pPr algn="l">
              <a:lnSpc>
                <a:spcPts val="2261"/>
              </a:lnSpc>
              <a:spcBef>
                <a:spcPts val="0"/>
              </a:spcBef>
              <a:spcAft>
                <a:spcPts val="0"/>
              </a:spcAft>
              <a:defRPr sz="1900" b="0">
                <a:solidFill>
                  <a:srgbClr val="506C80"/>
                </a:solidFill>
                <a:latin typeface="Segoe UI"/>
              </a:defRPr>
            </a:pPr>
            <a:r>
              <a:t>resolution history. Compare</a:t>
            </a:r>
          </a:p>
          <a:p>
            <a:pPr algn="l">
              <a:lnSpc>
                <a:spcPts val="2261"/>
              </a:lnSpc>
              <a:spcBef>
                <a:spcPts val="0"/>
              </a:spcBef>
              <a:spcAft>
                <a:spcPts val="0"/>
              </a:spcAft>
              <a:defRPr sz="1900" b="0">
                <a:solidFill>
                  <a:srgbClr val="506C80"/>
                </a:solidFill>
                <a:latin typeface="Segoe UI"/>
              </a:defRPr>
            </a:pPr>
            <a:r>
              <a:t>the baseline.</a:t>
            </a:r>
          </a:p>
        </p:txBody>
      </p:sp>
      <p:sp>
        <p:nvSpPr>
          <p:cNvPr id="21" name="TextBox 20"/>
          <p:cNvSpPr txBox="1"/>
          <p:nvPr/>
        </p:nvSpPr>
        <p:spPr>
          <a:xfrm>
            <a:off x="609600" y="5575300"/>
            <a:ext cx="10985500" cy="579755"/>
          </a:xfrm>
          <a:prstGeom prst="rect">
            <a:avLst/>
          </a:prstGeom>
          <a:noFill/>
        </p:spPr>
        <p:txBody>
          <a:bodyPr wrap="none" lIns="0" rIns="0" tIns="0" bIns="0" anchor="t">
            <a:spAutoFit/>
          </a:bodyPr>
          <a:lstStyle/>
          <a:p>
            <a:pPr algn="l">
              <a:lnSpc>
                <a:spcPts val="2082"/>
              </a:lnSpc>
              <a:spcBef>
                <a:spcPts val="0"/>
              </a:spcBef>
              <a:spcAft>
                <a:spcPts val="0"/>
              </a:spcAft>
              <a:defRPr sz="1750" b="1">
                <a:solidFill>
                  <a:srgbClr val="007EAF"/>
                </a:solidFill>
                <a:latin typeface="Segoe UI"/>
              </a:defRPr>
            </a:pPr>
            <a:r>
              <a:t>Continue when the team can route, own and close the agreed requests with clear updates and no patient</a:t>
            </a:r>
          </a:p>
          <a:p>
            <a:pPr algn="l">
              <a:lnSpc>
                <a:spcPts val="2082"/>
              </a:lnSpc>
              <a:spcBef>
                <a:spcPts val="0"/>
              </a:spcBef>
              <a:spcAft>
                <a:spcPts val="0"/>
              </a:spcAft>
              <a:defRPr sz="1750" b="1">
                <a:solidFill>
                  <a:srgbClr val="007EAF"/>
                </a:solidFill>
                <a:latin typeface="Segoe UI"/>
              </a:defRPr>
            </a:pPr>
            <a:r>
              <a:t>information.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name="Bring one request that keeps getting handed off.">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healthcare-legal.png"/>
          <p:cNvPicPr>
            <a:picLocks noChangeAspect="1"/>
          </p:cNvPicPr>
          <p:nvPr/>
        </p:nvPicPr>
        <p:blipFill>
          <a:blip r:embed="rId3"/>
          <a:srcRect l="6944" r="6944"/>
          <a:stretch>
            <a:fillRect/>
          </a:stretch>
        </p:blipFill>
        <p:spPr>
          <a:xfrm>
            <a:off x="8255000" y="0"/>
            <a:ext cx="3937000" cy="6858000"/>
          </a:xfrm>
          <a:prstGeom prst="rect">
            <a:avLst/>
          </a:prstGeom>
        </p:spPr>
      </p:pic>
      <p:sp>
        <p:nvSpPr>
          <p:cNvPr id="5" name="Rectangle 4"/>
          <p:cNvSpPr/>
          <p:nvPr/>
        </p:nvSpPr>
        <p:spPr>
          <a:xfrm>
            <a:off x="8001000" y="0"/>
            <a:ext cx="2540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operatoros-mark.png"/>
          <p:cNvPicPr>
            <a:picLocks noChangeAspect="1"/>
          </p:cNvPicPr>
          <p:nvPr/>
        </p:nvPicPr>
        <p:blipFill>
          <a:blip r:embed="rId4"/>
          <a:stretch>
            <a:fillRect/>
          </a:stretch>
        </p:blipFill>
        <p:spPr>
          <a:xfrm>
            <a:off x="609600" y="292100"/>
            <a:ext cx="381000" cy="381000"/>
          </a:xfrm>
          <a:prstGeom prst="rect">
            <a:avLst/>
          </a:prstGeom>
        </p:spPr>
      </p:pic>
      <p:sp>
        <p:nvSpPr>
          <p:cNvPr id="7" name="TextBox 6"/>
          <p:cNvSpPr txBox="1"/>
          <p:nvPr/>
        </p:nvSpPr>
        <p:spPr>
          <a:xfrm>
            <a:off x="1092200" y="342900"/>
            <a:ext cx="2171700" cy="277495"/>
          </a:xfrm>
          <a:prstGeom prst="rect">
            <a:avLst/>
          </a:prstGeom>
          <a:noFill/>
        </p:spPr>
        <p:txBody>
          <a:bodyPr wrap="none" lIns="0" rIns="0" tIns="0" bIns="0" anchor="t">
            <a:spAutoFit/>
          </a:bodyPr>
          <a:lstStyle/>
          <a:p>
            <a:pPr algn="l">
              <a:lnSpc>
                <a:spcPts val="1784"/>
              </a:lnSpc>
              <a:spcBef>
                <a:spcPts val="0"/>
              </a:spcBef>
              <a:spcAft>
                <a:spcPts val="0"/>
              </a:spcAft>
              <a:defRPr sz="1500" b="1">
                <a:solidFill>
                  <a:srgbClr val="12364E"/>
                </a:solidFill>
                <a:latin typeface="Segoe UI"/>
              </a:defRPr>
            </a:pPr>
            <a:r>
              <a:t>OperatorOS</a:t>
            </a:r>
          </a:p>
        </p:txBody>
      </p:sp>
      <p:sp>
        <p:nvSpPr>
          <p:cNvPr id="8" name="TextBox 7"/>
          <p:cNvSpPr txBox="1"/>
          <p:nvPr/>
        </p:nvSpPr>
        <p:spPr>
          <a:xfrm>
            <a:off x="609600" y="1473200"/>
            <a:ext cx="50927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THE NEXT CONVERSATION</a:t>
            </a:r>
          </a:p>
        </p:txBody>
      </p:sp>
      <p:sp>
        <p:nvSpPr>
          <p:cNvPr id="9" name="TextBox 8"/>
          <p:cNvSpPr txBox="1"/>
          <p:nvPr/>
        </p:nvSpPr>
        <p:spPr>
          <a:xfrm>
            <a:off x="609600" y="2006600"/>
            <a:ext cx="7251700" cy="2045715"/>
          </a:xfrm>
          <a:prstGeom prst="rect">
            <a:avLst/>
          </a:prstGeom>
          <a:noFill/>
        </p:spPr>
        <p:txBody>
          <a:bodyPr wrap="none" lIns="0" rIns="0" tIns="0" bIns="0" anchor="t">
            <a:spAutoFit/>
          </a:bodyPr>
          <a:lstStyle/>
          <a:p>
            <a:pPr algn="l">
              <a:lnSpc>
                <a:spcPts val="5236"/>
              </a:lnSpc>
              <a:spcBef>
                <a:spcPts val="0"/>
              </a:spcBef>
              <a:spcAft>
                <a:spcPts val="0"/>
              </a:spcAft>
              <a:defRPr sz="4400" b="1">
                <a:solidFill>
                  <a:srgbClr val="12364E"/>
                </a:solidFill>
                <a:latin typeface="Segoe UI"/>
              </a:defRPr>
            </a:pPr>
            <a:r>
              <a:t>Bring one request</a:t>
            </a:r>
          </a:p>
          <a:p>
            <a:pPr algn="l">
              <a:lnSpc>
                <a:spcPts val="5236"/>
              </a:lnSpc>
              <a:spcBef>
                <a:spcPts val="0"/>
              </a:spcBef>
              <a:spcAft>
                <a:spcPts val="0"/>
              </a:spcAft>
              <a:defRPr sz="4400" b="1">
                <a:solidFill>
                  <a:srgbClr val="12364E"/>
                </a:solidFill>
                <a:latin typeface="Segoe UI"/>
              </a:defRPr>
            </a:pPr>
            <a:r>
              <a:t>that keeps getting</a:t>
            </a:r>
          </a:p>
          <a:p>
            <a:pPr algn="l">
              <a:lnSpc>
                <a:spcPts val="5236"/>
              </a:lnSpc>
              <a:spcBef>
                <a:spcPts val="0"/>
              </a:spcBef>
              <a:spcAft>
                <a:spcPts val="0"/>
              </a:spcAft>
              <a:defRPr sz="4400" b="1">
                <a:solidFill>
                  <a:srgbClr val="12364E"/>
                </a:solidFill>
                <a:latin typeface="Segoe UI"/>
              </a:defRPr>
            </a:pPr>
            <a:r>
              <a:t>handed off.</a:t>
            </a:r>
          </a:p>
        </p:txBody>
      </p:sp>
      <p:sp>
        <p:nvSpPr>
          <p:cNvPr id="10" name="TextBox 9"/>
          <p:cNvSpPr txBox="1"/>
          <p:nvPr/>
        </p:nvSpPr>
        <p:spPr>
          <a:xfrm>
            <a:off x="609600" y="4305300"/>
            <a:ext cx="6807200" cy="655319"/>
          </a:xfrm>
          <a:prstGeom prst="rect">
            <a:avLst/>
          </a:prstGeom>
          <a:noFill/>
        </p:spPr>
        <p:txBody>
          <a:bodyPr wrap="none" lIns="0" rIns="0" tIns="0" bIns="0" anchor="t">
            <a:spAutoFit/>
          </a:bodyPr>
          <a:lstStyle/>
          <a:p>
            <a:pPr algn="l">
              <a:lnSpc>
                <a:spcPts val="2379"/>
              </a:lnSpc>
              <a:spcBef>
                <a:spcPts val="0"/>
              </a:spcBef>
              <a:spcAft>
                <a:spcPts val="0"/>
              </a:spcAft>
              <a:defRPr sz="2000" b="0">
                <a:solidFill>
                  <a:srgbClr val="506C80"/>
                </a:solidFill>
                <a:latin typeface="Segoe UI"/>
              </a:defRPr>
            </a:pPr>
            <a:r>
              <a:t>We’ll map the operational path, make ownership visible and</a:t>
            </a:r>
          </a:p>
          <a:p>
            <a:pPr algn="l">
              <a:lnSpc>
                <a:spcPts val="2379"/>
              </a:lnSpc>
              <a:spcBef>
                <a:spcPts val="0"/>
              </a:spcBef>
              <a:spcAft>
                <a:spcPts val="0"/>
              </a:spcAft>
              <a:defRPr sz="2000" b="0">
                <a:solidFill>
                  <a:srgbClr val="506C80"/>
                </a:solidFill>
                <a:latin typeface="Segoe UI"/>
              </a:defRPr>
            </a:pPr>
            <a:r>
              <a:t>agree what the first department pilot should prove.</a:t>
            </a:r>
          </a:p>
        </p:txBody>
      </p:sp>
      <p:sp>
        <p:nvSpPr>
          <p:cNvPr id="11" name="Rounded Rectangle 10"/>
          <p:cNvSpPr/>
          <p:nvPr/>
        </p:nvSpPr>
        <p:spPr>
          <a:xfrm>
            <a:off x="609600" y="5651500"/>
            <a:ext cx="4076700" cy="546100"/>
          </a:xfrm>
          <a:prstGeom prst="roundRect">
            <a:avLst>
              <a:gd name="adj" fmla="val 9302"/>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2800" y="5791200"/>
            <a:ext cx="3733800" cy="292608"/>
          </a:xfrm>
          <a:prstGeom prst="rect">
            <a:avLst/>
          </a:prstGeom>
          <a:noFill/>
        </p:spPr>
        <p:txBody>
          <a:bodyPr wrap="none" lIns="0" rIns="0" tIns="0" bIns="0" anchor="t">
            <a:spAutoFit/>
          </a:bodyPr>
          <a:lstStyle/>
          <a:p>
            <a:pPr algn="l">
              <a:lnSpc>
                <a:spcPts val="1904"/>
              </a:lnSpc>
              <a:spcBef>
                <a:spcPts val="0"/>
              </a:spcBef>
              <a:spcAft>
                <a:spcPts val="0"/>
              </a:spcAft>
              <a:defRPr sz="1600" b="1">
                <a:solidFill>
                  <a:srgbClr val="F3F9FC"/>
                </a:solidFill>
                <a:latin typeface="Segoe UI"/>
              </a:defRPr>
            </a:pPr>
            <a:r>
              <a:rPr>
                <a:hlinkClick r:id="rId5"/>
              </a:rPr>
              <a:t>Map your workflow with us →</a:t>
            </a:r>
          </a:p>
        </p:txBody>
      </p:sp>
      <p:sp>
        <p:nvSpPr>
          <p:cNvPr id="13" name="TextBox 12"/>
          <p:cNvSpPr txBox="1"/>
          <p:nvPr/>
        </p:nvSpPr>
        <p:spPr>
          <a:xfrm>
            <a:off x="609600" y="6464300"/>
            <a:ext cx="7150100" cy="232156"/>
          </a:xfrm>
          <a:prstGeom prst="rect">
            <a:avLst/>
          </a:prstGeom>
          <a:noFill/>
        </p:spPr>
        <p:txBody>
          <a:bodyPr wrap="none" lIns="0" rIns="0" tIns="0" bIns="0" anchor="t">
            <a:spAutoFit/>
          </a:bodyPr>
          <a:lstStyle/>
          <a:p>
            <a:pPr algn="l">
              <a:lnSpc>
                <a:spcPts val="1428"/>
              </a:lnSpc>
              <a:spcBef>
                <a:spcPts val="0"/>
              </a:spcBef>
              <a:spcAft>
                <a:spcPts val="0"/>
              </a:spcAft>
              <a:defRPr sz="1200" b="0">
                <a:solidFill>
                  <a:srgbClr val="506C80"/>
                </a:solidFill>
                <a:latin typeface="Segoe UI"/>
              </a:defRPr>
            </a:pPr>
            <a:r>
              <a:rPr>
                <a:hlinkClick r:id="rId6"/>
              </a:rPr>
              <a:t>operatoros.net/for/healthcare-legal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name="The questions that make the fit clearer.">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APPENDIX / BUYER QUESTIONS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The questions that</a:t>
            </a:r>
          </a:p>
          <a:p>
            <a:pPr algn="l">
              <a:lnSpc>
                <a:spcPts val="4284"/>
              </a:lnSpc>
              <a:spcBef>
                <a:spcPts val="0"/>
              </a:spcBef>
              <a:spcAft>
                <a:spcPts val="0"/>
              </a:spcAft>
              <a:defRPr sz="3600" b="1">
                <a:solidFill>
                  <a:srgbClr val="12364E"/>
                </a:solidFill>
                <a:latin typeface="Segoe UI"/>
              </a:defRPr>
            </a:pPr>
            <a:r>
              <a:t>make the fit clearer.</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18 / 20</a:t>
            </a:r>
          </a:p>
        </p:txBody>
      </p:sp>
      <p:cxnSp>
        <p:nvCxnSpPr>
          <p:cNvPr id="9" name="Connector 8"/>
          <p:cNvCxnSpPr/>
          <p:nvPr/>
        </p:nvCxnSpPr>
        <p:spPr>
          <a:xfrm>
            <a:off x="609600" y="22987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2476500"/>
            <a:ext cx="3848100" cy="337947"/>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“Can this replace our EHR?”</a:t>
            </a:r>
          </a:p>
        </p:txBody>
      </p:sp>
      <p:sp>
        <p:nvSpPr>
          <p:cNvPr id="11" name="TextBox 10"/>
          <p:cNvSpPr txBox="1"/>
          <p:nvPr/>
        </p:nvSpPr>
        <p:spPr>
          <a:xfrm>
            <a:off x="4940300" y="247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PulseDesk coordinates operational service work. Patient records,</a:t>
            </a:r>
          </a:p>
          <a:p>
            <a:pPr algn="l">
              <a:lnSpc>
                <a:spcPts val="2023"/>
              </a:lnSpc>
              <a:spcBef>
                <a:spcPts val="0"/>
              </a:spcBef>
              <a:spcAft>
                <a:spcPts val="0"/>
              </a:spcAft>
              <a:defRPr sz="1700" b="0">
                <a:solidFill>
                  <a:srgbClr val="506C80"/>
                </a:solidFill>
                <a:latin typeface="Segoe UI"/>
              </a:defRPr>
            </a:pPr>
            <a:r>
              <a:t>clinical decisions and specialist healthcare workflows remain in</a:t>
            </a:r>
          </a:p>
          <a:p>
            <a:pPr algn="l">
              <a:lnSpc>
                <a:spcPts val="2023"/>
              </a:lnSpc>
              <a:spcBef>
                <a:spcPts val="0"/>
              </a:spcBef>
              <a:spcAft>
                <a:spcPts val="0"/>
              </a:spcAft>
              <a:defRPr sz="1700" b="0">
                <a:solidFill>
                  <a:srgbClr val="506C80"/>
                </a:solidFill>
                <a:latin typeface="Segoe UI"/>
              </a:defRPr>
            </a:pPr>
            <a:r>
              <a:t>approved clinical systems.</a:t>
            </a:r>
          </a:p>
        </p:txBody>
      </p:sp>
      <p:cxnSp>
        <p:nvCxnSpPr>
          <p:cNvPr id="12" name="Connector 11"/>
          <p:cNvCxnSpPr/>
          <p:nvPr/>
        </p:nvCxnSpPr>
        <p:spPr>
          <a:xfrm>
            <a:off x="609600" y="35687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09600" y="374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“Will our shared mailbox just</a:t>
            </a:r>
          </a:p>
          <a:p>
            <a:pPr algn="l">
              <a:lnSpc>
                <a:spcPts val="2261"/>
              </a:lnSpc>
              <a:spcBef>
                <a:spcPts val="0"/>
              </a:spcBef>
              <a:spcAft>
                <a:spcPts val="0"/>
              </a:spcAft>
              <a:defRPr sz="1900" b="1">
                <a:solidFill>
                  <a:srgbClr val="12364E"/>
                </a:solidFill>
                <a:latin typeface="Segoe UI"/>
              </a:defRPr>
            </a:pPr>
            <a:r>
              <a:t>become the queue?”</a:t>
            </a:r>
          </a:p>
        </p:txBody>
      </p:sp>
      <p:sp>
        <p:nvSpPr>
          <p:cNvPr id="14" name="TextBox 13"/>
          <p:cNvSpPr txBox="1"/>
          <p:nvPr/>
        </p:nvSpPr>
        <p:spPr>
          <a:xfrm>
            <a:off x="4940300" y="374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Direct Microsoft 365, Google Workspace, IMAP and SendGrid</a:t>
            </a:r>
          </a:p>
          <a:p>
            <a:pPr algn="l">
              <a:lnSpc>
                <a:spcPts val="2023"/>
              </a:lnSpc>
              <a:spcBef>
                <a:spcPts val="0"/>
              </a:spcBef>
              <a:spcAft>
                <a:spcPts val="0"/>
              </a:spcAft>
              <a:defRPr sz="1700" b="0">
                <a:solidFill>
                  <a:srgbClr val="506C80"/>
                </a:solidFill>
                <a:latin typeface="Segoe UI"/>
              </a:defRPr>
            </a:pPr>
            <a:r>
              <a:t>mailbox connections are unavailable in this release. Start with</a:t>
            </a:r>
          </a:p>
          <a:p>
            <a:pPr algn="l">
              <a:lnSpc>
                <a:spcPts val="2023"/>
              </a:lnSpc>
              <a:spcBef>
                <a:spcPts val="0"/>
              </a:spcBef>
              <a:spcAft>
                <a:spcPts val="0"/>
              </a:spcAft>
              <a:defRPr sz="1700" b="0">
                <a:solidFill>
                  <a:srgbClr val="506C80"/>
                </a:solidFill>
                <a:latin typeface="Segoe UI"/>
              </a:defRPr>
            </a:pPr>
            <a:r>
              <a:t>approved in-product or protected intake.</a:t>
            </a:r>
          </a:p>
        </p:txBody>
      </p:sp>
      <p:cxnSp>
        <p:nvCxnSpPr>
          <p:cNvPr id="15" name="Connector 14"/>
          <p:cNvCxnSpPr/>
          <p:nvPr/>
        </p:nvCxnSpPr>
        <p:spPr>
          <a:xfrm>
            <a:off x="609600" y="48387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016500"/>
            <a:ext cx="3848100" cy="625094"/>
          </a:xfrm>
          <a:prstGeom prst="rect">
            <a:avLst/>
          </a:prstGeom>
          <a:noFill/>
        </p:spPr>
        <p:txBody>
          <a:bodyPr wrap="none" lIns="0" rIns="0" tIns="0" bIns="0" anchor="t">
            <a:spAutoFit/>
          </a:bodyPr>
          <a:lstStyle/>
          <a:p>
            <a:pPr algn="l">
              <a:lnSpc>
                <a:spcPts val="2261"/>
              </a:lnSpc>
              <a:spcBef>
                <a:spcPts val="0"/>
              </a:spcBef>
              <a:spcAft>
                <a:spcPts val="0"/>
              </a:spcAft>
              <a:defRPr sz="1900" b="1">
                <a:solidFill>
                  <a:srgbClr val="12364E"/>
                </a:solidFill>
                <a:latin typeface="Segoe UI"/>
              </a:defRPr>
            </a:pPr>
            <a:r>
              <a:t>“Can our legal or professional</a:t>
            </a:r>
          </a:p>
          <a:p>
            <a:pPr algn="l">
              <a:lnSpc>
                <a:spcPts val="2261"/>
              </a:lnSpc>
              <a:spcBef>
                <a:spcPts val="0"/>
              </a:spcBef>
              <a:spcAft>
                <a:spcPts val="0"/>
              </a:spcAft>
              <a:defRPr sz="1900" b="1">
                <a:solidFill>
                  <a:srgbClr val="12364E"/>
                </a:solidFill>
                <a:latin typeface="Segoe UI"/>
              </a:defRPr>
            </a:pPr>
            <a:r>
              <a:t>office use it?”</a:t>
            </a:r>
          </a:p>
        </p:txBody>
      </p:sp>
      <p:sp>
        <p:nvSpPr>
          <p:cNvPr id="17" name="TextBox 16"/>
          <p:cNvSpPr txBox="1"/>
          <p:nvPr/>
        </p:nvSpPr>
        <p:spPr>
          <a:xfrm>
            <a:off x="4940300" y="5016500"/>
            <a:ext cx="6654800" cy="821563"/>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It can support equipment, facilities, supplies and vendor</a:t>
            </a:r>
          </a:p>
          <a:p>
            <a:pPr algn="l">
              <a:lnSpc>
                <a:spcPts val="2023"/>
              </a:lnSpc>
              <a:spcBef>
                <a:spcPts val="0"/>
              </a:spcBef>
              <a:spcAft>
                <a:spcPts val="0"/>
              </a:spcAft>
              <a:defRPr sz="1700" b="0">
                <a:solidFill>
                  <a:srgbClr val="506C80"/>
                </a:solidFill>
                <a:latin typeface="Segoe UI"/>
              </a:defRPr>
            </a:pPr>
            <a:r>
              <a:t>coordination. Case files, court deadlines, trust accounting and</a:t>
            </a:r>
          </a:p>
          <a:p>
            <a:pPr algn="l">
              <a:lnSpc>
                <a:spcPts val="2023"/>
              </a:lnSpc>
              <a:spcBef>
                <a:spcPts val="0"/>
              </a:spcBef>
              <a:spcAft>
                <a:spcPts val="0"/>
              </a:spcAft>
              <a:defRPr sz="1700" b="0">
                <a:solidFill>
                  <a:srgbClr val="506C80"/>
                </a:solidFill>
                <a:latin typeface="Segoe UI"/>
              </a:defRPr>
            </a:pPr>
            <a:r>
              <a:t>confidential client matters remain in specialist systems.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name="Capabilities at a glance.">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APPENDIX / FEATURE CHECKLIST</a:t>
            </a:r>
          </a:p>
        </p:txBody>
      </p:sp>
      <p:sp>
        <p:nvSpPr>
          <p:cNvPr id="5" name="TextBox 4"/>
          <p:cNvSpPr txBox="1"/>
          <p:nvPr/>
        </p:nvSpPr>
        <p:spPr>
          <a:xfrm>
            <a:off x="609600" y="825500"/>
            <a:ext cx="10934700" cy="594868"/>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Capabilities at a glance.</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19 / 20</a:t>
            </a:r>
          </a:p>
        </p:txBody>
      </p:sp>
      <p:cxnSp>
        <p:nvCxnSpPr>
          <p:cNvPr id="9" name="Connector 8"/>
          <p:cNvCxnSpPr/>
          <p:nvPr/>
        </p:nvCxnSpPr>
        <p:spPr>
          <a:xfrm>
            <a:off x="609600" y="25400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6096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Requests</a:t>
            </a:r>
          </a:p>
        </p:txBody>
      </p:sp>
      <p:sp>
        <p:nvSpPr>
          <p:cNvPr id="11" name="TextBox 10"/>
          <p:cNvSpPr txBox="1"/>
          <p:nvPr/>
        </p:nvSpPr>
        <p:spPr>
          <a:xfrm>
            <a:off x="6096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Priority • status • owner • queue</a:t>
            </a:r>
          </a:p>
        </p:txBody>
      </p:sp>
      <p:cxnSp>
        <p:nvCxnSpPr>
          <p:cNvPr id="12" name="Connector 11"/>
          <p:cNvCxnSpPr/>
          <p:nvPr/>
        </p:nvCxnSpPr>
        <p:spPr>
          <a:xfrm>
            <a:off x="6248400" y="25400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248400" y="1930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Views</a:t>
            </a:r>
          </a:p>
        </p:txBody>
      </p:sp>
      <p:sp>
        <p:nvSpPr>
          <p:cNvPr id="14" name="TextBox 13"/>
          <p:cNvSpPr txBox="1"/>
          <p:nvPr/>
        </p:nvSpPr>
        <p:spPr>
          <a:xfrm>
            <a:off x="6248400" y="2235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Filters • tags • saved views</a:t>
            </a:r>
          </a:p>
        </p:txBody>
      </p:sp>
      <p:cxnSp>
        <p:nvCxnSpPr>
          <p:cNvPr id="15" name="Connector 14"/>
          <p:cNvCxnSpPr/>
          <p:nvPr/>
        </p:nvCxnSpPr>
        <p:spPr>
          <a:xfrm>
            <a:off x="609600" y="32512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Teams</a:t>
            </a:r>
          </a:p>
        </p:txBody>
      </p:sp>
      <p:sp>
        <p:nvSpPr>
          <p:cNvPr id="17" name="TextBox 16"/>
          <p:cNvSpPr txBox="1"/>
          <p:nvPr/>
        </p:nvSpPr>
        <p:spPr>
          <a:xfrm>
            <a:off x="6096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Departments • queues • assignments</a:t>
            </a:r>
          </a:p>
        </p:txBody>
      </p:sp>
      <p:cxnSp>
        <p:nvCxnSpPr>
          <p:cNvPr id="18" name="Connector 17"/>
          <p:cNvCxnSpPr/>
          <p:nvPr/>
        </p:nvCxnSpPr>
        <p:spPr>
          <a:xfrm>
            <a:off x="6248400" y="32512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248400" y="26416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Targets</a:t>
            </a:r>
          </a:p>
        </p:txBody>
      </p:sp>
      <p:sp>
        <p:nvSpPr>
          <p:cNvPr id="20" name="TextBox 19"/>
          <p:cNvSpPr txBox="1"/>
          <p:nvPr/>
        </p:nvSpPr>
        <p:spPr>
          <a:xfrm>
            <a:off x="6248400" y="29464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Response • resolution • at-risk state</a:t>
            </a:r>
          </a:p>
        </p:txBody>
      </p:sp>
      <p:cxnSp>
        <p:nvCxnSpPr>
          <p:cNvPr id="21" name="Connector 20"/>
          <p:cNvCxnSpPr/>
          <p:nvPr/>
        </p:nvCxnSpPr>
        <p:spPr>
          <a:xfrm>
            <a:off x="609600" y="39624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096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Equipment</a:t>
            </a:r>
          </a:p>
        </p:txBody>
      </p:sp>
      <p:sp>
        <p:nvSpPr>
          <p:cNvPr id="23" name="TextBox 22"/>
          <p:cNvSpPr txBox="1"/>
          <p:nvPr/>
        </p:nvSpPr>
        <p:spPr>
          <a:xfrm>
            <a:off x="6096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Operational records • issue links</a:t>
            </a:r>
          </a:p>
        </p:txBody>
      </p:sp>
      <p:cxnSp>
        <p:nvCxnSpPr>
          <p:cNvPr id="24" name="Connector 23"/>
          <p:cNvCxnSpPr/>
          <p:nvPr/>
        </p:nvCxnSpPr>
        <p:spPr>
          <a:xfrm>
            <a:off x="6248400" y="39624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248400" y="33528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Facilities</a:t>
            </a:r>
          </a:p>
        </p:txBody>
      </p:sp>
      <p:sp>
        <p:nvSpPr>
          <p:cNvPr id="26" name="TextBox 25"/>
          <p:cNvSpPr txBox="1"/>
          <p:nvPr/>
        </p:nvSpPr>
        <p:spPr>
          <a:xfrm>
            <a:off x="6248400" y="36576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Locations • requests • work status</a:t>
            </a:r>
          </a:p>
        </p:txBody>
      </p:sp>
      <p:cxnSp>
        <p:nvCxnSpPr>
          <p:cNvPr id="27" name="Connector 26"/>
          <p:cNvCxnSpPr/>
          <p:nvPr/>
        </p:nvCxnSpPr>
        <p:spPr>
          <a:xfrm>
            <a:off x="609600" y="46736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096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Supplies</a:t>
            </a:r>
          </a:p>
        </p:txBody>
      </p:sp>
      <p:sp>
        <p:nvSpPr>
          <p:cNvPr id="29" name="TextBox 28"/>
          <p:cNvSpPr txBox="1"/>
          <p:nvPr/>
        </p:nvSpPr>
        <p:spPr>
          <a:xfrm>
            <a:off x="6096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Requests • priority • fulfillment</a:t>
            </a:r>
          </a:p>
        </p:txBody>
      </p:sp>
      <p:cxnSp>
        <p:nvCxnSpPr>
          <p:cNvPr id="30" name="Connector 29"/>
          <p:cNvCxnSpPr/>
          <p:nvPr/>
        </p:nvCxnSpPr>
        <p:spPr>
          <a:xfrm>
            <a:off x="6248400" y="46736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248400" y="40640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Vendors</a:t>
            </a:r>
          </a:p>
        </p:txBody>
      </p:sp>
      <p:sp>
        <p:nvSpPr>
          <p:cNvPr id="32" name="TextBox 31"/>
          <p:cNvSpPr txBox="1"/>
          <p:nvPr/>
        </p:nvSpPr>
        <p:spPr>
          <a:xfrm>
            <a:off x="6248400" y="43688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Shared contacts • follow-up context</a:t>
            </a:r>
          </a:p>
        </p:txBody>
      </p:sp>
      <p:cxnSp>
        <p:nvCxnSpPr>
          <p:cNvPr id="33" name="Connector 32"/>
          <p:cNvCxnSpPr/>
          <p:nvPr/>
        </p:nvCxnSpPr>
        <p:spPr>
          <a:xfrm>
            <a:off x="609600" y="53848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096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Collaboration</a:t>
            </a:r>
          </a:p>
        </p:txBody>
      </p:sp>
      <p:sp>
        <p:nvSpPr>
          <p:cNvPr id="35" name="TextBox 34"/>
          <p:cNvSpPr txBox="1"/>
          <p:nvPr/>
        </p:nvSpPr>
        <p:spPr>
          <a:xfrm>
            <a:off x="6096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Requester replies • internal notes</a:t>
            </a:r>
          </a:p>
        </p:txBody>
      </p:sp>
      <p:cxnSp>
        <p:nvCxnSpPr>
          <p:cNvPr id="36" name="Connector 35"/>
          <p:cNvCxnSpPr/>
          <p:nvPr/>
        </p:nvCxnSpPr>
        <p:spPr>
          <a:xfrm>
            <a:off x="6248400" y="53848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48400" y="47752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Work records</a:t>
            </a:r>
          </a:p>
        </p:txBody>
      </p:sp>
      <p:sp>
        <p:nvSpPr>
          <p:cNvPr id="38" name="TextBox 37"/>
          <p:cNvSpPr txBox="1"/>
          <p:nvPr/>
        </p:nvSpPr>
        <p:spPr>
          <a:xfrm>
            <a:off x="6248400" y="50800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Time • controlled attachments</a:t>
            </a:r>
          </a:p>
        </p:txBody>
      </p:sp>
      <p:cxnSp>
        <p:nvCxnSpPr>
          <p:cNvPr id="39" name="Connector 38"/>
          <p:cNvCxnSpPr/>
          <p:nvPr/>
        </p:nvCxnSpPr>
        <p:spPr>
          <a:xfrm>
            <a:off x="609600" y="60960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096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Knowledge</a:t>
            </a:r>
          </a:p>
        </p:txBody>
      </p:sp>
      <p:sp>
        <p:nvSpPr>
          <p:cNvPr id="41" name="TextBox 40"/>
          <p:cNvSpPr txBox="1"/>
          <p:nvPr/>
        </p:nvSpPr>
        <p:spPr>
          <a:xfrm>
            <a:off x="6096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Drafts • review • publication</a:t>
            </a:r>
          </a:p>
        </p:txBody>
      </p:sp>
      <p:cxnSp>
        <p:nvCxnSpPr>
          <p:cNvPr id="42" name="Connector 41"/>
          <p:cNvCxnSpPr/>
          <p:nvPr/>
        </p:nvCxnSpPr>
        <p:spPr>
          <a:xfrm>
            <a:off x="6248400" y="6096000"/>
            <a:ext cx="53340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48400" y="5486400"/>
            <a:ext cx="5346700" cy="307721"/>
          </a:xfrm>
          <a:prstGeom prst="rect">
            <a:avLst/>
          </a:prstGeom>
          <a:noFill/>
        </p:spPr>
        <p:txBody>
          <a:bodyPr wrap="none" lIns="0" rIns="0" tIns="0" bIns="0" anchor="t">
            <a:spAutoFit/>
          </a:bodyPr>
          <a:lstStyle/>
          <a:p>
            <a:pPr algn="l">
              <a:lnSpc>
                <a:spcPts val="2023"/>
              </a:lnSpc>
              <a:spcBef>
                <a:spcPts val="0"/>
              </a:spcBef>
              <a:spcAft>
                <a:spcPts val="0"/>
              </a:spcAft>
              <a:defRPr sz="1700" b="1">
                <a:solidFill>
                  <a:srgbClr val="007EAF"/>
                </a:solidFill>
                <a:latin typeface="Segoe UI"/>
              </a:defRPr>
            </a:pPr>
            <a:r>
              <a:t>Reporting</a:t>
            </a:r>
          </a:p>
        </p:txBody>
      </p:sp>
      <p:sp>
        <p:nvSpPr>
          <p:cNvPr id="44" name="TextBox 43"/>
          <p:cNvSpPr txBox="1"/>
          <p:nvPr/>
        </p:nvSpPr>
        <p:spPr>
          <a:xfrm>
            <a:off x="6248400" y="5791200"/>
            <a:ext cx="5283200" cy="265404"/>
          </a:xfrm>
          <a:prstGeom prst="rect">
            <a:avLst/>
          </a:prstGeom>
          <a:noFill/>
        </p:spPr>
        <p:txBody>
          <a:bodyPr wrap="none" lIns="0" rIns="0" tIns="0" bIns="0" anchor="t">
            <a:spAutoFit/>
          </a:bodyPr>
          <a:lstStyle/>
          <a:p>
            <a:pPr algn="l">
              <a:lnSpc>
                <a:spcPts val="1689"/>
              </a:lnSpc>
              <a:spcBef>
                <a:spcPts val="0"/>
              </a:spcBef>
              <a:spcAft>
                <a:spcPts val="0"/>
              </a:spcAft>
              <a:defRPr sz="1420" b="0">
                <a:solidFill>
                  <a:srgbClr val="506C80"/>
                </a:solidFill>
                <a:latin typeface="Segoe UI"/>
              </a:defRPr>
            </a:pPr>
            <a:r>
              <a:t>Demand • response • workload trends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name="Agree the scope. Verify the workflow.">
    <p:spTree>
      <p:nvGrpSpPr>
        <p:cNvPr id="1" name=""/>
        <p:cNvGrpSpPr/>
        <p:nvPr/>
      </p:nvGrpSpPr>
      <p:grpSpPr/>
      <p:sp>
        <p:nvSpPr>
          <p:cNvPr id="2" name="Rectangle 1"/>
          <p:cNvSpPr/>
          <p:nvPr/>
        </p:nvSpPr>
        <p:spPr>
          <a:xfrm>
            <a:off x="0" y="0"/>
            <a:ext cx="12192000" cy="6858000"/>
          </a:xfrm>
          <a:prstGeom prst="rect">
            <a:avLst/>
          </a:prstGeom>
          <a:solidFill>
            <a:srgbClr val="F3F9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8900" cy="6858000"/>
          </a:xfrm>
          <a:prstGeom prst="rect">
            <a:avLst/>
          </a:prstGeom>
          <a:solidFill>
            <a:srgbClr val="007E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600" y="393700"/>
            <a:ext cx="9220200" cy="209486"/>
          </a:xfrm>
          <a:prstGeom prst="rect">
            <a:avLst/>
          </a:prstGeom>
          <a:noFill/>
        </p:spPr>
        <p:txBody>
          <a:bodyPr wrap="none" lIns="0" rIns="0" tIns="0" bIns="0" anchor="t">
            <a:spAutoFit/>
          </a:bodyPr>
          <a:lstStyle/>
          <a:p>
            <a:pPr algn="l">
              <a:lnSpc>
                <a:spcPts val="1249"/>
              </a:lnSpc>
              <a:spcBef>
                <a:spcPts val="0"/>
              </a:spcBef>
              <a:spcAft>
                <a:spcPts val="0"/>
              </a:spcAft>
              <a:defRPr sz="1050" b="1">
                <a:solidFill>
                  <a:srgbClr val="007EAF"/>
                </a:solidFill>
                <a:latin typeface="Segoe UI"/>
              </a:defRPr>
            </a:pPr>
            <a:r>
              <a:t>APPENDIX / EVALUATION NOTES</a:t>
            </a:r>
          </a:p>
        </p:txBody>
      </p:sp>
      <p:sp>
        <p:nvSpPr>
          <p:cNvPr id="5" name="TextBox 4"/>
          <p:cNvSpPr txBox="1"/>
          <p:nvPr/>
        </p:nvSpPr>
        <p:spPr>
          <a:xfrm>
            <a:off x="609600" y="825500"/>
            <a:ext cx="10934700" cy="1138936"/>
          </a:xfrm>
          <a:prstGeom prst="rect">
            <a:avLst/>
          </a:prstGeom>
          <a:noFill/>
        </p:spPr>
        <p:txBody>
          <a:bodyPr wrap="none" lIns="0" rIns="0" tIns="0" bIns="0" anchor="t">
            <a:spAutoFit/>
          </a:bodyPr>
          <a:lstStyle/>
          <a:p>
            <a:pPr algn="l">
              <a:lnSpc>
                <a:spcPts val="4284"/>
              </a:lnSpc>
              <a:spcBef>
                <a:spcPts val="0"/>
              </a:spcBef>
              <a:spcAft>
                <a:spcPts val="0"/>
              </a:spcAft>
              <a:defRPr sz="3600" b="1">
                <a:solidFill>
                  <a:srgbClr val="12364E"/>
                </a:solidFill>
                <a:latin typeface="Segoe UI"/>
              </a:defRPr>
            </a:pPr>
            <a:r>
              <a:t>Agree the scope.</a:t>
            </a:r>
          </a:p>
          <a:p>
            <a:pPr algn="l">
              <a:lnSpc>
                <a:spcPts val="4284"/>
              </a:lnSpc>
              <a:spcBef>
                <a:spcPts val="0"/>
              </a:spcBef>
              <a:spcAft>
                <a:spcPts val="0"/>
              </a:spcAft>
              <a:defRPr sz="3600" b="1">
                <a:solidFill>
                  <a:srgbClr val="12364E"/>
                </a:solidFill>
                <a:latin typeface="Segoe UI"/>
              </a:defRPr>
            </a:pPr>
            <a:r>
              <a:t>Verify the workflow.</a:t>
            </a:r>
          </a:p>
        </p:txBody>
      </p:sp>
      <p:cxnSp>
        <p:nvCxnSpPr>
          <p:cNvPr id="6" name="Connector 5"/>
          <p:cNvCxnSpPr/>
          <p:nvPr/>
        </p:nvCxnSpPr>
        <p:spPr>
          <a:xfrm>
            <a:off x="609600" y="63754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609600" y="6540500"/>
            <a:ext cx="5600700" cy="186817"/>
          </a:xfrm>
          <a:prstGeom prst="rect">
            <a:avLst/>
          </a:prstGeom>
          <a:noFill/>
        </p:spPr>
        <p:txBody>
          <a:bodyPr wrap="none" lIns="0" rIns="0" tIns="0" bIns="0" anchor="t">
            <a:spAutoFit/>
          </a:bodyPr>
          <a:lstStyle/>
          <a:p>
            <a:pPr algn="l">
              <a:lnSpc>
                <a:spcPts val="1071"/>
              </a:lnSpc>
              <a:spcBef>
                <a:spcPts val="0"/>
              </a:spcBef>
              <a:spcAft>
                <a:spcPts val="0"/>
              </a:spcAft>
              <a:defRPr sz="900" b="0">
                <a:solidFill>
                  <a:srgbClr val="506C80"/>
                </a:solidFill>
                <a:latin typeface="Segoe UI"/>
              </a:defRPr>
            </a:pPr>
            <a:r>
              <a:t>OPERATOROS / PULSEDESK</a:t>
            </a:r>
          </a:p>
        </p:txBody>
      </p:sp>
      <p:sp>
        <p:nvSpPr>
          <p:cNvPr id="8" name="TextBox 7"/>
          <p:cNvSpPr txBox="1"/>
          <p:nvPr/>
        </p:nvSpPr>
        <p:spPr>
          <a:xfrm>
            <a:off x="10452100" y="6515100"/>
            <a:ext cx="1143000" cy="201929"/>
          </a:xfrm>
          <a:prstGeom prst="rect">
            <a:avLst/>
          </a:prstGeom>
          <a:noFill/>
        </p:spPr>
        <p:txBody>
          <a:bodyPr wrap="none" lIns="0" rIns="0" tIns="0" bIns="0" anchor="t">
            <a:spAutoFit/>
          </a:bodyPr>
          <a:lstStyle/>
          <a:p>
            <a:pPr algn="r">
              <a:lnSpc>
                <a:spcPts val="1189"/>
              </a:lnSpc>
              <a:spcBef>
                <a:spcPts val="0"/>
              </a:spcBef>
              <a:spcAft>
                <a:spcPts val="0"/>
              </a:spcAft>
              <a:defRPr sz="1000" b="0">
                <a:solidFill>
                  <a:srgbClr val="506C80"/>
                </a:solidFill>
                <a:latin typeface="Consolas"/>
              </a:defRPr>
            </a:pPr>
            <a:r>
              <a:t>20 / 20</a:t>
            </a:r>
          </a:p>
        </p:txBody>
      </p:sp>
      <p:sp>
        <p:nvSpPr>
          <p:cNvPr id="9" name="TextBox 8"/>
          <p:cNvSpPr txBox="1"/>
          <p:nvPr/>
        </p:nvSpPr>
        <p:spPr>
          <a:xfrm>
            <a:off x="609600" y="22606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007EAF"/>
                </a:solidFill>
                <a:latin typeface="Segoe UI"/>
              </a:defRPr>
            </a:pPr>
            <a:r>
              <a:t>Start here</a:t>
            </a:r>
          </a:p>
        </p:txBody>
      </p:sp>
      <p:sp>
        <p:nvSpPr>
          <p:cNvPr id="10" name="TextBox 9"/>
          <p:cNvSpPr txBox="1"/>
          <p:nvPr/>
        </p:nvSpPr>
        <p:spPr>
          <a:xfrm>
            <a:off x="3860800" y="22606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One department, one operations-only request category and an agreed</a:t>
            </a:r>
          </a:p>
          <a:p>
            <a:pPr algn="l">
              <a:lnSpc>
                <a:spcPts val="2023"/>
              </a:lnSpc>
              <a:spcBef>
                <a:spcPts val="0"/>
              </a:spcBef>
              <a:spcAft>
                <a:spcPts val="0"/>
              </a:spcAft>
              <a:defRPr sz="1700" b="0">
                <a:solidFill>
                  <a:srgbClr val="506C80"/>
                </a:solidFill>
                <a:latin typeface="Segoe UI"/>
              </a:defRPr>
            </a:pPr>
            <a:r>
              <a:t>ownership/target policy.</a:t>
            </a:r>
          </a:p>
        </p:txBody>
      </p:sp>
      <p:sp>
        <p:nvSpPr>
          <p:cNvPr id="11" name="TextBox 10"/>
          <p:cNvSpPr txBox="1"/>
          <p:nvPr/>
        </p:nvSpPr>
        <p:spPr>
          <a:xfrm>
            <a:off x="609600" y="31877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007EAF"/>
                </a:solidFill>
                <a:latin typeface="Segoe UI"/>
              </a:defRPr>
            </a:pPr>
            <a:r>
              <a:t>Verify before relying on it</a:t>
            </a:r>
          </a:p>
        </p:txBody>
      </p:sp>
      <p:sp>
        <p:nvSpPr>
          <p:cNvPr id="12" name="TextBox 11"/>
          <p:cNvSpPr txBox="1"/>
          <p:nvPr/>
        </p:nvSpPr>
        <p:spPr>
          <a:xfrm>
            <a:off x="3860800" y="31877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Intake access, role visibility, attachments, escalation practice and requester</a:t>
            </a:r>
          </a:p>
          <a:p>
            <a:pPr algn="l">
              <a:lnSpc>
                <a:spcPts val="2023"/>
              </a:lnSpc>
              <a:spcBef>
                <a:spcPts val="0"/>
              </a:spcBef>
              <a:spcAft>
                <a:spcPts val="0"/>
              </a:spcAft>
              <a:defRPr sz="1700" b="0">
                <a:solidFill>
                  <a:srgbClr val="506C80"/>
                </a:solidFill>
                <a:latin typeface="Segoe UI"/>
              </a:defRPr>
            </a:pPr>
            <a:r>
              <a:t>communication.</a:t>
            </a:r>
          </a:p>
        </p:txBody>
      </p:sp>
      <p:sp>
        <p:nvSpPr>
          <p:cNvPr id="13" name="TextBox 12"/>
          <p:cNvSpPr txBox="1"/>
          <p:nvPr/>
        </p:nvSpPr>
        <p:spPr>
          <a:xfrm>
            <a:off x="609600" y="4114800"/>
            <a:ext cx="2882900" cy="322834"/>
          </a:xfrm>
          <a:prstGeom prst="rect">
            <a:avLst/>
          </a:prstGeom>
          <a:noFill/>
        </p:spPr>
        <p:txBody>
          <a:bodyPr wrap="none" lIns="0" rIns="0" tIns="0" bIns="0" anchor="t">
            <a:spAutoFit/>
          </a:bodyPr>
          <a:lstStyle/>
          <a:p>
            <a:pPr algn="l">
              <a:lnSpc>
                <a:spcPts val="2142"/>
              </a:lnSpc>
              <a:spcBef>
                <a:spcPts val="0"/>
              </a:spcBef>
              <a:spcAft>
                <a:spcPts val="0"/>
              </a:spcAft>
              <a:defRPr sz="1800" b="1">
                <a:solidFill>
                  <a:srgbClr val="007EAF"/>
                </a:solidFill>
                <a:latin typeface="Segoe UI"/>
              </a:defRPr>
            </a:pPr>
            <a:r>
              <a:t>Keep outside the pitch</a:t>
            </a:r>
          </a:p>
        </p:txBody>
      </p:sp>
      <p:sp>
        <p:nvSpPr>
          <p:cNvPr id="14" name="TextBox 13"/>
          <p:cNvSpPr txBox="1"/>
          <p:nvPr/>
        </p:nvSpPr>
        <p:spPr>
          <a:xfrm>
            <a:off x="3860800" y="4114800"/>
            <a:ext cx="7734300" cy="564642"/>
          </a:xfrm>
          <a:prstGeom prst="rect">
            <a:avLst/>
          </a:prstGeom>
          <a:noFill/>
        </p:spPr>
        <p:txBody>
          <a:bodyPr wrap="none" lIns="0" rIns="0" tIns="0" bIns="0" anchor="t">
            <a:spAutoFit/>
          </a:bodyPr>
          <a:lstStyle/>
          <a:p>
            <a:pPr algn="l">
              <a:lnSpc>
                <a:spcPts val="2023"/>
              </a:lnSpc>
              <a:spcBef>
                <a:spcPts val="0"/>
              </a:spcBef>
              <a:spcAft>
                <a:spcPts val="0"/>
              </a:spcAft>
              <a:defRPr sz="1700" b="0">
                <a:solidFill>
                  <a:srgbClr val="506C80"/>
                </a:solidFill>
                <a:latin typeface="Segoe UI"/>
              </a:defRPr>
            </a:pPr>
            <a:r>
              <a:t>Patient charts, clinical decisions, HIPAA certification and direct mailbox</a:t>
            </a:r>
          </a:p>
          <a:p>
            <a:pPr algn="l">
              <a:lnSpc>
                <a:spcPts val="2023"/>
              </a:lnSpc>
              <a:spcBef>
                <a:spcPts val="0"/>
              </a:spcBef>
              <a:spcAft>
                <a:spcPts val="0"/>
              </a:spcAft>
              <a:defRPr sz="1700" b="0">
                <a:solidFill>
                  <a:srgbClr val="506C80"/>
                </a:solidFill>
                <a:latin typeface="Segoe UI"/>
              </a:defRPr>
            </a:pPr>
            <a:r>
              <a:t>integrations.</a:t>
            </a:r>
          </a:p>
        </p:txBody>
      </p:sp>
      <p:cxnSp>
        <p:nvCxnSpPr>
          <p:cNvPr id="15" name="Connector 14"/>
          <p:cNvCxnSpPr/>
          <p:nvPr/>
        </p:nvCxnSpPr>
        <p:spPr>
          <a:xfrm>
            <a:off x="609600" y="5181600"/>
            <a:ext cx="10972800" cy="0"/>
          </a:xfrm>
          <a:prstGeom prst="line">
            <a:avLst/>
          </a:prstGeom>
          <a:ln w="12700">
            <a:solidFill>
              <a:srgbClr val="BDD5E1"/>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09600" y="53721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506C80"/>
                </a:solidFill>
                <a:latin typeface="Segoe UI"/>
              </a:defRPr>
            </a:pPr>
            <a:r>
              <a:t>Scenario examples are illustrative. Workflow diagrams are explanatory, not product screenshots.</a:t>
            </a:r>
          </a:p>
        </p:txBody>
      </p:sp>
      <p:sp>
        <p:nvSpPr>
          <p:cNvPr id="17" name="TextBox 16"/>
          <p:cNvSpPr txBox="1"/>
          <p:nvPr/>
        </p:nvSpPr>
        <p:spPr>
          <a:xfrm>
            <a:off x="609600" y="5651500"/>
            <a:ext cx="10985500" cy="224599"/>
          </a:xfrm>
          <a:prstGeom prst="rect">
            <a:avLst/>
          </a:prstGeom>
          <a:noFill/>
        </p:spPr>
        <p:txBody>
          <a:bodyPr wrap="none" lIns="0" rIns="0" tIns="0" bIns="0" anchor="t">
            <a:spAutoFit/>
          </a:bodyPr>
          <a:lstStyle/>
          <a:p>
            <a:pPr algn="l">
              <a:lnSpc>
                <a:spcPts val="1368"/>
              </a:lnSpc>
              <a:spcBef>
                <a:spcPts val="0"/>
              </a:spcBef>
              <a:spcAft>
                <a:spcPts val="0"/>
              </a:spcAft>
              <a:defRPr sz="1150" b="0">
                <a:solidFill>
                  <a:srgbClr val="506C80"/>
                </a:solidFill>
                <a:latin typeface="Segoe UI"/>
              </a:defRPr>
            </a:pPr>
            <a:r>
              <a:t>Product scope reviewed 05 Oct 2026. Validate the selected tenant and connected services before rollout.</a:t>
            </a:r>
          </a:p>
        </p:txBody>
      </p:sp>
      <p:sp>
        <p:nvSpPr>
          <p:cNvPr id="18" name="TextBox 17"/>
          <p:cNvSpPr txBox="1"/>
          <p:nvPr/>
        </p:nvSpPr>
        <p:spPr>
          <a:xfrm>
            <a:off x="609600" y="5994400"/>
            <a:ext cx="36957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007EAF"/>
                </a:solidFill>
                <a:latin typeface="Segoe UI"/>
              </a:defRPr>
            </a:pPr>
            <a:r>
              <a:rPr>
                <a:hlinkClick r:id="rId3"/>
              </a:rPr>
              <a:t>Explore this lane →</a:t>
            </a:r>
          </a:p>
        </p:txBody>
      </p:sp>
      <p:sp>
        <p:nvSpPr>
          <p:cNvPr id="19" name="TextBox 18"/>
          <p:cNvSpPr txBox="1"/>
          <p:nvPr/>
        </p:nvSpPr>
        <p:spPr>
          <a:xfrm>
            <a:off x="4787900" y="5994400"/>
            <a:ext cx="4064000" cy="232156"/>
          </a:xfrm>
          <a:prstGeom prst="rect">
            <a:avLst/>
          </a:prstGeom>
          <a:noFill/>
        </p:spPr>
        <p:txBody>
          <a:bodyPr wrap="none" lIns="0" rIns="0" tIns="0" bIns="0" anchor="t">
            <a:spAutoFit/>
          </a:bodyPr>
          <a:lstStyle/>
          <a:p>
            <a:pPr algn="l">
              <a:lnSpc>
                <a:spcPts val="1428"/>
              </a:lnSpc>
              <a:spcBef>
                <a:spcPts val="0"/>
              </a:spcBef>
              <a:spcAft>
                <a:spcPts val="0"/>
              </a:spcAft>
              <a:defRPr sz="1200" b="1">
                <a:solidFill>
                  <a:srgbClr val="007EAF"/>
                </a:solidFill>
                <a:latin typeface="Segoe UI"/>
              </a:defRPr>
            </a:pPr>
            <a:r>
              <a:rPr>
                <a:hlinkClick r:id="rId4"/>
              </a:rPr>
              <a:t>Plans and package details →</a:t>
            </a:r>
          </a:p>
        </p:txBody>
      </p:sp>
      <p:sp>
        <p:nvSpPr>
          <p:cNvPr id="20" name="TextBox 19"/>
          <p:cNvSpPr txBox="1"/>
          <p:nvPr/>
        </p:nvSpPr>
        <p:spPr>
          <a:xfrm>
            <a:off x="9525000" y="5994400"/>
            <a:ext cx="2070100" cy="232156"/>
          </a:xfrm>
          <a:prstGeom prst="rect">
            <a:avLst/>
          </a:prstGeom>
          <a:noFill/>
        </p:spPr>
        <p:txBody>
          <a:bodyPr wrap="none" lIns="0" rIns="0" tIns="0" bIns="0" anchor="t">
            <a:spAutoFit/>
          </a:bodyPr>
          <a:lstStyle/>
          <a:p>
            <a:pPr algn="r">
              <a:lnSpc>
                <a:spcPts val="1428"/>
              </a:lnSpc>
              <a:spcBef>
                <a:spcPts val="0"/>
              </a:spcBef>
              <a:spcAft>
                <a:spcPts val="0"/>
              </a:spcAft>
              <a:defRPr sz="1200" b="1">
                <a:solidFill>
                  <a:srgbClr val="007EAF"/>
                </a:solidFill>
                <a:latin typeface="Segoe UI"/>
              </a:defRPr>
            </a:pPr>
            <a:r>
              <a:rPr>
                <a:hlinkClick r:id="rId5"/>
              </a:rPr>
              <a:t>Product help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OperatorOS | PulseDesk | Sales meeting</dc:title>
  <dc:subject>A focused lane pitch with illustrative scenarios and a measurable pilot</dc:subject>
  <dc:creator>Shotgun Ninjas Productions, LLC</dc:creator>
  <cp:keywords>OperatorOS, PulseDesk, sales, operations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