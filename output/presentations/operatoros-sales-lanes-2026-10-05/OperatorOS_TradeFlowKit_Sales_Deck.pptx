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owners and operations leaders in HVAC, electrical, plumbing and field services. Ask one discovery question before advancing: Where does a finished job wait before it becomes collected revenue? Position the product around an observable operating outcome. Cover imagery is conceptual brand art, not a customer or product screenshot.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 Where does a finished job wait before it becomes collected revenue? Let the buyer identify the most expensive handoff. These are common scenario hypotheses, not measured customer results. Avoid assuming every pain applies.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make the next revenue action visible while the work is happening. Walk the buyer through a single record. These are workflow stages, not an assertion that the product performs every transition automatically.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OperatorOS centrally manages sign-in, organizations, membership, roles, billing and application access. The current forward-sale package has one flagship per organization and one chosen eligible companion. Do not present all three flagship products as bundled into one subscription.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capability map, not a rapid feature recital. Pick the two groups connected to the buyer’s pain, then continue to the workday view. Full feature checklist is in the appendix.</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workday brief is grounded in persisted facts and links to existing records. Illustrative priority sequence. Actions require review; sending and payment processing depend on verified services. The drawing explains priority categories; it is not a screenshot or a claim about a real account.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where approved estimates sit today and who checks that each one becomes scheduled work. Demonstrate the saved lead, conversion and quote decision. Do not claim automatic dispatch or route optimization. This is an invented, representative scenario, not a customer case study or a measured outcome. Trigger: A replacement-system inquiry arrives during the busiest week of the season. Outcome to evaluate: Time from qualified inquiry to customer decision.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scenario uses the supported TradeFlowKit-to-SnapProofOS proof handoff. Select SnapProofOS as the included companion or purchase access. Report approval and review are explicit. Evidence can explain work; it does not guarantee payment or legal protection. This is an invented, representative scenario, not a customer case study or a measured outcome. Trigger: A multi-visit electrical job is complete. The office needs a clear account of scope and field work. Outcome to evaluate: Time spent assembling a customer closeout.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 recurring template, next run, pause/resume and the generated job. A schedule is not proof that a run completed. Agree an owner for reviewing failures. Do not imply automatic payments or infinite scheduling capacity. This is an invented, representative scenario, not a customer case study or a measured outcome. Trigger: A customer needs recurring maintenance, but scheduling reminders and follow-ups are spread across spreadsheets. Outcome to evaluate: Scheduled service jobs created and completed on time.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dedicated, approved demo workspace and synthetic records. Prepare the complete flow before the meeting. Do not attempt live payments, real messages, patient data or endpoint changes during the demo. If the tenant is not accepted, present this as a workflow discussion rather than imply live operation.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eligible companion is included. Additional companions are separate. AI generation needs an accepted provider connection; campaigns are reviewed and exported. Each companion still requires appropriate organization access. A useful combination does not imply an automatic cross-module connector. Core feature claims and companion readiness remain separate.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what the buyer wants to keep. Identify the required connection and its owner; verify before committing to an integration scope. Current source capabilities and public lane pages are the claim boundary.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 record supports a clear explanation. Customer authorization and financial confirmation still need the appropriate evidence. Separate product controls from team process. A recorded note is not proof of a real external action unless the appropriate supporting evidence is retained.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invent an ROI percentage. Define a baseline and an equivalent pilot sample, then review these measures. If monetizing time, use the buyer’s agreed hourly cost and distinguish released capacity from actual cash savings. Correlation during a pilot does not establish causation.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source packaging: one flagship per organization, five seats and one eligible organization-wide companion, monthly billing. Repository catalog lists TradeFlowKit $149/month, TechDeck $99/month and PulseDesk $149/month; extra companions $29/month and seats $15/month. These are catalog references, not a verified live quote. On 2026-10-05 the public pricing page and rendered browser exposed Price unavailable for the dynamic totals. Do not quote an unverified total or promise a free pilot. Confirm commercial terms and final Stripe Checkout before purchase. Source: https://operatoros.net/pricing</a:t>
            </a:r>
          </a:p>
          <a:p/>
          <a:p>
            <a:r>
              <a:t>Evidence basis: repository snapshot 62fb640c; reviewed 2026-10-05. Capabilities describe supported source workflows, not blanket acceptance of every target deployment or provider.</a:t>
            </a:r>
          </a:p>
          <a:p>
            <a:r>
              <a:t>packages/sdk/src/products.ts</a:t>
            </a:r>
          </a:p>
          <a:p>
            <a:r>
              <a:t>https://operatoros.net/pricing</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evaluation structure, not an existing free-trial or onboarding-service promise. Agree pricing, support, scope, data handling, responsible owners and success criteria before starting. Use comparable baseline and pilot samples. Continue when the team can carry a job through the agreed workflow and explain every open next step.</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Ask for one representative example, a workflow owner and a success measure. Agree a scoped working session and the commercial next step. The CTA opens the existing OperatorOS contact page; no appointment or service commitment is automatically created.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the relevant objection. Invite a specific example from the buyer instead of treating this as a scripted rebuttal. Unsupported integrations or clinical capabilities are material fit considerations.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list is a map of source-supported workflow families, not proof that every legacy feature or external provider is production accepted. Verify the buyer’s precise required workflow and role on the target tenant. Details: docs/modules/tradeflowkit/PARITY_MATRIX.md, docs/modules/SHARED_CUSTOMERS_AND_ACCOUNT_SECURITY_2026-09-21.md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release context for presenter: current local source 62fb640c includes the OpenAI enablement merge. The recorded published release gate remains v65, with semantic provider disabled; the later hosted OpenAI credential recovery/publication and authenticated tenant acceptance remain open in implementation status. Do not sell AI activation as universal. This deck is collateral, not release acceptance. Direct QuickBooks Online sync, automatic dispatch and guaranteed revenue improvement.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docs/modules/tradeflowkit/PARITY_MATRIX.md</a:t>
            </a:r>
          </a:p>
          <a:p>
            <a:r>
              <a:t>docs/modules/SHARED_CUSTOMERS_AND_ACCOUNT_SECURITY_2026-09-21.md</a:t>
            </a:r>
          </a:p>
          <a:p>
            <a:r>
              <a:t>Public lane: https://operatoros.net/for/trades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operatoros.net/pricing?product=tradeflowkit#build-stac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operatoros.net/john" TargetMode="External"/><Relationship Id="rId6" Type="http://schemas.openxmlformats.org/officeDocument/2006/relationships/hyperlink" Target="https://operatoros.net/for/trad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operatoros.net/for/trades" TargetMode="External"/><Relationship Id="rId4" Type="http://schemas.openxmlformats.org/officeDocument/2006/relationships/hyperlink" Target="https://operatoros.net/pricing" TargetMode="External"/><Relationship Id="rId5" Type="http://schemas.openxmlformats.org/officeDocument/2006/relationships/hyperlink" Target="https://operatoros.net/help" TargetMode="External"/></Relationships>
</file>

<file path=ppt/slides/slide1.xml><?xml version="1.0" encoding="utf-8"?>
<p:sld xmlns:a="http://schemas.openxmlformats.org/drawingml/2006/main" xmlns:p="http://schemas.openxmlformats.org/presentationml/2006/main" xmlns:r="http://schemas.openxmlformats.org/officeDocument/2006/relationships">
  <p:cSld name="Finish the job. Keep the revenue moving.">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des.png"/>
          <p:cNvPicPr>
            <a:picLocks noChangeAspect="1"/>
          </p:cNvPicPr>
          <p:nvPr/>
        </p:nvPicPr>
        <p:blipFill>
          <a:blip r:embed="rId3"/>
          <a:srcRect t="685" b="685"/>
          <a:stretch>
            <a:fillRect/>
          </a:stretch>
        </p:blipFill>
        <p:spPr>
          <a:xfrm>
            <a:off x="7556500" y="0"/>
            <a:ext cx="4635500" cy="6858000"/>
          </a:xfrm>
          <a:prstGeom prst="rect">
            <a:avLst/>
          </a:prstGeom>
        </p:spPr>
      </p:pic>
      <p:sp>
        <p:nvSpPr>
          <p:cNvPr id="5" name="Rectangle 4"/>
          <p:cNvSpPr/>
          <p:nvPr/>
        </p:nvSpPr>
        <p:spPr>
          <a:xfrm>
            <a:off x="7327900" y="0"/>
            <a:ext cx="2286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F3FAF7"/>
                </a:solidFill>
                <a:latin typeface="Segoe UI"/>
              </a:defRPr>
            </a:pPr>
            <a:r>
              <a:t>OperatorOS</a:t>
            </a:r>
          </a:p>
        </p:txBody>
      </p:sp>
      <p:sp>
        <p:nvSpPr>
          <p:cNvPr id="8" name="TextBox 7"/>
          <p:cNvSpPr txBox="1"/>
          <p:nvPr/>
        </p:nvSpPr>
        <p:spPr>
          <a:xfrm>
            <a:off x="609600" y="1193800"/>
            <a:ext cx="6489700" cy="204952"/>
          </a:xfrm>
          <a:prstGeom prst="rect">
            <a:avLst/>
          </a:prstGeom>
          <a:noFill/>
        </p:spPr>
        <p:txBody>
          <a:bodyPr wrap="none" lIns="0" rIns="0" tIns="0" bIns="0" anchor="t">
            <a:spAutoFit/>
          </a:bodyPr>
          <a:lstStyle/>
          <a:p>
            <a:pPr algn="l">
              <a:lnSpc>
                <a:spcPts val="1213"/>
              </a:lnSpc>
              <a:spcBef>
                <a:spcPts val="0"/>
              </a:spcBef>
              <a:spcAft>
                <a:spcPts val="0"/>
              </a:spcAft>
              <a:defRPr sz="1019" b="1">
                <a:solidFill>
                  <a:srgbClr val="80EDBA"/>
                </a:solidFill>
                <a:latin typeface="Segoe UI"/>
              </a:defRPr>
            </a:pPr>
            <a:r>
              <a:t>TRADE COMPANIES / FIELD SERVICES</a:t>
            </a:r>
          </a:p>
        </p:txBody>
      </p:sp>
      <p:sp>
        <p:nvSpPr>
          <p:cNvPr id="9" name="TextBox 8"/>
          <p:cNvSpPr txBox="1"/>
          <p:nvPr/>
        </p:nvSpPr>
        <p:spPr>
          <a:xfrm>
            <a:off x="609600" y="1511300"/>
            <a:ext cx="6489700" cy="519303"/>
          </a:xfrm>
          <a:prstGeom prst="rect">
            <a:avLst/>
          </a:prstGeom>
          <a:noFill/>
        </p:spPr>
        <p:txBody>
          <a:bodyPr wrap="none" lIns="0" rIns="0" tIns="0" bIns="0" anchor="t">
            <a:spAutoFit/>
          </a:bodyPr>
          <a:lstStyle/>
          <a:p>
            <a:pPr algn="l">
              <a:lnSpc>
                <a:spcPts val="3689"/>
              </a:lnSpc>
              <a:spcBef>
                <a:spcPts val="0"/>
              </a:spcBef>
              <a:spcAft>
                <a:spcPts val="0"/>
              </a:spcAft>
              <a:defRPr sz="3100" b="0">
                <a:solidFill>
                  <a:srgbClr val="F3FAF7"/>
                </a:solidFill>
                <a:latin typeface="Segoe UI Light"/>
              </a:defRPr>
            </a:pPr>
            <a:r>
              <a:t>TradeFlowKit</a:t>
            </a:r>
          </a:p>
        </p:txBody>
      </p:sp>
      <p:sp>
        <p:nvSpPr>
          <p:cNvPr id="10" name="TextBox 9"/>
          <p:cNvSpPr txBox="1"/>
          <p:nvPr/>
        </p:nvSpPr>
        <p:spPr>
          <a:xfrm>
            <a:off x="609600" y="2260600"/>
            <a:ext cx="6616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F3FAF7"/>
                </a:solidFill>
                <a:latin typeface="Segoe UI"/>
              </a:defRPr>
            </a:pPr>
            <a:r>
              <a:t>Finish the job.</a:t>
            </a:r>
          </a:p>
          <a:p>
            <a:pPr algn="l">
              <a:lnSpc>
                <a:spcPts val="5236"/>
              </a:lnSpc>
              <a:spcBef>
                <a:spcPts val="0"/>
              </a:spcBef>
              <a:spcAft>
                <a:spcPts val="0"/>
              </a:spcAft>
              <a:defRPr sz="4400" b="1">
                <a:solidFill>
                  <a:srgbClr val="F3FAF7"/>
                </a:solidFill>
                <a:latin typeface="Segoe UI"/>
              </a:defRPr>
            </a:pPr>
            <a:r>
              <a:t>Keep the revenue</a:t>
            </a:r>
          </a:p>
          <a:p>
            <a:pPr algn="l">
              <a:lnSpc>
                <a:spcPts val="5236"/>
              </a:lnSpc>
              <a:spcBef>
                <a:spcPts val="0"/>
              </a:spcBef>
              <a:spcAft>
                <a:spcPts val="0"/>
              </a:spcAft>
              <a:defRPr sz="4400" b="1">
                <a:solidFill>
                  <a:srgbClr val="F3FAF7"/>
                </a:solidFill>
                <a:latin typeface="Segoe UI"/>
              </a:defRPr>
            </a:pPr>
            <a:r>
              <a:t>moving.</a:t>
            </a:r>
          </a:p>
        </p:txBody>
      </p:sp>
      <p:sp>
        <p:nvSpPr>
          <p:cNvPr id="11" name="TextBox 10"/>
          <p:cNvSpPr txBox="1"/>
          <p:nvPr/>
        </p:nvSpPr>
        <p:spPr>
          <a:xfrm>
            <a:off x="609600" y="4699000"/>
            <a:ext cx="6553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B4C9C8"/>
                </a:solidFill>
                <a:latin typeface="Segoe UI"/>
              </a:defRPr>
            </a:pPr>
            <a:r>
              <a:t>Customer, crew, quote and cash status.</a:t>
            </a:r>
          </a:p>
          <a:p>
            <a:pPr algn="l">
              <a:lnSpc>
                <a:spcPts val="2379"/>
              </a:lnSpc>
              <a:spcBef>
                <a:spcPts val="0"/>
              </a:spcBef>
              <a:spcAft>
                <a:spcPts val="0"/>
              </a:spcAft>
              <a:defRPr sz="2000" b="0">
                <a:solidFill>
                  <a:srgbClr val="B4C9C8"/>
                </a:solidFill>
                <a:latin typeface="Segoe UI"/>
              </a:defRPr>
            </a:pPr>
            <a:r>
              <a:t>One connected operating story.</a:t>
            </a:r>
          </a:p>
        </p:txBody>
      </p:sp>
      <p:cxnSp>
        <p:nvCxnSpPr>
          <p:cNvPr id="12" name="Connector 11"/>
          <p:cNvCxnSpPr/>
          <p:nvPr/>
        </p:nvCxnSpPr>
        <p:spPr>
          <a:xfrm>
            <a:off x="609600" y="5854700"/>
            <a:ext cx="61849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6070600"/>
            <a:ext cx="4457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A BETTER WAY TO OPERATE</a:t>
            </a:r>
          </a:p>
        </p:txBody>
      </p:sp>
      <p:sp>
        <p:nvSpPr>
          <p:cNvPr id="14" name="TextBox 13"/>
          <p:cNvSpPr txBox="1"/>
          <p:nvPr/>
        </p:nvSpPr>
        <p:spPr>
          <a:xfrm>
            <a:off x="609600" y="6451600"/>
            <a:ext cx="6489700" cy="183794"/>
          </a:xfrm>
          <a:prstGeom prst="rect">
            <a:avLst/>
          </a:prstGeom>
          <a:noFill/>
        </p:spPr>
        <p:txBody>
          <a:bodyPr wrap="none" lIns="0" rIns="0" tIns="0" bIns="0" anchor="t">
            <a:spAutoFit/>
          </a:bodyPr>
          <a:lstStyle/>
          <a:p>
            <a:pPr algn="l">
              <a:lnSpc>
                <a:spcPts val="1047"/>
              </a:lnSpc>
              <a:spcBef>
                <a:spcPts val="0"/>
              </a:spcBef>
              <a:spcAft>
                <a:spcPts val="0"/>
              </a:spcAft>
              <a:defRPr sz="880" b="0">
                <a:solidFill>
                  <a:srgbClr val="B4C9C8"/>
                </a:solidFill>
                <a:latin typeface="Segoe UI"/>
              </a:defRPr>
            </a:pPr>
            <a:r>
              <a:t>SHOTGUN NINJAS PRODUCTIONS / 05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Busy crews can hide a broken handoff.">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FRICTION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Busy crews can hide</a:t>
            </a:r>
          </a:p>
          <a:p>
            <a:pPr algn="l">
              <a:lnSpc>
                <a:spcPts val="4284"/>
              </a:lnSpc>
              <a:spcBef>
                <a:spcPts val="0"/>
              </a:spcBef>
              <a:spcAft>
                <a:spcPts val="0"/>
              </a:spcAft>
              <a:defRPr sz="3600" b="1">
                <a:solidFill>
                  <a:srgbClr val="F3FAF7"/>
                </a:solidFill>
                <a:latin typeface="Segoe UI"/>
              </a:defRPr>
            </a:pPr>
            <a:r>
              <a:t>a broken handoff.</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02 / 20</a:t>
            </a:r>
          </a:p>
        </p:txBody>
      </p:sp>
      <p:sp>
        <p:nvSpPr>
          <p:cNvPr id="9" name="TextBox 8"/>
          <p:cNvSpPr txBox="1"/>
          <p:nvPr/>
        </p:nvSpPr>
        <p:spPr>
          <a:xfrm>
            <a:off x="6096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80EDBA"/>
                </a:solidFill>
                <a:latin typeface="Segoe UI Light"/>
              </a:defRPr>
            </a:pPr>
            <a:r>
              <a:t>01</a:t>
            </a:r>
          </a:p>
        </p:txBody>
      </p:sp>
      <p:cxnSp>
        <p:nvCxnSpPr>
          <p:cNvPr id="10" name="Connector 9"/>
          <p:cNvCxnSpPr/>
          <p:nvPr/>
        </p:nvCxnSpPr>
        <p:spPr>
          <a:xfrm>
            <a:off x="609600" y="3187700"/>
            <a:ext cx="3429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The inquiry stalls</a:t>
            </a:r>
          </a:p>
        </p:txBody>
      </p:sp>
      <p:sp>
        <p:nvSpPr>
          <p:cNvPr id="12" name="TextBox 11"/>
          <p:cNvSpPr txBox="1"/>
          <p:nvPr/>
        </p:nvSpPr>
        <p:spPr>
          <a:xfrm>
            <a:off x="6096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B4C9C8"/>
                </a:solidFill>
                <a:latin typeface="Segoe UI"/>
              </a:defRPr>
            </a:pPr>
            <a:r>
              <a:t>A customer wants the work. The</a:t>
            </a:r>
          </a:p>
          <a:p>
            <a:pPr algn="l">
              <a:lnSpc>
                <a:spcPts val="2082"/>
              </a:lnSpc>
              <a:spcBef>
                <a:spcPts val="0"/>
              </a:spcBef>
              <a:spcAft>
                <a:spcPts val="0"/>
              </a:spcAft>
              <a:defRPr sz="1750" b="0">
                <a:solidFill>
                  <a:srgbClr val="B4C9C8"/>
                </a:solidFill>
                <a:latin typeface="Segoe UI"/>
              </a:defRPr>
            </a:pPr>
            <a:r>
              <a:t>next action lives in someone’s</a:t>
            </a:r>
          </a:p>
          <a:p>
            <a:pPr algn="l">
              <a:lnSpc>
                <a:spcPts val="2082"/>
              </a:lnSpc>
              <a:spcBef>
                <a:spcPts val="0"/>
              </a:spcBef>
              <a:spcAft>
                <a:spcPts val="0"/>
              </a:spcAft>
              <a:defRPr sz="1750" b="0">
                <a:solidFill>
                  <a:srgbClr val="B4C9C8"/>
                </a:solidFill>
                <a:latin typeface="Segoe UI"/>
              </a:defRPr>
            </a:pPr>
            <a:r>
              <a:t>memory.</a:t>
            </a:r>
          </a:p>
        </p:txBody>
      </p:sp>
      <p:sp>
        <p:nvSpPr>
          <p:cNvPr id="13" name="TextBox 12"/>
          <p:cNvSpPr txBox="1"/>
          <p:nvPr/>
        </p:nvSpPr>
        <p:spPr>
          <a:xfrm>
            <a:off x="6096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C17A"/>
                </a:solidFill>
                <a:latin typeface="Segoe UI"/>
              </a:defRPr>
            </a:pPr>
            <a:r>
              <a:t>Opportunity slips.</a:t>
            </a:r>
          </a:p>
        </p:txBody>
      </p:sp>
      <p:sp>
        <p:nvSpPr>
          <p:cNvPr id="14" name="TextBox 13"/>
          <p:cNvSpPr txBox="1"/>
          <p:nvPr/>
        </p:nvSpPr>
        <p:spPr>
          <a:xfrm>
            <a:off x="43688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80EDBA"/>
                </a:solidFill>
                <a:latin typeface="Segoe UI Light"/>
              </a:defRPr>
            </a:pPr>
            <a:r>
              <a:t>02</a:t>
            </a:r>
          </a:p>
        </p:txBody>
      </p:sp>
      <p:cxnSp>
        <p:nvCxnSpPr>
          <p:cNvPr id="15" name="Connector 14"/>
          <p:cNvCxnSpPr/>
          <p:nvPr/>
        </p:nvCxnSpPr>
        <p:spPr>
          <a:xfrm>
            <a:off x="4368800" y="3187700"/>
            <a:ext cx="3429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688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The job gets fragmented</a:t>
            </a:r>
          </a:p>
        </p:txBody>
      </p:sp>
      <p:sp>
        <p:nvSpPr>
          <p:cNvPr id="17" name="TextBox 16"/>
          <p:cNvSpPr txBox="1"/>
          <p:nvPr/>
        </p:nvSpPr>
        <p:spPr>
          <a:xfrm>
            <a:off x="43688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B4C9C8"/>
                </a:solidFill>
                <a:latin typeface="Segoe UI"/>
              </a:defRPr>
            </a:pPr>
            <a:r>
              <a:t>Scope, dates and field updates</a:t>
            </a:r>
          </a:p>
          <a:p>
            <a:pPr algn="l">
              <a:lnSpc>
                <a:spcPts val="2082"/>
              </a:lnSpc>
              <a:spcBef>
                <a:spcPts val="0"/>
              </a:spcBef>
              <a:spcAft>
                <a:spcPts val="0"/>
              </a:spcAft>
              <a:defRPr sz="1750" b="0">
                <a:solidFill>
                  <a:srgbClr val="B4C9C8"/>
                </a:solidFill>
                <a:latin typeface="Segoe UI"/>
              </a:defRPr>
            </a:pPr>
            <a:r>
              <a:t>travel through different</a:t>
            </a:r>
          </a:p>
          <a:p>
            <a:pPr algn="l">
              <a:lnSpc>
                <a:spcPts val="2082"/>
              </a:lnSpc>
              <a:spcBef>
                <a:spcPts val="0"/>
              </a:spcBef>
              <a:spcAft>
                <a:spcPts val="0"/>
              </a:spcAft>
              <a:defRPr sz="1750" b="0">
                <a:solidFill>
                  <a:srgbClr val="B4C9C8"/>
                </a:solidFill>
                <a:latin typeface="Segoe UI"/>
              </a:defRPr>
            </a:pPr>
            <a:r>
              <a:t>conversations.</a:t>
            </a:r>
          </a:p>
        </p:txBody>
      </p:sp>
      <p:sp>
        <p:nvSpPr>
          <p:cNvPr id="18" name="TextBox 17"/>
          <p:cNvSpPr txBox="1"/>
          <p:nvPr/>
        </p:nvSpPr>
        <p:spPr>
          <a:xfrm>
            <a:off x="43688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C17A"/>
                </a:solidFill>
                <a:latin typeface="Segoe UI"/>
              </a:defRPr>
            </a:pPr>
            <a:r>
              <a:t>The office chases.</a:t>
            </a:r>
          </a:p>
        </p:txBody>
      </p:sp>
      <p:sp>
        <p:nvSpPr>
          <p:cNvPr id="19" name="TextBox 18"/>
          <p:cNvSpPr txBox="1"/>
          <p:nvPr/>
        </p:nvSpPr>
        <p:spPr>
          <a:xfrm>
            <a:off x="81280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80EDBA"/>
                </a:solidFill>
                <a:latin typeface="Segoe UI Light"/>
              </a:defRPr>
            </a:pPr>
            <a:r>
              <a:t>03</a:t>
            </a:r>
          </a:p>
        </p:txBody>
      </p:sp>
      <p:cxnSp>
        <p:nvCxnSpPr>
          <p:cNvPr id="20" name="Connector 19"/>
          <p:cNvCxnSpPr/>
          <p:nvPr/>
        </p:nvCxnSpPr>
        <p:spPr>
          <a:xfrm>
            <a:off x="8128000" y="3187700"/>
            <a:ext cx="3429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280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The invoice waits</a:t>
            </a:r>
          </a:p>
        </p:txBody>
      </p:sp>
      <p:sp>
        <p:nvSpPr>
          <p:cNvPr id="22" name="TextBox 21"/>
          <p:cNvSpPr txBox="1"/>
          <p:nvPr/>
        </p:nvSpPr>
        <p:spPr>
          <a:xfrm>
            <a:off x="81280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B4C9C8"/>
                </a:solidFill>
                <a:latin typeface="Segoe UI"/>
              </a:defRPr>
            </a:pPr>
            <a:r>
              <a:t>Completed work and approved</a:t>
            </a:r>
          </a:p>
          <a:p>
            <a:pPr algn="l">
              <a:lnSpc>
                <a:spcPts val="2082"/>
              </a:lnSpc>
              <a:spcBef>
                <a:spcPts val="0"/>
              </a:spcBef>
              <a:spcAft>
                <a:spcPts val="0"/>
              </a:spcAft>
              <a:defRPr sz="1750" b="0">
                <a:solidFill>
                  <a:srgbClr val="B4C9C8"/>
                </a:solidFill>
                <a:latin typeface="Segoe UI"/>
              </a:defRPr>
            </a:pPr>
            <a:r>
              <a:t>quotes are still waiting on the</a:t>
            </a:r>
          </a:p>
          <a:p>
            <a:pPr algn="l">
              <a:lnSpc>
                <a:spcPts val="2082"/>
              </a:lnSpc>
              <a:spcBef>
                <a:spcPts val="0"/>
              </a:spcBef>
              <a:spcAft>
                <a:spcPts val="0"/>
              </a:spcAft>
              <a:defRPr sz="1750" b="0">
                <a:solidFill>
                  <a:srgbClr val="B4C9C8"/>
                </a:solidFill>
                <a:latin typeface="Segoe UI"/>
              </a:defRPr>
            </a:pPr>
            <a:r>
              <a:t>next billing step.</a:t>
            </a:r>
          </a:p>
        </p:txBody>
      </p:sp>
      <p:sp>
        <p:nvSpPr>
          <p:cNvPr id="23" name="TextBox 22"/>
          <p:cNvSpPr txBox="1"/>
          <p:nvPr/>
        </p:nvSpPr>
        <p:spPr>
          <a:xfrm>
            <a:off x="81280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C17A"/>
                </a:solidFill>
                <a:latin typeface="Segoe UI"/>
              </a:defRPr>
            </a:pPr>
            <a:r>
              <a:t>Cash gets delayed.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 job. A connected path from inquiry to payment.">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CONNECTED WORKFLOW</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One job. A connected path</a:t>
            </a:r>
          </a:p>
          <a:p>
            <a:pPr algn="l">
              <a:lnSpc>
                <a:spcPts val="4284"/>
              </a:lnSpc>
              <a:spcBef>
                <a:spcPts val="0"/>
              </a:spcBef>
              <a:spcAft>
                <a:spcPts val="0"/>
              </a:spcAft>
              <a:defRPr sz="3600" b="1">
                <a:solidFill>
                  <a:srgbClr val="F3FAF7"/>
                </a:solidFill>
                <a:latin typeface="Segoe UI"/>
              </a:defRPr>
            </a:pPr>
            <a:r>
              <a:t>from inquiry to payment.</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03 / 20</a:t>
            </a:r>
          </a:p>
        </p:txBody>
      </p:sp>
      <p:sp>
        <p:nvSpPr>
          <p:cNvPr id="9" name="Oval 8"/>
          <p:cNvSpPr/>
          <p:nvPr/>
        </p:nvSpPr>
        <p:spPr>
          <a:xfrm>
            <a:off x="609600" y="2603500"/>
            <a:ext cx="419100" cy="4191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E23"/>
                </a:solidFill>
                <a:latin typeface="Segoe UI"/>
              </a:defRPr>
            </a:pPr>
            <a:r>
              <a:t>1</a:t>
            </a:r>
          </a:p>
        </p:txBody>
      </p:sp>
      <p:cxnSp>
        <p:nvCxnSpPr>
          <p:cNvPr id="11" name="Connector 10"/>
          <p:cNvCxnSpPr/>
          <p:nvPr/>
        </p:nvCxnSpPr>
        <p:spPr>
          <a:xfrm>
            <a:off x="1117600" y="2819400"/>
            <a:ext cx="1600200" cy="0"/>
          </a:xfrm>
          <a:prstGeom prst="line">
            <a:avLst/>
          </a:prstGeom>
          <a:ln w="25400">
            <a:solidFill>
              <a:srgbClr val="2E505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3FAF7"/>
                </a:solidFill>
                <a:latin typeface="Segoe UI"/>
              </a:defRPr>
            </a:pPr>
            <a:r>
              <a:t>Capture</a:t>
            </a:r>
          </a:p>
        </p:txBody>
      </p:sp>
      <p:sp>
        <p:nvSpPr>
          <p:cNvPr id="13" name="TextBox 12"/>
          <p:cNvSpPr txBox="1"/>
          <p:nvPr/>
        </p:nvSpPr>
        <p:spPr>
          <a:xfrm>
            <a:off x="6096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Lead + next action</a:t>
            </a:r>
          </a:p>
        </p:txBody>
      </p:sp>
      <p:sp>
        <p:nvSpPr>
          <p:cNvPr id="14" name="Oval 13"/>
          <p:cNvSpPr/>
          <p:nvPr/>
        </p:nvSpPr>
        <p:spPr>
          <a:xfrm>
            <a:off x="2844800" y="2603500"/>
            <a:ext cx="419100" cy="4191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448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E23"/>
                </a:solidFill>
                <a:latin typeface="Segoe UI"/>
              </a:defRPr>
            </a:pPr>
            <a:r>
              <a:t>2</a:t>
            </a:r>
          </a:p>
        </p:txBody>
      </p:sp>
      <p:cxnSp>
        <p:nvCxnSpPr>
          <p:cNvPr id="16" name="Connector 15"/>
          <p:cNvCxnSpPr/>
          <p:nvPr/>
        </p:nvCxnSpPr>
        <p:spPr>
          <a:xfrm>
            <a:off x="3352800" y="2819400"/>
            <a:ext cx="1600200" cy="0"/>
          </a:xfrm>
          <a:prstGeom prst="line">
            <a:avLst/>
          </a:prstGeom>
          <a:ln w="25400">
            <a:solidFill>
              <a:srgbClr val="2E505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448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3FAF7"/>
                </a:solidFill>
                <a:latin typeface="Segoe UI"/>
              </a:defRPr>
            </a:pPr>
            <a:r>
              <a:t>Plan</a:t>
            </a:r>
          </a:p>
        </p:txBody>
      </p:sp>
      <p:sp>
        <p:nvSpPr>
          <p:cNvPr id="18" name="TextBox 17"/>
          <p:cNvSpPr txBox="1"/>
          <p:nvPr/>
        </p:nvSpPr>
        <p:spPr>
          <a:xfrm>
            <a:off x="28448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Customer + quote</a:t>
            </a:r>
          </a:p>
        </p:txBody>
      </p:sp>
      <p:sp>
        <p:nvSpPr>
          <p:cNvPr id="19" name="Oval 18"/>
          <p:cNvSpPr/>
          <p:nvPr/>
        </p:nvSpPr>
        <p:spPr>
          <a:xfrm>
            <a:off x="5080000" y="2603500"/>
            <a:ext cx="419100" cy="4191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00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E23"/>
                </a:solidFill>
                <a:latin typeface="Segoe UI"/>
              </a:defRPr>
            </a:pPr>
            <a:r>
              <a:t>3</a:t>
            </a:r>
          </a:p>
        </p:txBody>
      </p:sp>
      <p:cxnSp>
        <p:nvCxnSpPr>
          <p:cNvPr id="21" name="Connector 20"/>
          <p:cNvCxnSpPr/>
          <p:nvPr/>
        </p:nvCxnSpPr>
        <p:spPr>
          <a:xfrm>
            <a:off x="5588000" y="2819400"/>
            <a:ext cx="1600200" cy="0"/>
          </a:xfrm>
          <a:prstGeom prst="line">
            <a:avLst/>
          </a:prstGeom>
          <a:ln w="25400">
            <a:solidFill>
              <a:srgbClr val="2E505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800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3FAF7"/>
                </a:solidFill>
                <a:latin typeface="Segoe UI"/>
              </a:defRPr>
            </a:pPr>
            <a:r>
              <a:t>Deliver</a:t>
            </a:r>
          </a:p>
        </p:txBody>
      </p:sp>
      <p:sp>
        <p:nvSpPr>
          <p:cNvPr id="23" name="TextBox 22"/>
          <p:cNvSpPr txBox="1"/>
          <p:nvPr/>
        </p:nvSpPr>
        <p:spPr>
          <a:xfrm>
            <a:off x="50800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Owner + tasks</a:t>
            </a:r>
          </a:p>
        </p:txBody>
      </p:sp>
      <p:sp>
        <p:nvSpPr>
          <p:cNvPr id="24" name="Oval 23"/>
          <p:cNvSpPr/>
          <p:nvPr/>
        </p:nvSpPr>
        <p:spPr>
          <a:xfrm>
            <a:off x="7315200" y="2603500"/>
            <a:ext cx="419100" cy="4191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E23"/>
                </a:solidFill>
                <a:latin typeface="Segoe UI"/>
              </a:defRPr>
            </a:pPr>
            <a:r>
              <a:t>4</a:t>
            </a:r>
          </a:p>
        </p:txBody>
      </p:sp>
      <p:cxnSp>
        <p:nvCxnSpPr>
          <p:cNvPr id="26" name="Connector 25"/>
          <p:cNvCxnSpPr/>
          <p:nvPr/>
        </p:nvCxnSpPr>
        <p:spPr>
          <a:xfrm>
            <a:off x="7823200" y="2819400"/>
            <a:ext cx="1600200" cy="0"/>
          </a:xfrm>
          <a:prstGeom prst="line">
            <a:avLst/>
          </a:prstGeom>
          <a:ln w="25400">
            <a:solidFill>
              <a:srgbClr val="2E505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152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3FAF7"/>
                </a:solidFill>
                <a:latin typeface="Segoe UI"/>
              </a:defRPr>
            </a:pPr>
            <a:r>
              <a:t>Invoice</a:t>
            </a:r>
          </a:p>
        </p:txBody>
      </p:sp>
      <p:sp>
        <p:nvSpPr>
          <p:cNvPr id="28" name="TextBox 27"/>
          <p:cNvSpPr txBox="1"/>
          <p:nvPr/>
        </p:nvSpPr>
        <p:spPr>
          <a:xfrm>
            <a:off x="73152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Work + document</a:t>
            </a:r>
          </a:p>
        </p:txBody>
      </p:sp>
      <p:sp>
        <p:nvSpPr>
          <p:cNvPr id="29" name="Oval 28"/>
          <p:cNvSpPr/>
          <p:nvPr/>
        </p:nvSpPr>
        <p:spPr>
          <a:xfrm>
            <a:off x="9550400" y="2603500"/>
            <a:ext cx="419100" cy="4191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04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E23"/>
                </a:solidFill>
                <a:latin typeface="Segoe UI"/>
              </a:defRPr>
            </a:pPr>
            <a:r>
              <a:t>5</a:t>
            </a:r>
          </a:p>
        </p:txBody>
      </p:sp>
      <p:sp>
        <p:nvSpPr>
          <p:cNvPr id="31" name="TextBox 30"/>
          <p:cNvSpPr txBox="1"/>
          <p:nvPr/>
        </p:nvSpPr>
        <p:spPr>
          <a:xfrm>
            <a:off x="95504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3FAF7"/>
                </a:solidFill>
                <a:latin typeface="Segoe UI"/>
              </a:defRPr>
            </a:pPr>
            <a:r>
              <a:t>Collect</a:t>
            </a:r>
          </a:p>
        </p:txBody>
      </p:sp>
      <p:sp>
        <p:nvSpPr>
          <p:cNvPr id="32" name="TextBox 31"/>
          <p:cNvSpPr txBox="1"/>
          <p:nvPr/>
        </p:nvSpPr>
        <p:spPr>
          <a:xfrm>
            <a:off x="9550400" y="3898900"/>
            <a:ext cx="19177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Balance +</a:t>
            </a:r>
          </a:p>
          <a:p>
            <a:pPr algn="l">
              <a:lnSpc>
                <a:spcPts val="2023"/>
              </a:lnSpc>
              <a:spcBef>
                <a:spcPts val="0"/>
              </a:spcBef>
              <a:spcAft>
                <a:spcPts val="0"/>
              </a:spcAft>
              <a:defRPr sz="1700" b="0">
                <a:solidFill>
                  <a:srgbClr val="B4C9C8"/>
                </a:solidFill>
                <a:latin typeface="Segoe UI"/>
              </a:defRPr>
            </a:pPr>
            <a:r>
              <a:t>follow-up</a:t>
            </a:r>
          </a:p>
        </p:txBody>
      </p:sp>
      <p:sp>
        <p:nvSpPr>
          <p:cNvPr id="33" name="Rounded Rectangle 32"/>
          <p:cNvSpPr/>
          <p:nvPr/>
        </p:nvSpPr>
        <p:spPr>
          <a:xfrm>
            <a:off x="609600" y="4851400"/>
            <a:ext cx="10972800" cy="1066800"/>
          </a:xfrm>
          <a:prstGeom prst="roundRect">
            <a:avLst>
              <a:gd name="adj" fmla="val 5952"/>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500" y="5029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RECORD YOU KEEP</a:t>
            </a:r>
          </a:p>
        </p:txBody>
      </p:sp>
      <p:sp>
        <p:nvSpPr>
          <p:cNvPr id="35" name="TextBox 34"/>
          <p:cNvSpPr txBox="1"/>
          <p:nvPr/>
        </p:nvSpPr>
        <p:spPr>
          <a:xfrm>
            <a:off x="825500" y="5334000"/>
            <a:ext cx="10553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3FAF7"/>
                </a:solidFill>
                <a:latin typeface="Segoe UI"/>
              </a:defRPr>
            </a:pPr>
            <a:r>
              <a:t>Know what was requested, who owns it, what the customer decided and what is still owed.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Your core workflow. One OperatorOS home base.">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PLATFORM</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Your core workflow.</a:t>
            </a:r>
          </a:p>
          <a:p>
            <a:pPr algn="l">
              <a:lnSpc>
                <a:spcPts val="4284"/>
              </a:lnSpc>
              <a:spcBef>
                <a:spcPts val="0"/>
              </a:spcBef>
              <a:spcAft>
                <a:spcPts val="0"/>
              </a:spcAft>
              <a:defRPr sz="3600" b="1">
                <a:solidFill>
                  <a:srgbClr val="F3FAF7"/>
                </a:solidFill>
                <a:latin typeface="Segoe UI"/>
              </a:defRPr>
            </a:pPr>
            <a:r>
              <a:t>One OperatorOS home base.</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04 / 20</a:t>
            </a:r>
          </a:p>
        </p:txBody>
      </p:sp>
      <p:sp>
        <p:nvSpPr>
          <p:cNvPr id="9" name="Oval 8"/>
          <p:cNvSpPr/>
          <p:nvPr/>
        </p:nvSpPr>
        <p:spPr>
          <a:xfrm>
            <a:off x="965200" y="2654300"/>
            <a:ext cx="2717800" cy="2717800"/>
          </a:xfrm>
          <a:prstGeom prst="ellipse">
            <a:avLst/>
          </a:prstGeom>
          <a:noFill/>
          <a:ln w="12700">
            <a:solidFill>
              <a:srgbClr val="2E5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9200" y="2908300"/>
            <a:ext cx="2209800" cy="2209800"/>
          </a:xfrm>
          <a:prstGeom prst="ellipse">
            <a:avLst/>
          </a:prstGeom>
          <a:solidFill>
            <a:srgbClr val="113238"/>
          </a:solidFill>
          <a:ln w="12700">
            <a:solidFill>
              <a:srgbClr val="80ED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operatoros-mark.png"/>
          <p:cNvPicPr>
            <a:picLocks noChangeAspect="1"/>
          </p:cNvPicPr>
          <p:nvPr/>
        </p:nvPicPr>
        <p:blipFill>
          <a:blip r:embed="rId3"/>
          <a:stretch>
            <a:fillRect/>
          </a:stretch>
        </p:blipFill>
        <p:spPr>
          <a:xfrm>
            <a:off x="1968500" y="3213100"/>
            <a:ext cx="736600" cy="736600"/>
          </a:xfrm>
          <a:prstGeom prst="rect">
            <a:avLst/>
          </a:prstGeom>
        </p:spPr>
      </p:pic>
      <p:sp>
        <p:nvSpPr>
          <p:cNvPr id="12" name="TextBox 11"/>
          <p:cNvSpPr txBox="1"/>
          <p:nvPr/>
        </p:nvSpPr>
        <p:spPr>
          <a:xfrm>
            <a:off x="1460500" y="4102100"/>
            <a:ext cx="1854200" cy="368173"/>
          </a:xfrm>
          <a:prstGeom prst="rect">
            <a:avLst/>
          </a:prstGeom>
          <a:noFill/>
        </p:spPr>
        <p:txBody>
          <a:bodyPr wrap="none" lIns="0" rIns="0" tIns="0" bIns="0" anchor="t">
            <a:spAutoFit/>
          </a:bodyPr>
          <a:lstStyle/>
          <a:p>
            <a:pPr algn="ctr">
              <a:lnSpc>
                <a:spcPts val="2499"/>
              </a:lnSpc>
              <a:spcBef>
                <a:spcPts val="0"/>
              </a:spcBef>
              <a:spcAft>
                <a:spcPts val="0"/>
              </a:spcAft>
              <a:defRPr sz="2100" b="1">
                <a:solidFill>
                  <a:srgbClr val="F3FAF7"/>
                </a:solidFill>
                <a:latin typeface="Segoe UI"/>
              </a:defRPr>
            </a:pPr>
            <a:r>
              <a:t>OperatorOS</a:t>
            </a:r>
          </a:p>
        </p:txBody>
      </p:sp>
      <p:sp>
        <p:nvSpPr>
          <p:cNvPr id="13" name="TextBox 12"/>
          <p:cNvSpPr txBox="1"/>
          <p:nvPr/>
        </p:nvSpPr>
        <p:spPr>
          <a:xfrm>
            <a:off x="1333500" y="4508500"/>
            <a:ext cx="2082800" cy="247269"/>
          </a:xfrm>
          <a:prstGeom prst="rect">
            <a:avLst/>
          </a:prstGeom>
          <a:noFill/>
        </p:spPr>
        <p:txBody>
          <a:bodyPr wrap="none" lIns="0" rIns="0" tIns="0" bIns="0" anchor="t">
            <a:spAutoFit/>
          </a:bodyPr>
          <a:lstStyle/>
          <a:p>
            <a:pPr algn="ctr">
              <a:lnSpc>
                <a:spcPts val="1547"/>
              </a:lnSpc>
              <a:spcBef>
                <a:spcPts val="0"/>
              </a:spcBef>
              <a:spcAft>
                <a:spcPts val="0"/>
              </a:spcAft>
              <a:defRPr sz="1300" b="0">
                <a:solidFill>
                  <a:srgbClr val="B4C9C8"/>
                </a:solidFill>
                <a:latin typeface="Segoe UI"/>
              </a:defRPr>
            </a:pPr>
            <a:r>
              <a:t>Your home base</a:t>
            </a:r>
          </a:p>
        </p:txBody>
      </p:sp>
      <p:cxnSp>
        <p:nvCxnSpPr>
          <p:cNvPr id="14" name="Connector 13"/>
          <p:cNvCxnSpPr/>
          <p:nvPr/>
        </p:nvCxnSpPr>
        <p:spPr>
          <a:xfrm flipV="1">
            <a:off x="3695700" y="2882900"/>
            <a:ext cx="1270000" cy="113030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65700" y="2451100"/>
            <a:ext cx="6616700" cy="876300"/>
          </a:xfrm>
          <a:prstGeom prst="roundRect">
            <a:avLst>
              <a:gd name="adj" fmla="val 7246"/>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9700" y="25908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CORE WORKFLOW</a:t>
            </a:r>
          </a:p>
        </p:txBody>
      </p:sp>
      <p:sp>
        <p:nvSpPr>
          <p:cNvPr id="17" name="TextBox 16"/>
          <p:cNvSpPr txBox="1"/>
          <p:nvPr/>
        </p:nvSpPr>
        <p:spPr>
          <a:xfrm>
            <a:off x="5219700" y="28321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TradeFlowKit</a:t>
            </a:r>
          </a:p>
        </p:txBody>
      </p:sp>
      <p:cxnSp>
        <p:nvCxnSpPr>
          <p:cNvPr id="18" name="Connector 17"/>
          <p:cNvCxnSpPr/>
          <p:nvPr/>
        </p:nvCxnSpPr>
        <p:spPr>
          <a:xfrm flipV="1">
            <a:off x="3695700" y="3949700"/>
            <a:ext cx="1270000" cy="6350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65700" y="3517900"/>
            <a:ext cx="6616700" cy="876300"/>
          </a:xfrm>
          <a:prstGeom prst="roundRect">
            <a:avLst>
              <a:gd name="adj" fmla="val 7246"/>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9700" y="36576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CHOSEN COMPANION</a:t>
            </a:r>
          </a:p>
        </p:txBody>
      </p:sp>
      <p:sp>
        <p:nvSpPr>
          <p:cNvPr id="21" name="TextBox 20"/>
          <p:cNvSpPr txBox="1"/>
          <p:nvPr/>
        </p:nvSpPr>
        <p:spPr>
          <a:xfrm>
            <a:off x="5219700" y="38989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SnapProofOS</a:t>
            </a:r>
          </a:p>
        </p:txBody>
      </p:sp>
      <p:cxnSp>
        <p:nvCxnSpPr>
          <p:cNvPr id="22" name="Connector 21"/>
          <p:cNvCxnSpPr/>
          <p:nvPr/>
        </p:nvCxnSpPr>
        <p:spPr>
          <a:xfrm>
            <a:off x="3695700" y="4013200"/>
            <a:ext cx="1270000" cy="100330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65700" y="4584700"/>
            <a:ext cx="6616700" cy="876300"/>
          </a:xfrm>
          <a:prstGeom prst="roundRect">
            <a:avLst>
              <a:gd name="adj" fmla="val 7246"/>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9700" y="47244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CENTRAL CONTROLS</a:t>
            </a:r>
          </a:p>
        </p:txBody>
      </p:sp>
      <p:sp>
        <p:nvSpPr>
          <p:cNvPr id="25" name="TextBox 24"/>
          <p:cNvSpPr txBox="1"/>
          <p:nvPr/>
        </p:nvSpPr>
        <p:spPr>
          <a:xfrm>
            <a:off x="5219700" y="4965700"/>
            <a:ext cx="6057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People • roles • access • billing</a:t>
            </a:r>
          </a:p>
        </p:txBody>
      </p:sp>
      <p:sp>
        <p:nvSpPr>
          <p:cNvPr id="26" name="TextBox 25"/>
          <p:cNvSpPr txBox="1"/>
          <p:nvPr/>
        </p:nvSpPr>
        <p:spPr>
          <a:xfrm>
            <a:off x="609600" y="5930900"/>
            <a:ext cx="10960100" cy="277495"/>
          </a:xfrm>
          <a:prstGeom prst="rect">
            <a:avLst/>
          </a:prstGeom>
          <a:noFill/>
        </p:spPr>
        <p:txBody>
          <a:bodyPr wrap="none" lIns="0" rIns="0" tIns="0" bIns="0" anchor="t">
            <a:spAutoFit/>
          </a:bodyPr>
          <a:lstStyle/>
          <a:p>
            <a:pPr algn="l">
              <a:lnSpc>
                <a:spcPts val="1784"/>
              </a:lnSpc>
              <a:spcBef>
                <a:spcPts val="0"/>
              </a:spcBef>
              <a:spcAft>
                <a:spcPts val="0"/>
              </a:spcAft>
              <a:defRPr sz="1500" b="0">
                <a:solidFill>
                  <a:srgbClr val="B4C9C8"/>
                </a:solidFill>
                <a:latin typeface="Segoe UI"/>
              </a:defRPr>
            </a:pPr>
            <a:r>
              <a:t>One flagship per organization. Expand with the eligible companions your team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e operating essentials, connected to the work.">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WHAT THE TEAM GETS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The operating essentials,</a:t>
            </a:r>
          </a:p>
          <a:p>
            <a:pPr algn="l">
              <a:lnSpc>
                <a:spcPts val="4284"/>
              </a:lnSpc>
              <a:spcBef>
                <a:spcPts val="0"/>
              </a:spcBef>
              <a:spcAft>
                <a:spcPts val="0"/>
              </a:spcAft>
              <a:defRPr sz="3600" b="1">
                <a:solidFill>
                  <a:srgbClr val="F3FAF7"/>
                </a:solidFill>
                <a:latin typeface="Segoe UI"/>
              </a:defRPr>
            </a:pPr>
            <a:r>
              <a:t>connected to the work.</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05 / 20</a:t>
            </a:r>
          </a:p>
        </p:txBody>
      </p:sp>
      <p:sp>
        <p:nvSpPr>
          <p:cNvPr id="9" name="Rounded Rectangle 8"/>
          <p:cNvSpPr/>
          <p:nvPr/>
        </p:nvSpPr>
        <p:spPr>
          <a:xfrm>
            <a:off x="609600" y="24257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01</a:t>
            </a:r>
          </a:p>
        </p:txBody>
      </p:sp>
      <p:sp>
        <p:nvSpPr>
          <p:cNvPr id="11" name="TextBox 10"/>
          <p:cNvSpPr txBox="1"/>
          <p:nvPr/>
        </p:nvSpPr>
        <p:spPr>
          <a:xfrm>
            <a:off x="8128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Win the next job</a:t>
            </a:r>
          </a:p>
        </p:txBody>
      </p:sp>
      <p:sp>
        <p:nvSpPr>
          <p:cNvPr id="12" name="TextBox 11"/>
          <p:cNvSpPr txBox="1"/>
          <p:nvPr/>
        </p:nvSpPr>
        <p:spPr>
          <a:xfrm>
            <a:off x="8128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Lead pipeline, follow-up status,</a:t>
            </a:r>
          </a:p>
          <a:p>
            <a:pPr algn="l">
              <a:lnSpc>
                <a:spcPts val="1844"/>
              </a:lnSpc>
              <a:spcBef>
                <a:spcPts val="0"/>
              </a:spcBef>
              <a:spcAft>
                <a:spcPts val="0"/>
              </a:spcAft>
              <a:defRPr sz="1550" b="0">
                <a:solidFill>
                  <a:srgbClr val="B4C9C8"/>
                </a:solidFill>
                <a:latin typeface="Segoe UI"/>
              </a:defRPr>
            </a:pPr>
            <a:r>
              <a:t>saved views and lead-to-job</a:t>
            </a:r>
          </a:p>
          <a:p>
            <a:pPr algn="l">
              <a:lnSpc>
                <a:spcPts val="1844"/>
              </a:lnSpc>
              <a:spcBef>
                <a:spcPts val="0"/>
              </a:spcBef>
              <a:spcAft>
                <a:spcPts val="0"/>
              </a:spcAft>
              <a:defRPr sz="1550" b="0">
                <a:solidFill>
                  <a:srgbClr val="B4C9C8"/>
                </a:solidFill>
                <a:latin typeface="Segoe UI"/>
              </a:defRPr>
            </a:pPr>
            <a:r>
              <a:t>conversion.</a:t>
            </a:r>
          </a:p>
        </p:txBody>
      </p:sp>
      <p:sp>
        <p:nvSpPr>
          <p:cNvPr id="13" name="Rounded Rectangle 12"/>
          <p:cNvSpPr/>
          <p:nvPr/>
        </p:nvSpPr>
        <p:spPr>
          <a:xfrm>
            <a:off x="4368800" y="24257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02</a:t>
            </a:r>
          </a:p>
        </p:txBody>
      </p:sp>
      <p:sp>
        <p:nvSpPr>
          <p:cNvPr id="15" name="TextBox 14"/>
          <p:cNvSpPr txBox="1"/>
          <p:nvPr/>
        </p:nvSpPr>
        <p:spPr>
          <a:xfrm>
            <a:off x="45720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Prepare the crew</a:t>
            </a:r>
          </a:p>
        </p:txBody>
      </p:sp>
      <p:sp>
        <p:nvSpPr>
          <p:cNvPr id="16" name="TextBox 15"/>
          <p:cNvSpPr txBox="1"/>
          <p:nvPr/>
        </p:nvSpPr>
        <p:spPr>
          <a:xfrm>
            <a:off x="45720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Customer and site records,</a:t>
            </a:r>
          </a:p>
          <a:p>
            <a:pPr algn="l">
              <a:lnSpc>
                <a:spcPts val="1844"/>
              </a:lnSpc>
              <a:spcBef>
                <a:spcPts val="0"/>
              </a:spcBef>
              <a:spcAft>
                <a:spcPts val="0"/>
              </a:spcAft>
              <a:defRPr sz="1550" b="0">
                <a:solidFill>
                  <a:srgbClr val="B4C9C8"/>
                </a:solidFill>
                <a:latin typeface="Segoe UI"/>
              </a:defRPr>
            </a:pPr>
            <a:r>
              <a:t>numbered jobs, dates, owners and</a:t>
            </a:r>
          </a:p>
          <a:p>
            <a:pPr algn="l">
              <a:lnSpc>
                <a:spcPts val="1844"/>
              </a:lnSpc>
              <a:spcBef>
                <a:spcPts val="0"/>
              </a:spcBef>
              <a:spcAft>
                <a:spcPts val="0"/>
              </a:spcAft>
              <a:defRPr sz="1550" b="0">
                <a:solidFill>
                  <a:srgbClr val="B4C9C8"/>
                </a:solidFill>
                <a:latin typeface="Segoe UI"/>
              </a:defRPr>
            </a:pPr>
            <a:r>
              <a:t>ordered tasks.</a:t>
            </a:r>
          </a:p>
        </p:txBody>
      </p:sp>
      <p:sp>
        <p:nvSpPr>
          <p:cNvPr id="17" name="Rounded Rectangle 16"/>
          <p:cNvSpPr/>
          <p:nvPr/>
        </p:nvSpPr>
        <p:spPr>
          <a:xfrm>
            <a:off x="8128000" y="24257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2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03</a:t>
            </a:r>
          </a:p>
        </p:txBody>
      </p:sp>
      <p:sp>
        <p:nvSpPr>
          <p:cNvPr id="19" name="TextBox 18"/>
          <p:cNvSpPr txBox="1"/>
          <p:nvPr/>
        </p:nvSpPr>
        <p:spPr>
          <a:xfrm>
            <a:off x="83312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Repeat good work</a:t>
            </a:r>
          </a:p>
        </p:txBody>
      </p:sp>
      <p:sp>
        <p:nvSpPr>
          <p:cNvPr id="20" name="TextBox 19"/>
          <p:cNvSpPr txBox="1"/>
          <p:nvPr/>
        </p:nvSpPr>
        <p:spPr>
          <a:xfrm>
            <a:off x="83312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Reusable workflow stages,</a:t>
            </a:r>
          </a:p>
          <a:p>
            <a:pPr algn="l">
              <a:lnSpc>
                <a:spcPts val="1844"/>
              </a:lnSpc>
              <a:spcBef>
                <a:spcPts val="0"/>
              </a:spcBef>
              <a:spcAft>
                <a:spcPts val="0"/>
              </a:spcAft>
              <a:defRPr sz="1550" b="0">
                <a:solidFill>
                  <a:srgbClr val="B4C9C8"/>
                </a:solidFill>
                <a:latin typeface="Segoe UI"/>
              </a:defRPr>
            </a:pPr>
            <a:r>
              <a:t>recurring jobs, pause controls and</a:t>
            </a:r>
          </a:p>
          <a:p>
            <a:pPr algn="l">
              <a:lnSpc>
                <a:spcPts val="1844"/>
              </a:lnSpc>
              <a:spcBef>
                <a:spcPts val="0"/>
              </a:spcBef>
              <a:spcAft>
                <a:spcPts val="0"/>
              </a:spcAft>
              <a:defRPr sz="1550" b="0">
                <a:solidFill>
                  <a:srgbClr val="B4C9C8"/>
                </a:solidFill>
                <a:latin typeface="Segoe UI"/>
              </a:defRPr>
            </a:pPr>
            <a:r>
              <a:t>run history.</a:t>
            </a:r>
          </a:p>
        </p:txBody>
      </p:sp>
      <p:sp>
        <p:nvSpPr>
          <p:cNvPr id="21" name="Rounded Rectangle 20"/>
          <p:cNvSpPr/>
          <p:nvPr/>
        </p:nvSpPr>
        <p:spPr>
          <a:xfrm>
            <a:off x="609600" y="42799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8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04</a:t>
            </a:r>
          </a:p>
        </p:txBody>
      </p:sp>
      <p:sp>
        <p:nvSpPr>
          <p:cNvPr id="23" name="TextBox 22"/>
          <p:cNvSpPr txBox="1"/>
          <p:nvPr/>
        </p:nvSpPr>
        <p:spPr>
          <a:xfrm>
            <a:off x="8128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Make the quote clear</a:t>
            </a:r>
          </a:p>
        </p:txBody>
      </p:sp>
      <p:sp>
        <p:nvSpPr>
          <p:cNvPr id="24" name="TextBox 23"/>
          <p:cNvSpPr txBox="1"/>
          <p:nvPr/>
        </p:nvSpPr>
        <p:spPr>
          <a:xfrm>
            <a:off x="8128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Line items, totals, customer</a:t>
            </a:r>
          </a:p>
          <a:p>
            <a:pPr algn="l">
              <a:lnSpc>
                <a:spcPts val="1844"/>
              </a:lnSpc>
              <a:spcBef>
                <a:spcPts val="0"/>
              </a:spcBef>
              <a:spcAft>
                <a:spcPts val="0"/>
              </a:spcAft>
              <a:defRPr sz="1550" b="0">
                <a:solidFill>
                  <a:srgbClr val="B4C9C8"/>
                </a:solidFill>
                <a:latin typeface="Segoe UI"/>
              </a:defRPr>
            </a:pPr>
            <a:r>
              <a:t>decisions and quote-to-invoice</a:t>
            </a:r>
          </a:p>
          <a:p>
            <a:pPr algn="l">
              <a:lnSpc>
                <a:spcPts val="1844"/>
              </a:lnSpc>
              <a:spcBef>
                <a:spcPts val="0"/>
              </a:spcBef>
              <a:spcAft>
                <a:spcPts val="0"/>
              </a:spcAft>
              <a:defRPr sz="1550" b="0">
                <a:solidFill>
                  <a:srgbClr val="B4C9C8"/>
                </a:solidFill>
                <a:latin typeface="Segoe UI"/>
              </a:defRPr>
            </a:pPr>
            <a:r>
              <a:t>continuity.</a:t>
            </a:r>
          </a:p>
        </p:txBody>
      </p:sp>
      <p:sp>
        <p:nvSpPr>
          <p:cNvPr id="25" name="Rounded Rectangle 24"/>
          <p:cNvSpPr/>
          <p:nvPr/>
        </p:nvSpPr>
        <p:spPr>
          <a:xfrm>
            <a:off x="4368800" y="42799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05</a:t>
            </a:r>
          </a:p>
        </p:txBody>
      </p:sp>
      <p:sp>
        <p:nvSpPr>
          <p:cNvPr id="27" name="TextBox 26"/>
          <p:cNvSpPr txBox="1"/>
          <p:nvPr/>
        </p:nvSpPr>
        <p:spPr>
          <a:xfrm>
            <a:off x="45720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Follow the balance</a:t>
            </a:r>
          </a:p>
        </p:txBody>
      </p:sp>
      <p:sp>
        <p:nvSpPr>
          <p:cNvPr id="28" name="TextBox 27"/>
          <p:cNvSpPr txBox="1"/>
          <p:nvPr/>
        </p:nvSpPr>
        <p:spPr>
          <a:xfrm>
            <a:off x="45720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Invoices, manual payment</a:t>
            </a:r>
          </a:p>
          <a:p>
            <a:pPr algn="l">
              <a:lnSpc>
                <a:spcPts val="1844"/>
              </a:lnSpc>
              <a:spcBef>
                <a:spcPts val="0"/>
              </a:spcBef>
              <a:spcAft>
                <a:spcPts val="0"/>
              </a:spcAft>
              <a:defRPr sz="1550" b="0">
                <a:solidFill>
                  <a:srgbClr val="B4C9C8"/>
                </a:solidFill>
                <a:latin typeface="Segoe UI"/>
              </a:defRPr>
            </a:pPr>
            <a:r>
              <a:t>references, balances, refunds and</a:t>
            </a:r>
          </a:p>
          <a:p>
            <a:pPr algn="l">
              <a:lnSpc>
                <a:spcPts val="1844"/>
              </a:lnSpc>
              <a:spcBef>
                <a:spcPts val="0"/>
              </a:spcBef>
              <a:spcAft>
                <a:spcPts val="0"/>
              </a:spcAft>
              <a:defRPr sz="1550" b="0">
                <a:solidFill>
                  <a:srgbClr val="B4C9C8"/>
                </a:solidFill>
                <a:latin typeface="Segoe UI"/>
              </a:defRPr>
            </a:pPr>
            <a:r>
              <a:t>settlement state.</a:t>
            </a:r>
          </a:p>
        </p:txBody>
      </p:sp>
      <p:sp>
        <p:nvSpPr>
          <p:cNvPr id="29" name="Rounded Rectangle 28"/>
          <p:cNvSpPr/>
          <p:nvPr/>
        </p:nvSpPr>
        <p:spPr>
          <a:xfrm>
            <a:off x="8128000" y="4279900"/>
            <a:ext cx="3454400" cy="1638300"/>
          </a:xfrm>
          <a:prstGeom prst="roundRect">
            <a:avLst>
              <a:gd name="adj" fmla="val 465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2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80EDBA"/>
                </a:solidFill>
                <a:latin typeface="Consolas"/>
              </a:defRPr>
            </a:pPr>
            <a:r>
              <a:t>06</a:t>
            </a:r>
          </a:p>
        </p:txBody>
      </p:sp>
      <p:sp>
        <p:nvSpPr>
          <p:cNvPr id="31" name="TextBox 30"/>
          <p:cNvSpPr txBox="1"/>
          <p:nvPr/>
        </p:nvSpPr>
        <p:spPr>
          <a:xfrm>
            <a:off x="83312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See the pressure</a:t>
            </a:r>
          </a:p>
        </p:txBody>
      </p:sp>
      <p:sp>
        <p:nvSpPr>
          <p:cNvPr id="32" name="TextBox 31"/>
          <p:cNvSpPr txBox="1"/>
          <p:nvPr/>
        </p:nvSpPr>
        <p:spPr>
          <a:xfrm>
            <a:off x="83312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B4C9C8"/>
                </a:solidFill>
                <a:latin typeface="Segoe UI"/>
              </a:defRPr>
            </a:pPr>
            <a:r>
              <a:t>Revenue Rescue, workload views,</a:t>
            </a:r>
          </a:p>
          <a:p>
            <a:pPr algn="l">
              <a:lnSpc>
                <a:spcPts val="1844"/>
              </a:lnSpc>
              <a:spcBef>
                <a:spcPts val="0"/>
              </a:spcBef>
              <a:spcAft>
                <a:spcPts val="0"/>
              </a:spcAft>
              <a:defRPr sz="1550" b="0">
                <a:solidFill>
                  <a:srgbClr val="B4C9C8"/>
                </a:solidFill>
                <a:latin typeface="Segoe UI"/>
              </a:defRPr>
            </a:pPr>
            <a:r>
              <a:t>business activity and accounting</a:t>
            </a:r>
          </a:p>
          <a:p>
            <a:pPr algn="l">
              <a:lnSpc>
                <a:spcPts val="1844"/>
              </a:lnSpc>
              <a:spcBef>
                <a:spcPts val="0"/>
              </a:spcBef>
              <a:spcAft>
                <a:spcPts val="0"/>
              </a:spcAft>
              <a:defRPr sz="1550" b="0">
                <a:solidFill>
                  <a:srgbClr val="B4C9C8"/>
                </a:solidFill>
                <a:latin typeface="Segoe UI"/>
              </a:defRPr>
            </a:pPr>
            <a:r>
              <a:t>exports.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tart the day where revenue gets stuck.">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REVENUE RESCUE</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Start the day where</a:t>
            </a:r>
          </a:p>
          <a:p>
            <a:pPr algn="l">
              <a:lnSpc>
                <a:spcPts val="4284"/>
              </a:lnSpc>
              <a:spcBef>
                <a:spcPts val="0"/>
              </a:spcBef>
              <a:spcAft>
                <a:spcPts val="0"/>
              </a:spcAft>
              <a:defRPr sz="3600" b="1">
                <a:solidFill>
                  <a:srgbClr val="F3FAF7"/>
                </a:solidFill>
                <a:latin typeface="Segoe UI"/>
              </a:defRPr>
            </a:pPr>
            <a:r>
              <a:t>revenue gets stuck.</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06 / 20</a:t>
            </a:r>
          </a:p>
        </p:txBody>
      </p:sp>
      <p:sp>
        <p:nvSpPr>
          <p:cNvPr id="9" name="TextBox 8"/>
          <p:cNvSpPr txBox="1"/>
          <p:nvPr/>
        </p:nvSpPr>
        <p:spPr>
          <a:xfrm>
            <a:off x="609600" y="2641600"/>
            <a:ext cx="3695700" cy="1501648"/>
          </a:xfrm>
          <a:prstGeom prst="rect">
            <a:avLst/>
          </a:prstGeom>
          <a:noFill/>
        </p:spPr>
        <p:txBody>
          <a:bodyPr wrap="none" lIns="0" rIns="0" tIns="0" bIns="0" anchor="t">
            <a:spAutoFit/>
          </a:bodyPr>
          <a:lstStyle/>
          <a:p>
            <a:pPr algn="l">
              <a:lnSpc>
                <a:spcPts val="2856"/>
              </a:lnSpc>
              <a:spcBef>
                <a:spcPts val="0"/>
              </a:spcBef>
              <a:spcAft>
                <a:spcPts val="0"/>
              </a:spcAft>
              <a:defRPr sz="2400" b="0">
                <a:solidFill>
                  <a:srgbClr val="B4C9C8"/>
                </a:solidFill>
                <a:latin typeface="Segoe UI"/>
              </a:defRPr>
            </a:pPr>
            <a:r>
              <a:t>A ranked workday brief</a:t>
            </a:r>
          </a:p>
          <a:p>
            <a:pPr algn="l">
              <a:lnSpc>
                <a:spcPts val="2856"/>
              </a:lnSpc>
              <a:spcBef>
                <a:spcPts val="0"/>
              </a:spcBef>
              <a:spcAft>
                <a:spcPts val="0"/>
              </a:spcAft>
              <a:defRPr sz="2400" b="0">
                <a:solidFill>
                  <a:srgbClr val="B4C9C8"/>
                </a:solidFill>
                <a:latin typeface="Segoe UI"/>
              </a:defRPr>
            </a:pPr>
            <a:r>
              <a:t>turns recorded business</a:t>
            </a:r>
          </a:p>
          <a:p>
            <a:pPr algn="l">
              <a:lnSpc>
                <a:spcPts val="2856"/>
              </a:lnSpc>
              <a:spcBef>
                <a:spcPts val="0"/>
              </a:spcBef>
              <a:spcAft>
                <a:spcPts val="0"/>
              </a:spcAft>
              <a:defRPr sz="2400" b="0">
                <a:solidFill>
                  <a:srgbClr val="B4C9C8"/>
                </a:solidFill>
                <a:latin typeface="Segoe UI"/>
              </a:defRPr>
            </a:pPr>
            <a:r>
              <a:t>activity into the next useful</a:t>
            </a:r>
          </a:p>
          <a:p>
            <a:pPr algn="l">
              <a:lnSpc>
                <a:spcPts val="2856"/>
              </a:lnSpc>
              <a:spcBef>
                <a:spcPts val="0"/>
              </a:spcBef>
              <a:spcAft>
                <a:spcPts val="0"/>
              </a:spcAft>
              <a:defRPr sz="2400" b="0">
                <a:solidFill>
                  <a:srgbClr val="B4C9C8"/>
                </a:solidFill>
                <a:latin typeface="Segoe UI"/>
              </a:defRPr>
            </a:pPr>
            <a:r>
              <a:t>action.</a:t>
            </a:r>
          </a:p>
        </p:txBody>
      </p:sp>
      <p:sp>
        <p:nvSpPr>
          <p:cNvPr id="10" name="Rounded Rectangle 9"/>
          <p:cNvSpPr/>
          <p:nvPr/>
        </p:nvSpPr>
        <p:spPr>
          <a:xfrm>
            <a:off x="4864100" y="2476500"/>
            <a:ext cx="6718300" cy="685800"/>
          </a:xfrm>
          <a:prstGeom prst="roundRect">
            <a:avLst>
              <a:gd name="adj" fmla="val 7407"/>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41900" y="2679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80EDBA"/>
                </a:solidFill>
                <a:latin typeface="Consolas"/>
              </a:defRPr>
            </a:pPr>
            <a:r>
              <a:t>01</a:t>
            </a:r>
          </a:p>
        </p:txBody>
      </p:sp>
      <p:sp>
        <p:nvSpPr>
          <p:cNvPr id="12" name="TextBox 11"/>
          <p:cNvSpPr txBox="1"/>
          <p:nvPr/>
        </p:nvSpPr>
        <p:spPr>
          <a:xfrm>
            <a:off x="5575300" y="2565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3FAF7"/>
                </a:solidFill>
                <a:latin typeface="Segoe UI"/>
              </a:defRPr>
            </a:pPr>
            <a:r>
              <a:t>Overdue invoice</a:t>
            </a:r>
          </a:p>
        </p:txBody>
      </p:sp>
      <p:sp>
        <p:nvSpPr>
          <p:cNvPr id="13" name="TextBox 12"/>
          <p:cNvSpPr txBox="1"/>
          <p:nvPr/>
        </p:nvSpPr>
        <p:spPr>
          <a:xfrm>
            <a:off x="5575300" y="2882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B4C9C8"/>
                </a:solidFill>
                <a:latin typeface="Segoe UI"/>
              </a:defRPr>
            </a:pPr>
            <a:r>
              <a:t>Review the balance and follow-up.</a:t>
            </a:r>
          </a:p>
        </p:txBody>
      </p:sp>
      <p:sp>
        <p:nvSpPr>
          <p:cNvPr id="14" name="Rounded Rectangle 13"/>
          <p:cNvSpPr/>
          <p:nvPr/>
        </p:nvSpPr>
        <p:spPr>
          <a:xfrm>
            <a:off x="4864100" y="3238500"/>
            <a:ext cx="6718300" cy="685800"/>
          </a:xfrm>
          <a:prstGeom prst="roundRect">
            <a:avLst>
              <a:gd name="adj" fmla="val 7407"/>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1900" y="3441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80EDBA"/>
                </a:solidFill>
                <a:latin typeface="Consolas"/>
              </a:defRPr>
            </a:pPr>
            <a:r>
              <a:t>02</a:t>
            </a:r>
          </a:p>
        </p:txBody>
      </p:sp>
      <p:sp>
        <p:nvSpPr>
          <p:cNvPr id="16" name="TextBox 15"/>
          <p:cNvSpPr txBox="1"/>
          <p:nvPr/>
        </p:nvSpPr>
        <p:spPr>
          <a:xfrm>
            <a:off x="5575300" y="3327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3FAF7"/>
                </a:solidFill>
                <a:latin typeface="Segoe UI"/>
              </a:defRPr>
            </a:pPr>
            <a:r>
              <a:t>Accepted quote</a:t>
            </a:r>
          </a:p>
        </p:txBody>
      </p:sp>
      <p:sp>
        <p:nvSpPr>
          <p:cNvPr id="17" name="TextBox 16"/>
          <p:cNvSpPr txBox="1"/>
          <p:nvPr/>
        </p:nvSpPr>
        <p:spPr>
          <a:xfrm>
            <a:off x="5575300" y="3644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B4C9C8"/>
                </a:solidFill>
                <a:latin typeface="Segoe UI"/>
              </a:defRPr>
            </a:pPr>
            <a:r>
              <a:t>Check the missing invoice handoff.</a:t>
            </a:r>
          </a:p>
        </p:txBody>
      </p:sp>
      <p:sp>
        <p:nvSpPr>
          <p:cNvPr id="18" name="Rounded Rectangle 17"/>
          <p:cNvSpPr/>
          <p:nvPr/>
        </p:nvSpPr>
        <p:spPr>
          <a:xfrm>
            <a:off x="4864100" y="4000500"/>
            <a:ext cx="6718300" cy="685800"/>
          </a:xfrm>
          <a:prstGeom prst="roundRect">
            <a:avLst>
              <a:gd name="adj" fmla="val 7407"/>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1900" y="4203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80EDBA"/>
                </a:solidFill>
                <a:latin typeface="Consolas"/>
              </a:defRPr>
            </a:pPr>
            <a:r>
              <a:t>03</a:t>
            </a:r>
          </a:p>
        </p:txBody>
      </p:sp>
      <p:sp>
        <p:nvSpPr>
          <p:cNvPr id="20" name="TextBox 19"/>
          <p:cNvSpPr txBox="1"/>
          <p:nvPr/>
        </p:nvSpPr>
        <p:spPr>
          <a:xfrm>
            <a:off x="5575300" y="4089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3FAF7"/>
                </a:solidFill>
                <a:latin typeface="Segoe UI"/>
              </a:defRPr>
            </a:pPr>
            <a:r>
              <a:t>Finished job</a:t>
            </a:r>
          </a:p>
        </p:txBody>
      </p:sp>
      <p:sp>
        <p:nvSpPr>
          <p:cNvPr id="21" name="TextBox 20"/>
          <p:cNvSpPr txBox="1"/>
          <p:nvPr/>
        </p:nvSpPr>
        <p:spPr>
          <a:xfrm>
            <a:off x="5575300" y="4406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B4C9C8"/>
                </a:solidFill>
                <a:latin typeface="Segoe UI"/>
              </a:defRPr>
            </a:pPr>
            <a:r>
              <a:t>Review work still awaiting billing.</a:t>
            </a:r>
          </a:p>
        </p:txBody>
      </p:sp>
      <p:sp>
        <p:nvSpPr>
          <p:cNvPr id="22" name="Rounded Rectangle 21"/>
          <p:cNvSpPr/>
          <p:nvPr/>
        </p:nvSpPr>
        <p:spPr>
          <a:xfrm>
            <a:off x="4864100" y="4762500"/>
            <a:ext cx="6718300" cy="685800"/>
          </a:xfrm>
          <a:prstGeom prst="roundRect">
            <a:avLst>
              <a:gd name="adj" fmla="val 7407"/>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41900" y="4965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80EDBA"/>
                </a:solidFill>
                <a:latin typeface="Consolas"/>
              </a:defRPr>
            </a:pPr>
            <a:r>
              <a:t>04</a:t>
            </a:r>
          </a:p>
        </p:txBody>
      </p:sp>
      <p:sp>
        <p:nvSpPr>
          <p:cNvPr id="24" name="TextBox 23"/>
          <p:cNvSpPr txBox="1"/>
          <p:nvPr/>
        </p:nvSpPr>
        <p:spPr>
          <a:xfrm>
            <a:off x="5575300" y="4851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3FAF7"/>
                </a:solidFill>
                <a:latin typeface="Segoe UI"/>
              </a:defRPr>
            </a:pPr>
            <a:r>
              <a:t>Late or blocked task</a:t>
            </a:r>
          </a:p>
        </p:txBody>
      </p:sp>
      <p:sp>
        <p:nvSpPr>
          <p:cNvPr id="25" name="TextBox 24"/>
          <p:cNvSpPr txBox="1"/>
          <p:nvPr/>
        </p:nvSpPr>
        <p:spPr>
          <a:xfrm>
            <a:off x="5575300" y="5168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B4C9C8"/>
                </a:solidFill>
                <a:latin typeface="Segoe UI"/>
              </a:defRPr>
            </a:pPr>
            <a:r>
              <a:t>Open the delivery work at risk.</a:t>
            </a:r>
          </a:p>
        </p:txBody>
      </p:sp>
      <p:sp>
        <p:nvSpPr>
          <p:cNvPr id="26" name="TextBox 25"/>
          <p:cNvSpPr txBox="1"/>
          <p:nvPr/>
        </p:nvSpPr>
        <p:spPr>
          <a:xfrm>
            <a:off x="609600" y="5397500"/>
            <a:ext cx="3721100" cy="564642"/>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Every priority leads back to a real</a:t>
            </a:r>
          </a:p>
          <a:p>
            <a:pPr algn="l">
              <a:lnSpc>
                <a:spcPts val="2023"/>
              </a:lnSpc>
              <a:spcBef>
                <a:spcPts val="0"/>
              </a:spcBef>
              <a:spcAft>
                <a:spcPts val="0"/>
              </a:spcAft>
              <a:defRPr sz="1700" b="1">
                <a:solidFill>
                  <a:srgbClr val="80EDBA"/>
                </a:solidFill>
                <a:latin typeface="Segoe UI"/>
              </a:defRPr>
            </a:pPr>
            <a:r>
              <a:t>business record.</a:t>
            </a:r>
          </a:p>
        </p:txBody>
      </p:sp>
      <p:sp>
        <p:nvSpPr>
          <p:cNvPr id="27" name="TextBox 26"/>
          <p:cNvSpPr txBox="1"/>
          <p:nvPr/>
        </p:nvSpPr>
        <p:spPr>
          <a:xfrm>
            <a:off x="4864100" y="5765800"/>
            <a:ext cx="6718300" cy="194373"/>
          </a:xfrm>
          <a:prstGeom prst="rect">
            <a:avLst/>
          </a:prstGeom>
          <a:noFill/>
        </p:spPr>
        <p:txBody>
          <a:bodyPr wrap="none" lIns="0" rIns="0" tIns="0" bIns="0" anchor="t">
            <a:spAutoFit/>
          </a:bodyPr>
          <a:lstStyle/>
          <a:p>
            <a:pPr algn="l">
              <a:lnSpc>
                <a:spcPts val="1130"/>
              </a:lnSpc>
              <a:spcBef>
                <a:spcPts val="0"/>
              </a:spcBef>
              <a:spcAft>
                <a:spcPts val="0"/>
              </a:spcAft>
              <a:defRPr sz="950" b="0">
                <a:solidFill>
                  <a:srgbClr val="B4C9C8"/>
                </a:solidFill>
                <a:latin typeface="Segoe UI"/>
              </a:defRPr>
            </a:pPr>
            <a:r>
              <a:t>WORKFLOW DIAGRAM / ILLUSTRATIVE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The estimate that never gets lost.">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ILLUSTRATIVE SCENARIO 01 / HVAC / ESTIMATE TO INSTALL</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The estimate that</a:t>
            </a:r>
          </a:p>
          <a:p>
            <a:pPr algn="l">
              <a:lnSpc>
                <a:spcPts val="4284"/>
              </a:lnSpc>
              <a:spcBef>
                <a:spcPts val="0"/>
              </a:spcBef>
              <a:spcAft>
                <a:spcPts val="0"/>
              </a:spcAft>
              <a:defRPr sz="3600" b="1">
                <a:solidFill>
                  <a:srgbClr val="F3FAF7"/>
                </a:solidFill>
                <a:latin typeface="Segoe UI"/>
              </a:defRPr>
            </a:pPr>
            <a:r>
              <a:t>never gets lost.</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07 / 20</a:t>
            </a:r>
          </a:p>
        </p:txBody>
      </p:sp>
      <p:sp>
        <p:nvSpPr>
          <p:cNvPr id="9" name="Rounded Rectangle 8"/>
          <p:cNvSpPr/>
          <p:nvPr/>
        </p:nvSpPr>
        <p:spPr>
          <a:xfrm>
            <a:off x="609600" y="2374900"/>
            <a:ext cx="3429000" cy="3581400"/>
          </a:xfrm>
          <a:prstGeom prst="roundRect">
            <a:avLst>
              <a:gd name="adj" fmla="val 2222"/>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MOMENT</a:t>
            </a:r>
          </a:p>
        </p:txBody>
      </p:sp>
      <p:sp>
        <p:nvSpPr>
          <p:cNvPr id="11" name="TextBox 10"/>
          <p:cNvSpPr txBox="1"/>
          <p:nvPr/>
        </p:nvSpPr>
        <p:spPr>
          <a:xfrm>
            <a:off x="838200" y="2971800"/>
            <a:ext cx="2984500" cy="1380744"/>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3FAF7"/>
                </a:solidFill>
                <a:latin typeface="Segoe UI"/>
              </a:defRPr>
            </a:pPr>
            <a:r>
              <a:t>A replacement-system</a:t>
            </a:r>
          </a:p>
          <a:p>
            <a:pPr algn="l">
              <a:lnSpc>
                <a:spcPts val="2618"/>
              </a:lnSpc>
              <a:spcBef>
                <a:spcPts val="0"/>
              </a:spcBef>
              <a:spcAft>
                <a:spcPts val="0"/>
              </a:spcAft>
              <a:defRPr sz="2200" b="0">
                <a:solidFill>
                  <a:srgbClr val="F3FAF7"/>
                </a:solidFill>
                <a:latin typeface="Segoe UI"/>
              </a:defRPr>
            </a:pPr>
            <a:r>
              <a:t>inquiry arrives during</a:t>
            </a:r>
          </a:p>
          <a:p>
            <a:pPr algn="l">
              <a:lnSpc>
                <a:spcPts val="2618"/>
              </a:lnSpc>
              <a:spcBef>
                <a:spcPts val="0"/>
              </a:spcBef>
              <a:spcAft>
                <a:spcPts val="0"/>
              </a:spcAft>
              <a:defRPr sz="2200" b="0">
                <a:solidFill>
                  <a:srgbClr val="F3FAF7"/>
                </a:solidFill>
                <a:latin typeface="Segoe UI"/>
              </a:defRPr>
            </a:pPr>
            <a:r>
              <a:t>the busiest week of the</a:t>
            </a:r>
          </a:p>
          <a:p>
            <a:pPr algn="l">
              <a:lnSpc>
                <a:spcPts val="2618"/>
              </a:lnSpc>
              <a:spcBef>
                <a:spcPts val="0"/>
              </a:spcBef>
              <a:spcAft>
                <a:spcPts val="0"/>
              </a:spcAft>
              <a:defRPr sz="2200" b="0">
                <a:solidFill>
                  <a:srgbClr val="F3FAF7"/>
                </a:solidFill>
                <a:latin typeface="Segoe UI"/>
              </a:defRPr>
            </a:pPr>
            <a:r>
              <a:t>season.</a:t>
            </a:r>
          </a:p>
        </p:txBody>
      </p:sp>
      <p:sp>
        <p:nvSpPr>
          <p:cNvPr id="12" name="Oval 11"/>
          <p:cNvSpPr/>
          <p:nvPr/>
        </p:nvSpPr>
        <p:spPr>
          <a:xfrm>
            <a:off x="4457700" y="24130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Capture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Save the lead and name the follow-up owner.</a:t>
            </a:r>
          </a:p>
        </p:txBody>
      </p:sp>
      <p:sp>
        <p:nvSpPr>
          <p:cNvPr id="17" name="Oval 16"/>
          <p:cNvSpPr/>
          <p:nvPr/>
        </p:nvSpPr>
        <p:spPr>
          <a:xfrm>
            <a:off x="4457700" y="32639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Quote</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Prepare the job and quote; record the customer decision.</a:t>
            </a:r>
          </a:p>
        </p:txBody>
      </p:sp>
      <p:sp>
        <p:nvSpPr>
          <p:cNvPr id="22" name="Oval 21"/>
          <p:cNvSpPr/>
          <p:nvPr/>
        </p:nvSpPr>
        <p:spPr>
          <a:xfrm>
            <a:off x="4457700" y="41148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Deliver</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Keep the schedule, tasks and invoice with the customer.</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3FAF7"/>
                </a:solidFill>
                <a:latin typeface="Segoe UI"/>
              </a:defRPr>
            </a:pPr>
            <a:r>
              <a:t>A traceable customer-to-job-to-invoice record.</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B4C9C8"/>
                </a:solidFill>
                <a:latin typeface="Segoe UI"/>
              </a:defRPr>
            </a:pPr>
            <a:r>
              <a:t>MEASURE / Time from qualified inquiry to customer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he customer asks: “What did you finish?”">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ILLUSTRATIVE SCENARIO 02 / ELECTRICAL / COMPLETION EVIDENCE</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The customer asks:</a:t>
            </a:r>
          </a:p>
          <a:p>
            <a:pPr algn="l">
              <a:lnSpc>
                <a:spcPts val="4284"/>
              </a:lnSpc>
              <a:spcBef>
                <a:spcPts val="0"/>
              </a:spcBef>
              <a:spcAft>
                <a:spcPts val="0"/>
              </a:spcAft>
              <a:defRPr sz="3600" b="1">
                <a:solidFill>
                  <a:srgbClr val="F3FAF7"/>
                </a:solidFill>
                <a:latin typeface="Segoe UI"/>
              </a:defRPr>
            </a:pPr>
            <a:r>
              <a:t>“What did you finish?”</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08 / 20</a:t>
            </a:r>
          </a:p>
        </p:txBody>
      </p:sp>
      <p:sp>
        <p:nvSpPr>
          <p:cNvPr id="9" name="Rounded Rectangle 8"/>
          <p:cNvSpPr/>
          <p:nvPr/>
        </p:nvSpPr>
        <p:spPr>
          <a:xfrm>
            <a:off x="609600" y="2374900"/>
            <a:ext cx="3429000" cy="3581400"/>
          </a:xfrm>
          <a:prstGeom prst="roundRect">
            <a:avLst>
              <a:gd name="adj" fmla="val 2222"/>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MOMENT</a:t>
            </a:r>
          </a:p>
        </p:txBody>
      </p:sp>
      <p:sp>
        <p:nvSpPr>
          <p:cNvPr id="11" name="TextBox 10"/>
          <p:cNvSpPr txBox="1"/>
          <p:nvPr/>
        </p:nvSpPr>
        <p:spPr>
          <a:xfrm>
            <a:off x="838200" y="2971800"/>
            <a:ext cx="2984500" cy="1713230"/>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3FAF7"/>
                </a:solidFill>
                <a:latin typeface="Segoe UI"/>
              </a:defRPr>
            </a:pPr>
            <a:r>
              <a:t>A multi-visit electrical</a:t>
            </a:r>
          </a:p>
          <a:p>
            <a:pPr algn="l">
              <a:lnSpc>
                <a:spcPts val="2618"/>
              </a:lnSpc>
              <a:spcBef>
                <a:spcPts val="0"/>
              </a:spcBef>
              <a:spcAft>
                <a:spcPts val="0"/>
              </a:spcAft>
              <a:defRPr sz="2200" b="0">
                <a:solidFill>
                  <a:srgbClr val="F3FAF7"/>
                </a:solidFill>
                <a:latin typeface="Segoe UI"/>
              </a:defRPr>
            </a:pPr>
            <a:r>
              <a:t>job is complete. The</a:t>
            </a:r>
          </a:p>
          <a:p>
            <a:pPr algn="l">
              <a:lnSpc>
                <a:spcPts val="2618"/>
              </a:lnSpc>
              <a:spcBef>
                <a:spcPts val="0"/>
              </a:spcBef>
              <a:spcAft>
                <a:spcPts val="0"/>
              </a:spcAft>
              <a:defRPr sz="2200" b="0">
                <a:solidFill>
                  <a:srgbClr val="F3FAF7"/>
                </a:solidFill>
                <a:latin typeface="Segoe UI"/>
              </a:defRPr>
            </a:pPr>
            <a:r>
              <a:t>office needs a clear</a:t>
            </a:r>
          </a:p>
          <a:p>
            <a:pPr algn="l">
              <a:lnSpc>
                <a:spcPts val="2618"/>
              </a:lnSpc>
              <a:spcBef>
                <a:spcPts val="0"/>
              </a:spcBef>
              <a:spcAft>
                <a:spcPts val="0"/>
              </a:spcAft>
              <a:defRPr sz="2200" b="0">
                <a:solidFill>
                  <a:srgbClr val="F3FAF7"/>
                </a:solidFill>
                <a:latin typeface="Segoe UI"/>
              </a:defRPr>
            </a:pPr>
            <a:r>
              <a:t>account of scope and</a:t>
            </a:r>
          </a:p>
          <a:p>
            <a:pPr algn="l">
              <a:lnSpc>
                <a:spcPts val="2618"/>
              </a:lnSpc>
              <a:spcBef>
                <a:spcPts val="0"/>
              </a:spcBef>
              <a:spcAft>
                <a:spcPts val="0"/>
              </a:spcAft>
              <a:defRPr sz="2200" b="0">
                <a:solidFill>
                  <a:srgbClr val="F3FAF7"/>
                </a:solidFill>
                <a:latin typeface="Segoe UI"/>
              </a:defRPr>
            </a:pPr>
            <a:r>
              <a:t>field work.</a:t>
            </a:r>
          </a:p>
        </p:txBody>
      </p:sp>
      <p:sp>
        <p:nvSpPr>
          <p:cNvPr id="12" name="Oval 11"/>
          <p:cNvSpPr/>
          <p:nvPr/>
        </p:nvSpPr>
        <p:spPr>
          <a:xfrm>
            <a:off x="4457700" y="24130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Connect</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Open the job and its customer context.</a:t>
            </a:r>
          </a:p>
        </p:txBody>
      </p:sp>
      <p:sp>
        <p:nvSpPr>
          <p:cNvPr id="17" name="Oval 16"/>
          <p:cNvSpPr/>
          <p:nvPr/>
        </p:nvSpPr>
        <p:spPr>
          <a:xfrm>
            <a:off x="4457700" y="32639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Document</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With SnapProofOS access, review field photos and findings.</a:t>
            </a:r>
          </a:p>
        </p:txBody>
      </p:sp>
      <p:sp>
        <p:nvSpPr>
          <p:cNvPr id="22" name="Oval 21"/>
          <p:cNvSpPr/>
          <p:nvPr/>
        </p:nvSpPr>
        <p:spPr>
          <a:xfrm>
            <a:off x="4457700" y="41148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Explain</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Return the approved proof report to the originating job.</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3FAF7"/>
                </a:solidFill>
                <a:latin typeface="Segoe UI"/>
              </a:defRPr>
            </a:pPr>
            <a:r>
              <a:t>The job, approved report and invoice context in reach.</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B4C9C8"/>
                </a:solidFill>
                <a:latin typeface="Segoe UI"/>
              </a:defRPr>
            </a:pPr>
            <a:r>
              <a:t>MEASURE / Time spent assembling a customer closeout.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he repeat visit gets a real owner.">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ILLUSTRATIVE SCENARIO 03 / PLUMBING / REPEAT SERVICE</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The repeat visit</a:t>
            </a:r>
          </a:p>
          <a:p>
            <a:pPr algn="l">
              <a:lnSpc>
                <a:spcPts val="4284"/>
              </a:lnSpc>
              <a:spcBef>
                <a:spcPts val="0"/>
              </a:spcBef>
              <a:spcAft>
                <a:spcPts val="0"/>
              </a:spcAft>
              <a:defRPr sz="3600" b="1">
                <a:solidFill>
                  <a:srgbClr val="F3FAF7"/>
                </a:solidFill>
                <a:latin typeface="Segoe UI"/>
              </a:defRPr>
            </a:pPr>
            <a:r>
              <a:t>gets a real owner.</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09 / 20</a:t>
            </a:r>
          </a:p>
        </p:txBody>
      </p:sp>
      <p:sp>
        <p:nvSpPr>
          <p:cNvPr id="9" name="Rounded Rectangle 8"/>
          <p:cNvSpPr/>
          <p:nvPr/>
        </p:nvSpPr>
        <p:spPr>
          <a:xfrm>
            <a:off x="609600" y="2374900"/>
            <a:ext cx="3429000" cy="3581400"/>
          </a:xfrm>
          <a:prstGeom prst="roundRect">
            <a:avLst>
              <a:gd name="adj" fmla="val 2222"/>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MOMENT</a:t>
            </a:r>
          </a:p>
        </p:txBody>
      </p:sp>
      <p:sp>
        <p:nvSpPr>
          <p:cNvPr id="11" name="TextBox 10"/>
          <p:cNvSpPr txBox="1"/>
          <p:nvPr/>
        </p:nvSpPr>
        <p:spPr>
          <a:xfrm>
            <a:off x="838200" y="2971800"/>
            <a:ext cx="2984500" cy="2045715"/>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3FAF7"/>
                </a:solidFill>
                <a:latin typeface="Segoe UI"/>
              </a:defRPr>
            </a:pPr>
            <a:r>
              <a:t>A customer needs</a:t>
            </a:r>
          </a:p>
          <a:p>
            <a:pPr algn="l">
              <a:lnSpc>
                <a:spcPts val="2618"/>
              </a:lnSpc>
              <a:spcBef>
                <a:spcPts val="0"/>
              </a:spcBef>
              <a:spcAft>
                <a:spcPts val="0"/>
              </a:spcAft>
              <a:defRPr sz="2200" b="0">
                <a:solidFill>
                  <a:srgbClr val="F3FAF7"/>
                </a:solidFill>
                <a:latin typeface="Segoe UI"/>
              </a:defRPr>
            </a:pPr>
            <a:r>
              <a:t>recurring maintenance,</a:t>
            </a:r>
          </a:p>
          <a:p>
            <a:pPr algn="l">
              <a:lnSpc>
                <a:spcPts val="2618"/>
              </a:lnSpc>
              <a:spcBef>
                <a:spcPts val="0"/>
              </a:spcBef>
              <a:spcAft>
                <a:spcPts val="0"/>
              </a:spcAft>
              <a:defRPr sz="2200" b="0">
                <a:solidFill>
                  <a:srgbClr val="F3FAF7"/>
                </a:solidFill>
                <a:latin typeface="Segoe UI"/>
              </a:defRPr>
            </a:pPr>
            <a:r>
              <a:t>but scheduling</a:t>
            </a:r>
          </a:p>
          <a:p>
            <a:pPr algn="l">
              <a:lnSpc>
                <a:spcPts val="2618"/>
              </a:lnSpc>
              <a:spcBef>
                <a:spcPts val="0"/>
              </a:spcBef>
              <a:spcAft>
                <a:spcPts val="0"/>
              </a:spcAft>
              <a:defRPr sz="2200" b="0">
                <a:solidFill>
                  <a:srgbClr val="F3FAF7"/>
                </a:solidFill>
                <a:latin typeface="Segoe UI"/>
              </a:defRPr>
            </a:pPr>
            <a:r>
              <a:t>reminders and</a:t>
            </a:r>
          </a:p>
          <a:p>
            <a:pPr algn="l">
              <a:lnSpc>
                <a:spcPts val="2618"/>
              </a:lnSpc>
              <a:spcBef>
                <a:spcPts val="0"/>
              </a:spcBef>
              <a:spcAft>
                <a:spcPts val="0"/>
              </a:spcAft>
              <a:defRPr sz="2200" b="0">
                <a:solidFill>
                  <a:srgbClr val="F3FAF7"/>
                </a:solidFill>
                <a:latin typeface="Segoe UI"/>
              </a:defRPr>
            </a:pPr>
            <a:r>
              <a:t>follow-ups are spread</a:t>
            </a:r>
          </a:p>
          <a:p>
            <a:pPr algn="l">
              <a:lnSpc>
                <a:spcPts val="2618"/>
              </a:lnSpc>
              <a:spcBef>
                <a:spcPts val="0"/>
              </a:spcBef>
              <a:spcAft>
                <a:spcPts val="0"/>
              </a:spcAft>
              <a:defRPr sz="2200" b="0">
                <a:solidFill>
                  <a:srgbClr val="F3FAF7"/>
                </a:solidFill>
                <a:latin typeface="Segoe UI"/>
              </a:defRPr>
            </a:pPr>
            <a:r>
              <a:t>across spreadsheets.</a:t>
            </a:r>
          </a:p>
        </p:txBody>
      </p:sp>
      <p:sp>
        <p:nvSpPr>
          <p:cNvPr id="12" name="Oval 11"/>
          <p:cNvSpPr/>
          <p:nvPr/>
        </p:nvSpPr>
        <p:spPr>
          <a:xfrm>
            <a:off x="4457700" y="24130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Template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Define the repeat service and schedule.</a:t>
            </a:r>
          </a:p>
        </p:txBody>
      </p:sp>
      <p:sp>
        <p:nvSpPr>
          <p:cNvPr id="17" name="Oval 16"/>
          <p:cNvSpPr/>
          <p:nvPr/>
        </p:nvSpPr>
        <p:spPr>
          <a:xfrm>
            <a:off x="4457700" y="32639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E505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Review</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Check the next run and the actual job created.</a:t>
            </a:r>
          </a:p>
        </p:txBody>
      </p:sp>
      <p:sp>
        <p:nvSpPr>
          <p:cNvPr id="22" name="Oval 21"/>
          <p:cNvSpPr/>
          <p:nvPr/>
        </p:nvSpPr>
        <p:spPr>
          <a:xfrm>
            <a:off x="4457700" y="4114800"/>
            <a:ext cx="304800" cy="304800"/>
          </a:xfrm>
          <a:prstGeom prst="ellipse">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E23"/>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3FAF7"/>
                </a:solidFill>
                <a:latin typeface="Segoe UI"/>
              </a:defRPr>
            </a:pPr>
            <a:r>
              <a:t>Follow through</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B4C9C8"/>
                </a:solidFill>
                <a:latin typeface="Segoe UI"/>
              </a:defRPr>
            </a:pPr>
            <a:r>
              <a:t>Assign work, complete tasks and review billing status.</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3FAF7"/>
                </a:solidFill>
                <a:latin typeface="Segoe UI"/>
              </a:defRPr>
            </a:pPr>
            <a:r>
              <a:t>A repeatable service record with visible run history.</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B4C9C8"/>
                </a:solidFill>
                <a:latin typeface="Segoe UI"/>
              </a:defRPr>
            </a:pPr>
            <a:r>
              <a:t>MEASURE / Scheduled service jobs created and completed on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One job tells the whole story.">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LIVE DEMO STORY</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One job tells</a:t>
            </a:r>
          </a:p>
          <a:p>
            <a:pPr algn="l">
              <a:lnSpc>
                <a:spcPts val="4284"/>
              </a:lnSpc>
              <a:spcBef>
                <a:spcPts val="0"/>
              </a:spcBef>
              <a:spcAft>
                <a:spcPts val="0"/>
              </a:spcAft>
              <a:defRPr sz="3600" b="1">
                <a:solidFill>
                  <a:srgbClr val="F3FAF7"/>
                </a:solidFill>
                <a:latin typeface="Segoe UI"/>
              </a:defRPr>
            </a:pPr>
            <a:r>
              <a:t>the whole story.</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10 / 20</a:t>
            </a:r>
          </a:p>
        </p:txBody>
      </p:sp>
      <p:sp>
        <p:nvSpPr>
          <p:cNvPr id="9" name="Rounded Rectangle 8"/>
          <p:cNvSpPr/>
          <p:nvPr/>
        </p:nvSpPr>
        <p:spPr>
          <a:xfrm>
            <a:off x="609600" y="2476500"/>
            <a:ext cx="2514600" cy="3022600"/>
          </a:xfrm>
          <a:prstGeom prst="roundRect">
            <a:avLst>
              <a:gd name="adj" fmla="val 2525"/>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80EDBA"/>
                </a:solidFill>
                <a:latin typeface="Segoe UI Light"/>
              </a:defRPr>
            </a:pPr>
            <a:r>
              <a:t>01</a:t>
            </a:r>
          </a:p>
        </p:txBody>
      </p:sp>
      <p:sp>
        <p:nvSpPr>
          <p:cNvPr id="11" name="TextBox 10"/>
          <p:cNvSpPr txBox="1"/>
          <p:nvPr/>
        </p:nvSpPr>
        <p:spPr>
          <a:xfrm>
            <a:off x="8128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Add a customer</a:t>
            </a:r>
          </a:p>
        </p:txBody>
      </p:sp>
      <p:sp>
        <p:nvSpPr>
          <p:cNvPr id="12" name="TextBox 11"/>
          <p:cNvSpPr txBox="1"/>
          <p:nvPr/>
        </p:nvSpPr>
        <p:spPr>
          <a:xfrm>
            <a:off x="8128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Use a shared customer</a:t>
            </a:r>
          </a:p>
          <a:p>
            <a:pPr algn="l">
              <a:lnSpc>
                <a:spcPts val="1904"/>
              </a:lnSpc>
              <a:spcBef>
                <a:spcPts val="0"/>
              </a:spcBef>
              <a:spcAft>
                <a:spcPts val="0"/>
              </a:spcAft>
              <a:defRPr sz="1600" b="0">
                <a:solidFill>
                  <a:srgbClr val="B4C9C8"/>
                </a:solidFill>
                <a:latin typeface="Segoe UI"/>
              </a:defRPr>
            </a:pPr>
            <a:r>
              <a:t>or create a reviewed</a:t>
            </a:r>
          </a:p>
          <a:p>
            <a:pPr algn="l">
              <a:lnSpc>
                <a:spcPts val="1904"/>
              </a:lnSpc>
              <a:spcBef>
                <a:spcPts val="0"/>
              </a:spcBef>
              <a:spcAft>
                <a:spcPts val="0"/>
              </a:spcAft>
              <a:defRPr sz="1600" b="0">
                <a:solidFill>
                  <a:srgbClr val="B4C9C8"/>
                </a:solidFill>
                <a:latin typeface="Segoe UI"/>
              </a:defRPr>
            </a:pPr>
            <a:r>
              <a:t>record.</a:t>
            </a:r>
          </a:p>
        </p:txBody>
      </p:sp>
      <p:sp>
        <p:nvSpPr>
          <p:cNvPr id="13" name="Rounded Rectangle 12"/>
          <p:cNvSpPr/>
          <p:nvPr/>
        </p:nvSpPr>
        <p:spPr>
          <a:xfrm>
            <a:off x="3429000" y="2476500"/>
            <a:ext cx="2514600" cy="3022600"/>
          </a:xfrm>
          <a:prstGeom prst="roundRect">
            <a:avLst>
              <a:gd name="adj" fmla="val 2525"/>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22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80EDBA"/>
                </a:solidFill>
                <a:latin typeface="Segoe UI Light"/>
              </a:defRPr>
            </a:pPr>
            <a:r>
              <a:t>02</a:t>
            </a:r>
          </a:p>
        </p:txBody>
      </p:sp>
      <p:sp>
        <p:nvSpPr>
          <p:cNvPr id="15" name="TextBox 14"/>
          <p:cNvSpPr txBox="1"/>
          <p:nvPr/>
        </p:nvSpPr>
        <p:spPr>
          <a:xfrm>
            <a:off x="36322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Build the work</a:t>
            </a:r>
          </a:p>
        </p:txBody>
      </p:sp>
      <p:sp>
        <p:nvSpPr>
          <p:cNvPr id="16" name="TextBox 15"/>
          <p:cNvSpPr txBox="1"/>
          <p:nvPr/>
        </p:nvSpPr>
        <p:spPr>
          <a:xfrm>
            <a:off x="3632200" y="4343400"/>
            <a:ext cx="2108200" cy="534416"/>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Create the job, owner,</a:t>
            </a:r>
          </a:p>
          <a:p>
            <a:pPr algn="l">
              <a:lnSpc>
                <a:spcPts val="1904"/>
              </a:lnSpc>
              <a:spcBef>
                <a:spcPts val="0"/>
              </a:spcBef>
              <a:spcAft>
                <a:spcPts val="0"/>
              </a:spcAft>
              <a:defRPr sz="1600" b="0">
                <a:solidFill>
                  <a:srgbClr val="B4C9C8"/>
                </a:solidFill>
                <a:latin typeface="Segoe UI"/>
              </a:defRPr>
            </a:pPr>
            <a:r>
              <a:t>task and quote.</a:t>
            </a:r>
          </a:p>
        </p:txBody>
      </p:sp>
      <p:sp>
        <p:nvSpPr>
          <p:cNvPr id="17" name="Rounded Rectangle 16"/>
          <p:cNvSpPr/>
          <p:nvPr/>
        </p:nvSpPr>
        <p:spPr>
          <a:xfrm>
            <a:off x="6248400" y="2476500"/>
            <a:ext cx="2514600" cy="3022600"/>
          </a:xfrm>
          <a:prstGeom prst="roundRect">
            <a:avLst>
              <a:gd name="adj" fmla="val 2525"/>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80EDBA"/>
                </a:solidFill>
                <a:latin typeface="Segoe UI Light"/>
              </a:defRPr>
            </a:pPr>
            <a:r>
              <a:t>03</a:t>
            </a:r>
          </a:p>
        </p:txBody>
      </p:sp>
      <p:sp>
        <p:nvSpPr>
          <p:cNvPr id="19" name="TextBox 18"/>
          <p:cNvSpPr txBox="1"/>
          <p:nvPr/>
        </p:nvSpPr>
        <p:spPr>
          <a:xfrm>
            <a:off x="64516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Move it forward</a:t>
            </a:r>
          </a:p>
        </p:txBody>
      </p:sp>
      <p:sp>
        <p:nvSpPr>
          <p:cNvPr id="20" name="TextBox 19"/>
          <p:cNvSpPr txBox="1"/>
          <p:nvPr/>
        </p:nvSpPr>
        <p:spPr>
          <a:xfrm>
            <a:off x="6451600" y="4343400"/>
            <a:ext cx="2108200" cy="534416"/>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Record the decision</a:t>
            </a:r>
          </a:p>
          <a:p>
            <a:pPr algn="l">
              <a:lnSpc>
                <a:spcPts val="1904"/>
              </a:lnSpc>
              <a:spcBef>
                <a:spcPts val="0"/>
              </a:spcBef>
              <a:spcAft>
                <a:spcPts val="0"/>
              </a:spcAft>
              <a:defRPr sz="1600" b="0">
                <a:solidFill>
                  <a:srgbClr val="B4C9C8"/>
                </a:solidFill>
                <a:latin typeface="Segoe UI"/>
              </a:defRPr>
            </a:pPr>
            <a:r>
              <a:t>and review the invoice.</a:t>
            </a:r>
          </a:p>
        </p:txBody>
      </p:sp>
      <p:sp>
        <p:nvSpPr>
          <p:cNvPr id="21" name="Rounded Rectangle 20"/>
          <p:cNvSpPr/>
          <p:nvPr/>
        </p:nvSpPr>
        <p:spPr>
          <a:xfrm>
            <a:off x="9067800" y="2476500"/>
            <a:ext cx="2514600" cy="3022600"/>
          </a:xfrm>
          <a:prstGeom prst="roundRect">
            <a:avLst>
              <a:gd name="adj" fmla="val 2525"/>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10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80EDBA"/>
                </a:solidFill>
                <a:latin typeface="Segoe UI Light"/>
              </a:defRPr>
            </a:pPr>
            <a:r>
              <a:t>04</a:t>
            </a:r>
          </a:p>
        </p:txBody>
      </p:sp>
      <p:sp>
        <p:nvSpPr>
          <p:cNvPr id="23" name="TextBox 22"/>
          <p:cNvSpPr txBox="1"/>
          <p:nvPr/>
        </p:nvSpPr>
        <p:spPr>
          <a:xfrm>
            <a:off x="9271000" y="3479800"/>
            <a:ext cx="21209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3FAF7"/>
                </a:solidFill>
                <a:latin typeface="Segoe UI"/>
              </a:defRPr>
            </a:pPr>
            <a:r>
              <a:t>See what</a:t>
            </a:r>
          </a:p>
          <a:p>
            <a:pPr algn="l">
              <a:lnSpc>
                <a:spcPts val="2499"/>
              </a:lnSpc>
              <a:spcBef>
                <a:spcPts val="0"/>
              </a:spcBef>
              <a:spcAft>
                <a:spcPts val="0"/>
              </a:spcAft>
              <a:defRPr sz="2100" b="1">
                <a:solidFill>
                  <a:srgbClr val="F3FAF7"/>
                </a:solidFill>
                <a:latin typeface="Segoe UI"/>
              </a:defRPr>
            </a:pPr>
            <a:r>
              <a:t>remains</a:t>
            </a:r>
          </a:p>
        </p:txBody>
      </p:sp>
      <p:sp>
        <p:nvSpPr>
          <p:cNvPr id="24" name="TextBox 23"/>
          <p:cNvSpPr txBox="1"/>
          <p:nvPr/>
        </p:nvSpPr>
        <p:spPr>
          <a:xfrm>
            <a:off x="92710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Open the workday</a:t>
            </a:r>
          </a:p>
          <a:p>
            <a:pPr algn="l">
              <a:lnSpc>
                <a:spcPts val="1904"/>
              </a:lnSpc>
              <a:spcBef>
                <a:spcPts val="0"/>
              </a:spcBef>
              <a:spcAft>
                <a:spcPts val="0"/>
              </a:spcAft>
              <a:defRPr sz="1600" b="0">
                <a:solidFill>
                  <a:srgbClr val="B4C9C8"/>
                </a:solidFill>
                <a:latin typeface="Segoe UI"/>
              </a:defRPr>
            </a:pPr>
            <a:r>
              <a:t>brief and balance</a:t>
            </a:r>
          </a:p>
          <a:p>
            <a:pPr algn="l">
              <a:lnSpc>
                <a:spcPts val="1904"/>
              </a:lnSpc>
              <a:spcBef>
                <a:spcPts val="0"/>
              </a:spcBef>
              <a:spcAft>
                <a:spcPts val="0"/>
              </a:spcAft>
              <a:defRPr sz="1600" b="0">
                <a:solidFill>
                  <a:srgbClr val="B4C9C8"/>
                </a:solidFill>
                <a:latin typeface="Segoe UI"/>
              </a:defRPr>
            </a:pPr>
            <a:r>
              <a:t>history.</a:t>
            </a:r>
          </a:p>
        </p:txBody>
      </p:sp>
      <p:sp>
        <p:nvSpPr>
          <p:cNvPr id="25" name="TextBox 24"/>
          <p:cNvSpPr txBox="1"/>
          <p:nvPr/>
        </p:nvSpPr>
        <p:spPr>
          <a:xfrm>
            <a:off x="609600" y="5803900"/>
            <a:ext cx="1727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SUCCESS CHECK</a:t>
            </a:r>
          </a:p>
        </p:txBody>
      </p:sp>
      <p:sp>
        <p:nvSpPr>
          <p:cNvPr id="26" name="TextBox 25"/>
          <p:cNvSpPr txBox="1"/>
          <p:nvPr/>
        </p:nvSpPr>
        <p:spPr>
          <a:xfrm>
            <a:off x="2540000" y="5727700"/>
            <a:ext cx="90551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F3FAF7"/>
                </a:solidFill>
                <a:latin typeface="Segoe UI"/>
              </a:defRPr>
            </a:pPr>
            <a:r>
              <a:t>A second teammate can find the next action without asking the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Extend the workflow where it matters.">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USEFUL COMPANIONS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Extend the workflow</a:t>
            </a:r>
          </a:p>
          <a:p>
            <a:pPr algn="l">
              <a:lnSpc>
                <a:spcPts val="4284"/>
              </a:lnSpc>
              <a:spcBef>
                <a:spcPts val="0"/>
              </a:spcBef>
              <a:spcAft>
                <a:spcPts val="0"/>
              </a:spcAft>
              <a:defRPr sz="3600" b="1">
                <a:solidFill>
                  <a:srgbClr val="F3FAF7"/>
                </a:solidFill>
                <a:latin typeface="Segoe UI"/>
              </a:defRPr>
            </a:pPr>
            <a:r>
              <a:t>where it matters.</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11 / 20</a:t>
            </a:r>
          </a:p>
        </p:txBody>
      </p:sp>
      <p:sp>
        <p:nvSpPr>
          <p:cNvPr id="9" name="Rounded Rectangle 8"/>
          <p:cNvSpPr/>
          <p:nvPr/>
        </p:nvSpPr>
        <p:spPr>
          <a:xfrm>
            <a:off x="609600" y="2413000"/>
            <a:ext cx="5334000" cy="3009900"/>
          </a:xfrm>
          <a:prstGeom prst="roundRect">
            <a:avLst>
              <a:gd name="adj" fmla="val 253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2413000"/>
            <a:ext cx="5334000" cy="508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F3FAF7"/>
                </a:solidFill>
                <a:latin typeface="Segoe UI"/>
              </a:defRPr>
            </a:pPr>
            <a:r>
              <a:t>SnapProofOS</a:t>
            </a:r>
          </a:p>
        </p:txBody>
      </p:sp>
      <p:sp>
        <p:nvSpPr>
          <p:cNvPr id="12" name="TextBox 11"/>
          <p:cNvSpPr txBox="1"/>
          <p:nvPr/>
        </p:nvSpPr>
        <p:spPr>
          <a:xfrm>
            <a:off x="8890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80EDBA"/>
                </a:solidFill>
                <a:latin typeface="Segoe UI"/>
              </a:defRPr>
            </a:pPr>
            <a:r>
              <a:t>Make completion tangible.</a:t>
            </a:r>
          </a:p>
        </p:txBody>
      </p:sp>
      <p:sp>
        <p:nvSpPr>
          <p:cNvPr id="13" name="TextBox 12"/>
          <p:cNvSpPr txBox="1"/>
          <p:nvPr/>
        </p:nvSpPr>
        <p:spPr>
          <a:xfrm>
            <a:off x="889000" y="3835400"/>
            <a:ext cx="4737100" cy="594868"/>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B4C9C8"/>
                </a:solidFill>
                <a:latin typeface="Segoe UI"/>
              </a:defRPr>
            </a:pPr>
            <a:r>
              <a:t>Photos, findings and reviewed customer</a:t>
            </a:r>
          </a:p>
          <a:p>
            <a:pPr algn="l">
              <a:lnSpc>
                <a:spcPts val="2142"/>
              </a:lnSpc>
              <a:spcBef>
                <a:spcPts val="0"/>
              </a:spcBef>
              <a:spcAft>
                <a:spcPts val="0"/>
              </a:spcAft>
              <a:defRPr sz="1800" b="0">
                <a:solidFill>
                  <a:srgbClr val="B4C9C8"/>
                </a:solidFill>
                <a:latin typeface="Segoe UI"/>
              </a:defRPr>
            </a:pPr>
            <a:r>
              <a:t>reports tied to eligible jobs.</a:t>
            </a:r>
          </a:p>
        </p:txBody>
      </p:sp>
      <p:sp>
        <p:nvSpPr>
          <p:cNvPr id="14" name="TextBox 13"/>
          <p:cNvSpPr txBox="1"/>
          <p:nvPr/>
        </p:nvSpPr>
        <p:spPr>
          <a:xfrm>
            <a:off x="8890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F3FAF7"/>
                </a:solidFill>
                <a:latin typeface="Segoe UI"/>
              </a:defRPr>
            </a:pPr>
            <a:r>
              <a:t>Choose it for proof of work.</a:t>
            </a:r>
          </a:p>
        </p:txBody>
      </p:sp>
      <p:sp>
        <p:nvSpPr>
          <p:cNvPr id="15" name="Rounded Rectangle 14"/>
          <p:cNvSpPr/>
          <p:nvPr/>
        </p:nvSpPr>
        <p:spPr>
          <a:xfrm>
            <a:off x="6248400" y="2413000"/>
            <a:ext cx="5334000" cy="3009900"/>
          </a:xfrm>
          <a:prstGeom prst="roundRect">
            <a:avLst>
              <a:gd name="adj" fmla="val 2531"/>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8400" y="2413000"/>
            <a:ext cx="5334000" cy="50800"/>
          </a:xfrm>
          <a:prstGeom prst="rect">
            <a:avLst/>
          </a:prstGeom>
          <a:solidFill>
            <a:srgbClr val="FFC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78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F3FAF7"/>
                </a:solidFill>
                <a:latin typeface="Segoe UI"/>
              </a:defRPr>
            </a:pPr>
            <a:r>
              <a:t>BrandForge OS</a:t>
            </a:r>
          </a:p>
        </p:txBody>
      </p:sp>
      <p:sp>
        <p:nvSpPr>
          <p:cNvPr id="18" name="TextBox 17"/>
          <p:cNvSpPr txBox="1"/>
          <p:nvPr/>
        </p:nvSpPr>
        <p:spPr>
          <a:xfrm>
            <a:off x="65278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80EDBA"/>
                </a:solidFill>
                <a:latin typeface="Segoe UI"/>
              </a:defRPr>
            </a:pPr>
            <a:r>
              <a:t>Prepare the next campaign.</a:t>
            </a:r>
          </a:p>
        </p:txBody>
      </p:sp>
      <p:sp>
        <p:nvSpPr>
          <p:cNvPr id="19" name="TextBox 18"/>
          <p:cNvSpPr txBox="1"/>
          <p:nvPr/>
        </p:nvSpPr>
        <p:spPr>
          <a:xfrm>
            <a:off x="6527800" y="3835400"/>
            <a:ext cx="4737100" cy="594868"/>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B4C9C8"/>
                </a:solidFill>
                <a:latin typeface="Segoe UI"/>
              </a:defRPr>
            </a:pPr>
            <a:r>
              <a:t>Reusable brand material and reviewed</a:t>
            </a:r>
          </a:p>
          <a:p>
            <a:pPr algn="l">
              <a:lnSpc>
                <a:spcPts val="2142"/>
              </a:lnSpc>
              <a:spcBef>
                <a:spcPts val="0"/>
              </a:spcBef>
              <a:spcAft>
                <a:spcPts val="0"/>
              </a:spcAft>
              <a:defRPr sz="1800" b="0">
                <a:solidFill>
                  <a:srgbClr val="B4C9C8"/>
                </a:solidFill>
                <a:latin typeface="Segoe UI"/>
              </a:defRPr>
            </a:pPr>
            <a:r>
              <a:t>campaign drafts for your next service offer.</a:t>
            </a:r>
          </a:p>
        </p:txBody>
      </p:sp>
      <p:sp>
        <p:nvSpPr>
          <p:cNvPr id="20" name="TextBox 19"/>
          <p:cNvSpPr txBox="1"/>
          <p:nvPr/>
        </p:nvSpPr>
        <p:spPr>
          <a:xfrm>
            <a:off x="65278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F3FAF7"/>
                </a:solidFill>
                <a:latin typeface="Segoe UI"/>
              </a:defRPr>
            </a:pPr>
            <a:r>
              <a:t>Choose it for consistent marketing.</a:t>
            </a:r>
          </a:p>
        </p:txBody>
      </p:sp>
      <p:sp>
        <p:nvSpPr>
          <p:cNvPr id="21" name="TextBox 20"/>
          <p:cNvSpPr txBox="1"/>
          <p:nvPr/>
        </p:nvSpPr>
        <p:spPr>
          <a:xfrm>
            <a:off x="609600" y="5664200"/>
            <a:ext cx="10985500" cy="413512"/>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B4C9C8"/>
                </a:solidFill>
                <a:latin typeface="Segoe UI"/>
              </a:defRPr>
            </a:pPr>
            <a:r>
              <a:t>One eligible companion is included. Additional companions are separate. AI generation needs an accepted provider connection; campaigns are reviewed and</a:t>
            </a:r>
          </a:p>
          <a:p>
            <a:pPr algn="l">
              <a:lnSpc>
                <a:spcPts val="1428"/>
              </a:lnSpc>
              <a:spcBef>
                <a:spcPts val="0"/>
              </a:spcBef>
              <a:spcAft>
                <a:spcPts val="0"/>
              </a:spcAft>
              <a:defRPr sz="1200" b="0">
                <a:solidFill>
                  <a:srgbClr val="B4C9C8"/>
                </a:solidFill>
                <a:latin typeface="Segoe UI"/>
              </a:defRPr>
            </a:pPr>
            <a:r>
              <a:t>exported.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it the workflow to your real environment.">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WORK WITH THE TOOLS YOU RELY 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Fit the workflow</a:t>
            </a:r>
          </a:p>
          <a:p>
            <a:pPr algn="l">
              <a:lnSpc>
                <a:spcPts val="4284"/>
              </a:lnSpc>
              <a:spcBef>
                <a:spcPts val="0"/>
              </a:spcBef>
              <a:spcAft>
                <a:spcPts val="0"/>
              </a:spcAft>
              <a:defRPr sz="3600" b="1">
                <a:solidFill>
                  <a:srgbClr val="F3FAF7"/>
                </a:solidFill>
                <a:latin typeface="Segoe UI"/>
              </a:defRPr>
            </a:pPr>
            <a:r>
              <a:t>to your real environment.</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12 / 20</a:t>
            </a:r>
          </a:p>
        </p:txBody>
      </p:sp>
      <p:sp>
        <p:nvSpPr>
          <p:cNvPr id="9" name="TextBox 8"/>
          <p:cNvSpPr txBox="1"/>
          <p:nvPr/>
        </p:nvSpPr>
        <p:spPr>
          <a:xfrm>
            <a:off x="6096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TRADEFLOWKIT OWNS</a:t>
            </a:r>
          </a:p>
        </p:txBody>
      </p:sp>
      <p:cxnSp>
        <p:nvCxnSpPr>
          <p:cNvPr id="10" name="Connector 9"/>
          <p:cNvCxnSpPr/>
          <p:nvPr/>
        </p:nvCxnSpPr>
        <p:spPr>
          <a:xfrm>
            <a:off x="609600" y="29083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3FAF7"/>
                </a:solidFill>
                <a:latin typeface="Segoe UI"/>
              </a:defRPr>
            </a:pPr>
            <a:r>
              <a:t>The customer/work</a:t>
            </a:r>
          </a:p>
          <a:p>
            <a:pPr algn="l">
              <a:lnSpc>
                <a:spcPts val="3094"/>
              </a:lnSpc>
              <a:spcBef>
                <a:spcPts val="0"/>
              </a:spcBef>
              <a:spcAft>
                <a:spcPts val="0"/>
              </a:spcAft>
              <a:defRPr sz="2600" b="1">
                <a:solidFill>
                  <a:srgbClr val="F3FAF7"/>
                </a:solidFill>
                <a:latin typeface="Segoe UI"/>
              </a:defRPr>
            </a:pPr>
            <a:r>
              <a:t>record</a:t>
            </a:r>
          </a:p>
        </p:txBody>
      </p:sp>
      <p:sp>
        <p:nvSpPr>
          <p:cNvPr id="12" name="TextBox 11"/>
          <p:cNvSpPr txBox="1"/>
          <p:nvPr/>
        </p:nvSpPr>
        <p:spPr>
          <a:xfrm>
            <a:off x="609600" y="4445000"/>
            <a:ext cx="34417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B4C9C8"/>
                </a:solidFill>
                <a:latin typeface="Segoe UI"/>
              </a:defRPr>
            </a:pPr>
            <a:r>
              <a:t>Leads, jobs, quotes, invoices,</a:t>
            </a:r>
          </a:p>
          <a:p>
            <a:pPr algn="l">
              <a:lnSpc>
                <a:spcPts val="2379"/>
              </a:lnSpc>
              <a:spcBef>
                <a:spcPts val="0"/>
              </a:spcBef>
              <a:spcAft>
                <a:spcPts val="0"/>
              </a:spcAft>
              <a:defRPr sz="2000" b="0">
                <a:solidFill>
                  <a:srgbClr val="B4C9C8"/>
                </a:solidFill>
                <a:latin typeface="Segoe UI"/>
              </a:defRPr>
            </a:pPr>
            <a:r>
              <a:t>activity and follow-up.</a:t>
            </a:r>
          </a:p>
        </p:txBody>
      </p:sp>
      <p:sp>
        <p:nvSpPr>
          <p:cNvPr id="13" name="TextBox 12"/>
          <p:cNvSpPr txBox="1"/>
          <p:nvPr/>
        </p:nvSpPr>
        <p:spPr>
          <a:xfrm>
            <a:off x="43688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CONNECTED SERVICES HANDLE</a:t>
            </a:r>
          </a:p>
        </p:txBody>
      </p:sp>
      <p:cxnSp>
        <p:nvCxnSpPr>
          <p:cNvPr id="14" name="Connector 13"/>
          <p:cNvCxnSpPr/>
          <p:nvPr/>
        </p:nvCxnSpPr>
        <p:spPr>
          <a:xfrm>
            <a:off x="4368800" y="29083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238500"/>
            <a:ext cx="3441700" cy="443738"/>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3FAF7"/>
                </a:solidFill>
                <a:latin typeface="Segoe UI"/>
              </a:defRPr>
            </a:pPr>
            <a:r>
              <a:t>External delivery</a:t>
            </a:r>
          </a:p>
        </p:txBody>
      </p:sp>
      <p:sp>
        <p:nvSpPr>
          <p:cNvPr id="16" name="TextBox 15"/>
          <p:cNvSpPr txBox="1"/>
          <p:nvPr/>
        </p:nvSpPr>
        <p:spPr>
          <a:xfrm>
            <a:off x="4368800" y="4445000"/>
            <a:ext cx="3441700" cy="95757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B4C9C8"/>
                </a:solidFill>
                <a:latin typeface="Segoe UI"/>
              </a:defRPr>
            </a:pPr>
            <a:r>
              <a:t>Online payments and</a:t>
            </a:r>
          </a:p>
          <a:p>
            <a:pPr algn="l">
              <a:lnSpc>
                <a:spcPts val="2379"/>
              </a:lnSpc>
              <a:spcBef>
                <a:spcPts val="0"/>
              </a:spcBef>
              <a:spcAft>
                <a:spcPts val="0"/>
              </a:spcAft>
              <a:defRPr sz="2000" b="0">
                <a:solidFill>
                  <a:srgbClr val="B4C9C8"/>
                </a:solidFill>
                <a:latin typeface="Segoe UI"/>
              </a:defRPr>
            </a:pPr>
            <a:r>
              <a:t>outgoing messages require</a:t>
            </a:r>
          </a:p>
          <a:p>
            <a:pPr algn="l">
              <a:lnSpc>
                <a:spcPts val="2379"/>
              </a:lnSpc>
              <a:spcBef>
                <a:spcPts val="0"/>
              </a:spcBef>
              <a:spcAft>
                <a:spcPts val="0"/>
              </a:spcAft>
              <a:defRPr sz="2000" b="0">
                <a:solidFill>
                  <a:srgbClr val="B4C9C8"/>
                </a:solidFill>
                <a:latin typeface="Segoe UI"/>
              </a:defRPr>
            </a:pPr>
            <a:r>
              <a:t>configured, tested providers.</a:t>
            </a:r>
          </a:p>
        </p:txBody>
      </p:sp>
      <p:sp>
        <p:nvSpPr>
          <p:cNvPr id="17" name="TextBox 16"/>
          <p:cNvSpPr txBox="1"/>
          <p:nvPr/>
        </p:nvSpPr>
        <p:spPr>
          <a:xfrm>
            <a:off x="81280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YOUR ACCOUNTING STAYS</a:t>
            </a:r>
          </a:p>
        </p:txBody>
      </p:sp>
      <p:cxnSp>
        <p:nvCxnSpPr>
          <p:cNvPr id="18" name="Connector 17"/>
          <p:cNvCxnSpPr/>
          <p:nvPr/>
        </p:nvCxnSpPr>
        <p:spPr>
          <a:xfrm>
            <a:off x="8128000" y="29083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3FAF7"/>
                </a:solidFill>
                <a:latin typeface="Segoe UI"/>
              </a:defRPr>
            </a:pPr>
            <a:r>
              <a:t>The accounting</a:t>
            </a:r>
          </a:p>
          <a:p>
            <a:pPr algn="l">
              <a:lnSpc>
                <a:spcPts val="3094"/>
              </a:lnSpc>
              <a:spcBef>
                <a:spcPts val="0"/>
              </a:spcBef>
              <a:spcAft>
                <a:spcPts val="0"/>
              </a:spcAft>
              <a:defRPr sz="2600" b="1">
                <a:solidFill>
                  <a:srgbClr val="F3FAF7"/>
                </a:solidFill>
                <a:latin typeface="Segoe UI"/>
              </a:defRPr>
            </a:pPr>
            <a:r>
              <a:t>authority</a:t>
            </a:r>
          </a:p>
        </p:txBody>
      </p:sp>
      <p:sp>
        <p:nvSpPr>
          <p:cNvPr id="20" name="TextBox 19"/>
          <p:cNvSpPr txBox="1"/>
          <p:nvPr/>
        </p:nvSpPr>
        <p:spPr>
          <a:xfrm>
            <a:off x="8128000" y="4445000"/>
            <a:ext cx="3441700" cy="95757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B4C9C8"/>
                </a:solidFill>
                <a:latin typeface="Segoe UI"/>
              </a:defRPr>
            </a:pPr>
            <a:r>
              <a:t>Use supported exports. Direct</a:t>
            </a:r>
          </a:p>
          <a:p>
            <a:pPr algn="l">
              <a:lnSpc>
                <a:spcPts val="2379"/>
              </a:lnSpc>
              <a:spcBef>
                <a:spcPts val="0"/>
              </a:spcBef>
              <a:spcAft>
                <a:spcPts val="0"/>
              </a:spcAft>
              <a:defRPr sz="2000" b="0">
                <a:solidFill>
                  <a:srgbClr val="B4C9C8"/>
                </a:solidFill>
                <a:latin typeface="Segoe UI"/>
              </a:defRPr>
            </a:pPr>
            <a:r>
              <a:t>QuickBooks Online sync is</a:t>
            </a:r>
          </a:p>
          <a:p>
            <a:pPr algn="l">
              <a:lnSpc>
                <a:spcPts val="2379"/>
              </a:lnSpc>
              <a:spcBef>
                <a:spcPts val="0"/>
              </a:spcBef>
              <a:spcAft>
                <a:spcPts val="0"/>
              </a:spcAft>
              <a:defRPr sz="2000" b="0">
                <a:solidFill>
                  <a:srgbClr val="B4C9C8"/>
                </a:solidFill>
                <a:latin typeface="Segoe UI"/>
              </a:defRPr>
            </a:pPr>
            <a:r>
              <a:t>planned.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A clearer record when the questions come.">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CONFIDENCE IN THE RECORD</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A clearer record when</a:t>
            </a:r>
          </a:p>
          <a:p>
            <a:pPr algn="l">
              <a:lnSpc>
                <a:spcPts val="4284"/>
              </a:lnSpc>
              <a:spcBef>
                <a:spcPts val="0"/>
              </a:spcBef>
              <a:spcAft>
                <a:spcPts val="0"/>
              </a:spcAft>
              <a:defRPr sz="3600" b="1">
                <a:solidFill>
                  <a:srgbClr val="F3FAF7"/>
                </a:solidFill>
                <a:latin typeface="Segoe UI"/>
              </a:defRPr>
            </a:pPr>
            <a:r>
              <a:t>the questions come.</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13 / 20</a:t>
            </a:r>
          </a:p>
        </p:txBody>
      </p:sp>
      <p:cxnSp>
        <p:nvCxnSpPr>
          <p:cNvPr id="9" name="Connector 8"/>
          <p:cNvCxnSpPr/>
          <p:nvPr/>
        </p:nvCxnSpPr>
        <p:spPr>
          <a:xfrm>
            <a:off x="609600" y="2425700"/>
            <a:ext cx="53086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Who changed it?</a:t>
            </a:r>
          </a:p>
        </p:txBody>
      </p:sp>
      <p:sp>
        <p:nvSpPr>
          <p:cNvPr id="11" name="TextBox 10"/>
          <p:cNvSpPr txBox="1"/>
          <p:nvPr/>
        </p:nvSpPr>
        <p:spPr>
          <a:xfrm>
            <a:off x="609600" y="30607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Business activity ties changes to a person, record and</a:t>
            </a:r>
          </a:p>
          <a:p>
            <a:pPr algn="l">
              <a:lnSpc>
                <a:spcPts val="2023"/>
              </a:lnSpc>
              <a:spcBef>
                <a:spcPts val="0"/>
              </a:spcBef>
              <a:spcAft>
                <a:spcPts val="0"/>
              </a:spcAft>
              <a:defRPr sz="1700" b="0">
                <a:solidFill>
                  <a:srgbClr val="B4C9C8"/>
                </a:solidFill>
                <a:latin typeface="Segoe UI"/>
              </a:defRPr>
            </a:pPr>
            <a:r>
              <a:t>time.</a:t>
            </a:r>
          </a:p>
        </p:txBody>
      </p:sp>
      <p:cxnSp>
        <p:nvCxnSpPr>
          <p:cNvPr id="12" name="Connector 11"/>
          <p:cNvCxnSpPr/>
          <p:nvPr/>
        </p:nvCxnSpPr>
        <p:spPr>
          <a:xfrm>
            <a:off x="6248400" y="2425700"/>
            <a:ext cx="53086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What did they decide?</a:t>
            </a:r>
          </a:p>
        </p:txBody>
      </p:sp>
      <p:sp>
        <p:nvSpPr>
          <p:cNvPr id="14" name="TextBox 13"/>
          <p:cNvSpPr txBox="1"/>
          <p:nvPr/>
        </p:nvSpPr>
        <p:spPr>
          <a:xfrm>
            <a:off x="6248400" y="30607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Keep the quote response and current work status in</a:t>
            </a:r>
          </a:p>
          <a:p>
            <a:pPr algn="l">
              <a:lnSpc>
                <a:spcPts val="2023"/>
              </a:lnSpc>
              <a:spcBef>
                <a:spcPts val="0"/>
              </a:spcBef>
              <a:spcAft>
                <a:spcPts val="0"/>
              </a:spcAft>
              <a:defRPr sz="1700" b="0">
                <a:solidFill>
                  <a:srgbClr val="B4C9C8"/>
                </a:solidFill>
                <a:latin typeface="Segoe UI"/>
              </a:defRPr>
            </a:pPr>
            <a:r>
              <a:t>context.</a:t>
            </a:r>
          </a:p>
        </p:txBody>
      </p:sp>
      <p:cxnSp>
        <p:nvCxnSpPr>
          <p:cNvPr id="15" name="Connector 14"/>
          <p:cNvCxnSpPr/>
          <p:nvPr/>
        </p:nvCxnSpPr>
        <p:spPr>
          <a:xfrm>
            <a:off x="609600" y="3873500"/>
            <a:ext cx="53086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What was completed?</a:t>
            </a:r>
          </a:p>
        </p:txBody>
      </p:sp>
      <p:sp>
        <p:nvSpPr>
          <p:cNvPr id="17" name="TextBox 16"/>
          <p:cNvSpPr txBox="1"/>
          <p:nvPr/>
        </p:nvSpPr>
        <p:spPr>
          <a:xfrm>
            <a:off x="609600" y="45085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Use recorded tasks and approved supporting</a:t>
            </a:r>
          </a:p>
          <a:p>
            <a:pPr algn="l">
              <a:lnSpc>
                <a:spcPts val="2023"/>
              </a:lnSpc>
              <a:spcBef>
                <a:spcPts val="0"/>
              </a:spcBef>
              <a:spcAft>
                <a:spcPts val="0"/>
              </a:spcAft>
              <a:defRPr sz="1700" b="0">
                <a:solidFill>
                  <a:srgbClr val="B4C9C8"/>
                </a:solidFill>
                <a:latin typeface="Segoe UI"/>
              </a:defRPr>
            </a:pPr>
            <a:r>
              <a:t>evidence.</a:t>
            </a:r>
          </a:p>
        </p:txBody>
      </p:sp>
      <p:cxnSp>
        <p:nvCxnSpPr>
          <p:cNvPr id="18" name="Connector 17"/>
          <p:cNvCxnSpPr/>
          <p:nvPr/>
        </p:nvCxnSpPr>
        <p:spPr>
          <a:xfrm>
            <a:off x="6248400" y="3873500"/>
            <a:ext cx="53086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3FAF7"/>
                </a:solidFill>
                <a:latin typeface="Segoe UI"/>
              </a:defRPr>
            </a:pPr>
            <a:r>
              <a:t>What was paid?</a:t>
            </a:r>
          </a:p>
        </p:txBody>
      </p:sp>
      <p:sp>
        <p:nvSpPr>
          <p:cNvPr id="20" name="TextBox 19"/>
          <p:cNvSpPr txBox="1"/>
          <p:nvPr/>
        </p:nvSpPr>
        <p:spPr>
          <a:xfrm>
            <a:off x="6248400" y="45085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Distinguish recorded payments, open balances and</a:t>
            </a:r>
          </a:p>
          <a:p>
            <a:pPr algn="l">
              <a:lnSpc>
                <a:spcPts val="2023"/>
              </a:lnSpc>
              <a:spcBef>
                <a:spcPts val="0"/>
              </a:spcBef>
              <a:spcAft>
                <a:spcPts val="0"/>
              </a:spcAft>
              <a:defRPr sz="1700" b="0">
                <a:solidFill>
                  <a:srgbClr val="B4C9C8"/>
                </a:solidFill>
                <a:latin typeface="Segoe UI"/>
              </a:defRPr>
            </a:pPr>
            <a:r>
              <a:t>confirmed settlement.</a:t>
            </a:r>
          </a:p>
        </p:txBody>
      </p:sp>
      <p:sp>
        <p:nvSpPr>
          <p:cNvPr id="21" name="TextBox 20"/>
          <p:cNvSpPr txBox="1"/>
          <p:nvPr/>
        </p:nvSpPr>
        <p:spPr>
          <a:xfrm>
            <a:off x="609600" y="5765800"/>
            <a:ext cx="10985500" cy="239712"/>
          </a:xfrm>
          <a:prstGeom prst="rect">
            <a:avLst/>
          </a:prstGeom>
          <a:noFill/>
        </p:spPr>
        <p:txBody>
          <a:bodyPr wrap="none" lIns="0" rIns="0" tIns="0" bIns="0" anchor="t">
            <a:spAutoFit/>
          </a:bodyPr>
          <a:lstStyle/>
          <a:p>
            <a:pPr algn="l">
              <a:lnSpc>
                <a:spcPts val="1487"/>
              </a:lnSpc>
              <a:spcBef>
                <a:spcPts val="0"/>
              </a:spcBef>
              <a:spcAft>
                <a:spcPts val="0"/>
              </a:spcAft>
              <a:defRPr sz="1250" b="0">
                <a:solidFill>
                  <a:srgbClr val="B4C9C8"/>
                </a:solidFill>
                <a:latin typeface="Segoe UI"/>
              </a:defRPr>
            </a:pPr>
            <a:r>
              <a:t>A work record supports a clear explanation. Customer authorization and financial confirmation still need the appropriate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Measure the change in your own operation.">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A BUSINESS CASE YOU CAN TEST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Measure the change</a:t>
            </a:r>
          </a:p>
          <a:p>
            <a:pPr algn="l">
              <a:lnSpc>
                <a:spcPts val="4284"/>
              </a:lnSpc>
              <a:spcBef>
                <a:spcPts val="0"/>
              </a:spcBef>
              <a:spcAft>
                <a:spcPts val="0"/>
              </a:spcAft>
              <a:defRPr sz="3600" b="1">
                <a:solidFill>
                  <a:srgbClr val="F3FAF7"/>
                </a:solidFill>
                <a:latin typeface="Segoe UI"/>
              </a:defRPr>
            </a:pPr>
            <a:r>
              <a:t>in your own operation.</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14 / 20</a:t>
            </a:r>
          </a:p>
        </p:txBody>
      </p:sp>
      <p:sp>
        <p:nvSpPr>
          <p:cNvPr id="9" name="Rounded Rectangle 8"/>
          <p:cNvSpPr/>
          <p:nvPr/>
        </p:nvSpPr>
        <p:spPr>
          <a:xfrm>
            <a:off x="609600" y="2413000"/>
            <a:ext cx="5334000" cy="1092200"/>
          </a:xfrm>
          <a:prstGeom prst="roundRect">
            <a:avLst>
              <a:gd name="adj" fmla="val 5813"/>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Quote turnaround</a:t>
            </a:r>
          </a:p>
        </p:txBody>
      </p:sp>
      <p:sp>
        <p:nvSpPr>
          <p:cNvPr id="11" name="TextBox 10"/>
          <p:cNvSpPr txBox="1"/>
          <p:nvPr/>
        </p:nvSpPr>
        <p:spPr>
          <a:xfrm>
            <a:off x="8382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B4C9C8"/>
                </a:solidFill>
                <a:latin typeface="Segoe UI"/>
              </a:defRPr>
            </a:pPr>
            <a:r>
              <a:t>Qualified inquiry → customer decision</a:t>
            </a:r>
          </a:p>
        </p:txBody>
      </p:sp>
      <p:sp>
        <p:nvSpPr>
          <p:cNvPr id="12" name="Rounded Rectangle 11"/>
          <p:cNvSpPr/>
          <p:nvPr/>
        </p:nvSpPr>
        <p:spPr>
          <a:xfrm>
            <a:off x="6248400" y="2413000"/>
            <a:ext cx="5334000" cy="1092200"/>
          </a:xfrm>
          <a:prstGeom prst="roundRect">
            <a:avLst>
              <a:gd name="adj" fmla="val 5813"/>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Billing handoff</a:t>
            </a:r>
          </a:p>
        </p:txBody>
      </p:sp>
      <p:sp>
        <p:nvSpPr>
          <p:cNvPr id="14" name="TextBox 13"/>
          <p:cNvSpPr txBox="1"/>
          <p:nvPr/>
        </p:nvSpPr>
        <p:spPr>
          <a:xfrm>
            <a:off x="64770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B4C9C8"/>
                </a:solidFill>
                <a:latin typeface="Segoe UI"/>
              </a:defRPr>
            </a:pPr>
            <a:r>
              <a:t>Completed jobs without a linked invoice</a:t>
            </a:r>
          </a:p>
        </p:txBody>
      </p:sp>
      <p:sp>
        <p:nvSpPr>
          <p:cNvPr id="15" name="Rounded Rectangle 14"/>
          <p:cNvSpPr/>
          <p:nvPr/>
        </p:nvSpPr>
        <p:spPr>
          <a:xfrm>
            <a:off x="609600" y="3695700"/>
            <a:ext cx="5334000" cy="1092200"/>
          </a:xfrm>
          <a:prstGeom prst="roundRect">
            <a:avLst>
              <a:gd name="adj" fmla="val 5813"/>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Cash follow-up</a:t>
            </a:r>
          </a:p>
        </p:txBody>
      </p:sp>
      <p:sp>
        <p:nvSpPr>
          <p:cNvPr id="17" name="TextBox 16"/>
          <p:cNvSpPr txBox="1"/>
          <p:nvPr/>
        </p:nvSpPr>
        <p:spPr>
          <a:xfrm>
            <a:off x="8382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B4C9C8"/>
                </a:solidFill>
                <a:latin typeface="Segoe UI"/>
              </a:defRPr>
            </a:pPr>
            <a:r>
              <a:t>Age and value of outstanding invoices</a:t>
            </a:r>
          </a:p>
        </p:txBody>
      </p:sp>
      <p:sp>
        <p:nvSpPr>
          <p:cNvPr id="18" name="Rounded Rectangle 17"/>
          <p:cNvSpPr/>
          <p:nvPr/>
        </p:nvSpPr>
        <p:spPr>
          <a:xfrm>
            <a:off x="6248400" y="3695700"/>
            <a:ext cx="5334000" cy="1092200"/>
          </a:xfrm>
          <a:prstGeom prst="roundRect">
            <a:avLst>
              <a:gd name="adj" fmla="val 5813"/>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Admin effort</a:t>
            </a:r>
          </a:p>
        </p:txBody>
      </p:sp>
      <p:sp>
        <p:nvSpPr>
          <p:cNvPr id="20" name="TextBox 19"/>
          <p:cNvSpPr txBox="1"/>
          <p:nvPr/>
        </p:nvSpPr>
        <p:spPr>
          <a:xfrm>
            <a:off x="64770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B4C9C8"/>
                </a:solidFill>
                <a:latin typeface="Segoe UI"/>
              </a:defRPr>
            </a:pPr>
            <a:r>
              <a:t>Minutes to assemble a job closeout</a:t>
            </a:r>
          </a:p>
        </p:txBody>
      </p:sp>
      <p:sp>
        <p:nvSpPr>
          <p:cNvPr id="21" name="TextBox 20"/>
          <p:cNvSpPr txBox="1"/>
          <p:nvPr/>
        </p:nvSpPr>
        <p:spPr>
          <a:xfrm>
            <a:off x="609600" y="5194300"/>
            <a:ext cx="10985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80EDBA"/>
                </a:solidFill>
                <a:latin typeface="Segoe UI"/>
              </a:defRPr>
            </a:pPr>
            <a:r>
              <a:t>Where does a finished job wait before it becomes collected revenue?</a:t>
            </a:r>
          </a:p>
        </p:txBody>
      </p:sp>
      <p:sp>
        <p:nvSpPr>
          <p:cNvPr id="22" name="TextBox 21"/>
          <p:cNvSpPr txBox="1"/>
          <p:nvPr/>
        </p:nvSpPr>
        <p:spPr>
          <a:xfrm>
            <a:off x="609600" y="60833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B4C9C8"/>
                </a:solidFill>
                <a:latin typeface="Segoe UI"/>
              </a:defRPr>
            </a:pPr>
            <a:r>
              <a:t>Agree the baseline, sample and success threshold together. No outcome guarantee is implied.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tart focused. Give the team room to work.">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OPERATOROS APPLICATION STACK</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Start focused.</a:t>
            </a:r>
          </a:p>
          <a:p>
            <a:pPr algn="l">
              <a:lnSpc>
                <a:spcPts val="4284"/>
              </a:lnSpc>
              <a:spcBef>
                <a:spcPts val="0"/>
              </a:spcBef>
              <a:spcAft>
                <a:spcPts val="0"/>
              </a:spcAft>
              <a:defRPr sz="3600" b="1">
                <a:solidFill>
                  <a:srgbClr val="F3FAF7"/>
                </a:solidFill>
                <a:latin typeface="Segoe UI"/>
              </a:defRPr>
            </a:pPr>
            <a:r>
              <a:t>Give the team room to work.</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15 / 20</a:t>
            </a:r>
          </a:p>
        </p:txBody>
      </p:sp>
      <p:sp>
        <p:nvSpPr>
          <p:cNvPr id="9" name="TextBox 8"/>
          <p:cNvSpPr txBox="1"/>
          <p:nvPr/>
        </p:nvSpPr>
        <p:spPr>
          <a:xfrm>
            <a:off x="6096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80EDBA"/>
                </a:solidFill>
                <a:latin typeface="Segoe UI Light"/>
              </a:defRPr>
            </a:pPr>
            <a:r>
              <a:t>1</a:t>
            </a:r>
          </a:p>
        </p:txBody>
      </p:sp>
      <p:sp>
        <p:nvSpPr>
          <p:cNvPr id="10" name="TextBox 9"/>
          <p:cNvSpPr txBox="1"/>
          <p:nvPr/>
        </p:nvSpPr>
        <p:spPr>
          <a:xfrm>
            <a:off x="6096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3FAF7"/>
                </a:solidFill>
                <a:latin typeface="Segoe UI"/>
              </a:defRPr>
            </a:pPr>
            <a:r>
              <a:t>TradeFlowKit</a:t>
            </a:r>
          </a:p>
        </p:txBody>
      </p:sp>
      <p:sp>
        <p:nvSpPr>
          <p:cNvPr id="11" name="TextBox 10"/>
          <p:cNvSpPr txBox="1"/>
          <p:nvPr/>
        </p:nvSpPr>
        <p:spPr>
          <a:xfrm>
            <a:off x="6096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Your flagship application</a:t>
            </a:r>
          </a:p>
        </p:txBody>
      </p:sp>
      <p:sp>
        <p:nvSpPr>
          <p:cNvPr id="12" name="TextBox 11"/>
          <p:cNvSpPr txBox="1"/>
          <p:nvPr/>
        </p:nvSpPr>
        <p:spPr>
          <a:xfrm>
            <a:off x="43688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80EDBA"/>
                </a:solidFill>
                <a:latin typeface="Segoe UI Light"/>
              </a:defRPr>
            </a:pPr>
            <a:r>
              <a:t>5</a:t>
            </a:r>
          </a:p>
        </p:txBody>
      </p:sp>
      <p:sp>
        <p:nvSpPr>
          <p:cNvPr id="13" name="TextBox 12"/>
          <p:cNvSpPr txBox="1"/>
          <p:nvPr/>
        </p:nvSpPr>
        <p:spPr>
          <a:xfrm>
            <a:off x="43688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3FAF7"/>
                </a:solidFill>
                <a:latin typeface="Segoe UI"/>
              </a:defRPr>
            </a:pPr>
            <a:r>
              <a:t>Team seats</a:t>
            </a:r>
          </a:p>
        </p:txBody>
      </p:sp>
      <p:sp>
        <p:nvSpPr>
          <p:cNvPr id="14" name="TextBox 13"/>
          <p:cNvSpPr txBox="1"/>
          <p:nvPr/>
        </p:nvSpPr>
        <p:spPr>
          <a:xfrm>
            <a:off x="43688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Included with the stack</a:t>
            </a:r>
          </a:p>
        </p:txBody>
      </p:sp>
      <p:sp>
        <p:nvSpPr>
          <p:cNvPr id="15" name="TextBox 14"/>
          <p:cNvSpPr txBox="1"/>
          <p:nvPr/>
        </p:nvSpPr>
        <p:spPr>
          <a:xfrm>
            <a:off x="81280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80EDBA"/>
                </a:solidFill>
                <a:latin typeface="Segoe UI Light"/>
              </a:defRPr>
            </a:pPr>
            <a:r>
              <a:t>1</a:t>
            </a:r>
          </a:p>
        </p:txBody>
      </p:sp>
      <p:sp>
        <p:nvSpPr>
          <p:cNvPr id="16" name="TextBox 15"/>
          <p:cNvSpPr txBox="1"/>
          <p:nvPr/>
        </p:nvSpPr>
        <p:spPr>
          <a:xfrm>
            <a:off x="81280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3FAF7"/>
                </a:solidFill>
                <a:latin typeface="Segoe UI"/>
              </a:defRPr>
            </a:pPr>
            <a:r>
              <a:t>Eligible companion</a:t>
            </a:r>
          </a:p>
        </p:txBody>
      </p:sp>
      <p:sp>
        <p:nvSpPr>
          <p:cNvPr id="17" name="TextBox 16"/>
          <p:cNvSpPr txBox="1"/>
          <p:nvPr/>
        </p:nvSpPr>
        <p:spPr>
          <a:xfrm>
            <a:off x="81280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B4C9C8"/>
                </a:solidFill>
                <a:latin typeface="Segoe UI"/>
              </a:defRPr>
            </a:pPr>
            <a:r>
              <a:t>Chosen for your organization</a:t>
            </a:r>
          </a:p>
        </p:txBody>
      </p:sp>
      <p:sp>
        <p:nvSpPr>
          <p:cNvPr id="18" name="Rounded Rectangle 17"/>
          <p:cNvSpPr/>
          <p:nvPr/>
        </p:nvSpPr>
        <p:spPr>
          <a:xfrm>
            <a:off x="609600" y="5130800"/>
            <a:ext cx="10972800" cy="596900"/>
          </a:xfrm>
          <a:prstGeom prst="roundRect">
            <a:avLst>
              <a:gd name="adj" fmla="val 10638"/>
            </a:avLst>
          </a:prstGeom>
          <a:solidFill>
            <a:srgbClr val="113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5270500"/>
            <a:ext cx="105791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F3FAF7"/>
                </a:solidFill>
                <a:latin typeface="Segoe UI"/>
              </a:defRPr>
            </a:pPr>
            <a:r>
              <a:t>Free OperatorOS home base. Monthly billing. Add seats and eligible companions as needed.</a:t>
            </a:r>
          </a:p>
        </p:txBody>
      </p:sp>
      <p:sp>
        <p:nvSpPr>
          <p:cNvPr id="20" name="TextBox 19"/>
          <p:cNvSpPr txBox="1"/>
          <p:nvPr/>
        </p:nvSpPr>
        <p:spPr>
          <a:xfrm>
            <a:off x="609600" y="5905500"/>
            <a:ext cx="7962900" cy="247269"/>
          </a:xfrm>
          <a:prstGeom prst="rect">
            <a:avLst/>
          </a:prstGeom>
          <a:noFill/>
        </p:spPr>
        <p:txBody>
          <a:bodyPr wrap="none" lIns="0" rIns="0" tIns="0" bIns="0" anchor="t">
            <a:spAutoFit/>
          </a:bodyPr>
          <a:lstStyle/>
          <a:p>
            <a:pPr algn="l">
              <a:lnSpc>
                <a:spcPts val="1547"/>
              </a:lnSpc>
              <a:spcBef>
                <a:spcPts val="0"/>
              </a:spcBef>
              <a:spcAft>
                <a:spcPts val="0"/>
              </a:spcAft>
              <a:defRPr sz="1300" b="0">
                <a:solidFill>
                  <a:srgbClr val="B4C9C8"/>
                </a:solidFill>
                <a:latin typeface="Segoe UI"/>
              </a:defRPr>
            </a:pPr>
            <a:r>
              <a:t>Confirm the current quote and any usage charges before activation.</a:t>
            </a:r>
          </a:p>
        </p:txBody>
      </p:sp>
      <p:sp>
        <p:nvSpPr>
          <p:cNvPr id="21" name="TextBox 20"/>
          <p:cNvSpPr txBox="1"/>
          <p:nvPr/>
        </p:nvSpPr>
        <p:spPr>
          <a:xfrm>
            <a:off x="9359900" y="5880100"/>
            <a:ext cx="2235200" cy="277495"/>
          </a:xfrm>
          <a:prstGeom prst="rect">
            <a:avLst/>
          </a:prstGeom>
          <a:noFill/>
        </p:spPr>
        <p:txBody>
          <a:bodyPr wrap="none" lIns="0" rIns="0" tIns="0" bIns="0" anchor="t">
            <a:spAutoFit/>
          </a:bodyPr>
          <a:lstStyle/>
          <a:p>
            <a:pPr algn="r">
              <a:lnSpc>
                <a:spcPts val="1784"/>
              </a:lnSpc>
              <a:spcBef>
                <a:spcPts val="0"/>
              </a:spcBef>
              <a:spcAft>
                <a:spcPts val="0"/>
              </a:spcAft>
              <a:defRPr sz="1500" b="1">
                <a:solidFill>
                  <a:srgbClr val="80EDBA"/>
                </a:solidFill>
                <a:latin typeface="Segoe UI"/>
              </a:defRPr>
            </a:pPr>
            <a:r>
              <a:rPr>
                <a:hlinkClick r:id="rId3"/>
              </a:rPr>
              <a:t>Review plans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rove the fit with a focused 30-day pilot.">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PROPOSED EVALUATION / SCOPE AND TERMS BY AGREEMENT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Prove the fit</a:t>
            </a:r>
          </a:p>
          <a:p>
            <a:pPr algn="l">
              <a:lnSpc>
                <a:spcPts val="4284"/>
              </a:lnSpc>
              <a:spcBef>
                <a:spcPts val="0"/>
              </a:spcBef>
              <a:spcAft>
                <a:spcPts val="0"/>
              </a:spcAft>
              <a:defRPr sz="3600" b="1">
                <a:solidFill>
                  <a:srgbClr val="F3FAF7"/>
                </a:solidFill>
                <a:latin typeface="Segoe UI"/>
              </a:defRPr>
            </a:pPr>
            <a:r>
              <a:t>with a focused 30-day pilot.</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16 / 20</a:t>
            </a:r>
          </a:p>
        </p:txBody>
      </p:sp>
      <p:sp>
        <p:nvSpPr>
          <p:cNvPr id="9" name="TextBox 8"/>
          <p:cNvSpPr txBox="1"/>
          <p:nvPr/>
        </p:nvSpPr>
        <p:spPr>
          <a:xfrm>
            <a:off x="6096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WEEK 1</a:t>
            </a:r>
          </a:p>
        </p:txBody>
      </p:sp>
      <p:cxnSp>
        <p:nvCxnSpPr>
          <p:cNvPr id="10" name="Connector 9"/>
          <p:cNvCxnSpPr/>
          <p:nvPr/>
        </p:nvCxnSpPr>
        <p:spPr>
          <a:xfrm>
            <a:off x="609600" y="28575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SET THE BASELINE</a:t>
            </a:r>
          </a:p>
        </p:txBody>
      </p:sp>
      <p:sp>
        <p:nvSpPr>
          <p:cNvPr id="12" name="TextBox 11"/>
          <p:cNvSpPr txBox="1"/>
          <p:nvPr/>
        </p:nvSpPr>
        <p:spPr>
          <a:xfrm>
            <a:off x="6096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B4C9C8"/>
                </a:solidFill>
                <a:latin typeface="Segoe UI"/>
              </a:defRPr>
            </a:pPr>
            <a:r>
              <a:t>Select one service line and five</a:t>
            </a:r>
          </a:p>
          <a:p>
            <a:pPr algn="l">
              <a:lnSpc>
                <a:spcPts val="2261"/>
              </a:lnSpc>
              <a:spcBef>
                <a:spcPts val="0"/>
              </a:spcBef>
              <a:spcAft>
                <a:spcPts val="0"/>
              </a:spcAft>
              <a:defRPr sz="1900" b="0">
                <a:solidFill>
                  <a:srgbClr val="B4C9C8"/>
                </a:solidFill>
                <a:latin typeface="Segoe UI"/>
              </a:defRPr>
            </a:pPr>
            <a:r>
              <a:t>users. Map one job path and</a:t>
            </a:r>
          </a:p>
          <a:p>
            <a:pPr algn="l">
              <a:lnSpc>
                <a:spcPts val="2261"/>
              </a:lnSpc>
              <a:spcBef>
                <a:spcPts val="0"/>
              </a:spcBef>
              <a:spcAft>
                <a:spcPts val="0"/>
              </a:spcAft>
              <a:defRPr sz="1900" b="0">
                <a:solidFill>
                  <a:srgbClr val="B4C9C8"/>
                </a:solidFill>
                <a:latin typeface="Segoe UI"/>
              </a:defRPr>
            </a:pPr>
            <a:r>
              <a:t>current delays.</a:t>
            </a:r>
          </a:p>
        </p:txBody>
      </p:sp>
      <p:sp>
        <p:nvSpPr>
          <p:cNvPr id="13" name="TextBox 12"/>
          <p:cNvSpPr txBox="1"/>
          <p:nvPr/>
        </p:nvSpPr>
        <p:spPr>
          <a:xfrm>
            <a:off x="43688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WEEKS 2–3</a:t>
            </a:r>
          </a:p>
        </p:txBody>
      </p:sp>
      <p:cxnSp>
        <p:nvCxnSpPr>
          <p:cNvPr id="14" name="Connector 13"/>
          <p:cNvCxnSpPr/>
          <p:nvPr/>
        </p:nvCxnSpPr>
        <p:spPr>
          <a:xfrm>
            <a:off x="4368800" y="28575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WORK THE FLOW</a:t>
            </a:r>
          </a:p>
        </p:txBody>
      </p:sp>
      <p:sp>
        <p:nvSpPr>
          <p:cNvPr id="16" name="TextBox 15"/>
          <p:cNvSpPr txBox="1"/>
          <p:nvPr/>
        </p:nvSpPr>
        <p:spPr>
          <a:xfrm>
            <a:off x="4368800" y="3949700"/>
            <a:ext cx="3378200" cy="625094"/>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B4C9C8"/>
                </a:solidFill>
                <a:latin typeface="Segoe UI"/>
              </a:defRPr>
            </a:pPr>
            <a:r>
              <a:t>Run a small agreed job sample.</a:t>
            </a:r>
          </a:p>
          <a:p>
            <a:pPr algn="l">
              <a:lnSpc>
                <a:spcPts val="2261"/>
              </a:lnSpc>
              <a:spcBef>
                <a:spcPts val="0"/>
              </a:spcBef>
              <a:spcAft>
                <a:spcPts val="0"/>
              </a:spcAft>
              <a:defRPr sz="1900" b="0">
                <a:solidFill>
                  <a:srgbClr val="B4C9C8"/>
                </a:solidFill>
                <a:latin typeface="Segoe UI"/>
              </a:defRPr>
            </a:pPr>
            <a:r>
              <a:t>Review exceptions each day.</a:t>
            </a:r>
          </a:p>
        </p:txBody>
      </p:sp>
      <p:sp>
        <p:nvSpPr>
          <p:cNvPr id="17" name="TextBox 16"/>
          <p:cNvSpPr txBox="1"/>
          <p:nvPr/>
        </p:nvSpPr>
        <p:spPr>
          <a:xfrm>
            <a:off x="81280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WEEK 4</a:t>
            </a:r>
          </a:p>
        </p:txBody>
      </p:sp>
      <p:cxnSp>
        <p:nvCxnSpPr>
          <p:cNvPr id="18" name="Connector 17"/>
          <p:cNvCxnSpPr/>
          <p:nvPr/>
        </p:nvCxnSpPr>
        <p:spPr>
          <a:xfrm>
            <a:off x="8128000" y="2857500"/>
            <a:ext cx="3454400" cy="0"/>
          </a:xfrm>
          <a:prstGeom prst="line">
            <a:avLst/>
          </a:prstGeom>
          <a:ln w="25400">
            <a:solidFill>
              <a:srgbClr val="80ED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3FAF7"/>
                </a:solidFill>
                <a:latin typeface="Segoe UI"/>
              </a:defRPr>
            </a:pPr>
            <a:r>
              <a:t>CLOSE THE LOOP</a:t>
            </a:r>
          </a:p>
        </p:txBody>
      </p:sp>
      <p:sp>
        <p:nvSpPr>
          <p:cNvPr id="20" name="TextBox 19"/>
          <p:cNvSpPr txBox="1"/>
          <p:nvPr/>
        </p:nvSpPr>
        <p:spPr>
          <a:xfrm>
            <a:off x="81280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B4C9C8"/>
                </a:solidFill>
                <a:latin typeface="Segoe UI"/>
              </a:defRPr>
            </a:pPr>
            <a:r>
              <a:t>Check proof, billing handoffs</a:t>
            </a:r>
          </a:p>
          <a:p>
            <a:pPr algn="l">
              <a:lnSpc>
                <a:spcPts val="2261"/>
              </a:lnSpc>
              <a:spcBef>
                <a:spcPts val="0"/>
              </a:spcBef>
              <a:spcAft>
                <a:spcPts val="0"/>
              </a:spcAft>
              <a:defRPr sz="1900" b="0">
                <a:solidFill>
                  <a:srgbClr val="B4C9C8"/>
                </a:solidFill>
                <a:latin typeface="Segoe UI"/>
              </a:defRPr>
            </a:pPr>
            <a:r>
              <a:t>and balances. Compare the</a:t>
            </a:r>
          </a:p>
          <a:p>
            <a:pPr algn="l">
              <a:lnSpc>
                <a:spcPts val="2261"/>
              </a:lnSpc>
              <a:spcBef>
                <a:spcPts val="0"/>
              </a:spcBef>
              <a:spcAft>
                <a:spcPts val="0"/>
              </a:spcAft>
              <a:defRPr sz="1900" b="0">
                <a:solidFill>
                  <a:srgbClr val="B4C9C8"/>
                </a:solidFill>
                <a:latin typeface="Segoe UI"/>
              </a:defRPr>
            </a:pPr>
            <a:r>
              <a:t>baseline.</a:t>
            </a:r>
          </a:p>
        </p:txBody>
      </p:sp>
      <p:sp>
        <p:nvSpPr>
          <p:cNvPr id="21" name="TextBox 20"/>
          <p:cNvSpPr txBox="1"/>
          <p:nvPr/>
        </p:nvSpPr>
        <p:spPr>
          <a:xfrm>
            <a:off x="609600" y="5575300"/>
            <a:ext cx="10985500" cy="315277"/>
          </a:xfrm>
          <a:prstGeom prst="rect">
            <a:avLst/>
          </a:prstGeom>
          <a:noFill/>
        </p:spPr>
        <p:txBody>
          <a:bodyPr wrap="none" lIns="0" rIns="0" tIns="0" bIns="0" anchor="t">
            <a:spAutoFit/>
          </a:bodyPr>
          <a:lstStyle/>
          <a:p>
            <a:pPr algn="l">
              <a:lnSpc>
                <a:spcPts val="2082"/>
              </a:lnSpc>
              <a:spcBef>
                <a:spcPts val="0"/>
              </a:spcBef>
              <a:spcAft>
                <a:spcPts val="0"/>
              </a:spcAft>
              <a:defRPr sz="1750" b="1">
                <a:solidFill>
                  <a:srgbClr val="80EDBA"/>
                </a:solidFill>
                <a:latin typeface="Segoe UI"/>
              </a:defRPr>
            </a:pPr>
            <a:r>
              <a:t>Continue when the team can carry a job through the agreed workflow and explain every open next 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Bring one job that should have moved faster.">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des.png"/>
          <p:cNvPicPr>
            <a:picLocks noChangeAspect="1"/>
          </p:cNvPicPr>
          <p:nvPr/>
        </p:nvPicPr>
        <p:blipFill>
          <a:blip r:embed="rId3"/>
          <a:srcRect l="6944" r="6944"/>
          <a:stretch>
            <a:fillRect/>
          </a:stretch>
        </p:blipFill>
        <p:spPr>
          <a:xfrm>
            <a:off x="8255000" y="0"/>
            <a:ext cx="3937000" cy="6858000"/>
          </a:xfrm>
          <a:prstGeom prst="rect">
            <a:avLst/>
          </a:prstGeom>
        </p:spPr>
      </p:pic>
      <p:sp>
        <p:nvSpPr>
          <p:cNvPr id="5" name="Rectangle 4"/>
          <p:cNvSpPr/>
          <p:nvPr/>
        </p:nvSpPr>
        <p:spPr>
          <a:xfrm>
            <a:off x="8001000" y="0"/>
            <a:ext cx="2540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F3FAF7"/>
                </a:solidFill>
                <a:latin typeface="Segoe UI"/>
              </a:defRPr>
            </a:pPr>
            <a:r>
              <a:t>OperatorOS</a:t>
            </a:r>
          </a:p>
        </p:txBody>
      </p:sp>
      <p:sp>
        <p:nvSpPr>
          <p:cNvPr id="8" name="TextBox 7"/>
          <p:cNvSpPr txBox="1"/>
          <p:nvPr/>
        </p:nvSpPr>
        <p:spPr>
          <a:xfrm>
            <a:off x="609600" y="1473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THE NEXT CONVERSATION</a:t>
            </a:r>
          </a:p>
        </p:txBody>
      </p:sp>
      <p:sp>
        <p:nvSpPr>
          <p:cNvPr id="9" name="TextBox 8"/>
          <p:cNvSpPr txBox="1"/>
          <p:nvPr/>
        </p:nvSpPr>
        <p:spPr>
          <a:xfrm>
            <a:off x="609600" y="2006600"/>
            <a:ext cx="7251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F3FAF7"/>
                </a:solidFill>
                <a:latin typeface="Segoe UI"/>
              </a:defRPr>
            </a:pPr>
            <a:r>
              <a:t>Bring one job</a:t>
            </a:r>
          </a:p>
          <a:p>
            <a:pPr algn="l">
              <a:lnSpc>
                <a:spcPts val="5236"/>
              </a:lnSpc>
              <a:spcBef>
                <a:spcPts val="0"/>
              </a:spcBef>
              <a:spcAft>
                <a:spcPts val="0"/>
              </a:spcAft>
              <a:defRPr sz="4400" b="1">
                <a:solidFill>
                  <a:srgbClr val="F3FAF7"/>
                </a:solidFill>
                <a:latin typeface="Segoe UI"/>
              </a:defRPr>
            </a:pPr>
            <a:r>
              <a:t>that should have</a:t>
            </a:r>
          </a:p>
          <a:p>
            <a:pPr algn="l">
              <a:lnSpc>
                <a:spcPts val="5236"/>
              </a:lnSpc>
              <a:spcBef>
                <a:spcPts val="0"/>
              </a:spcBef>
              <a:spcAft>
                <a:spcPts val="0"/>
              </a:spcAft>
              <a:defRPr sz="4400" b="1">
                <a:solidFill>
                  <a:srgbClr val="F3FAF7"/>
                </a:solidFill>
                <a:latin typeface="Segoe UI"/>
              </a:defRPr>
            </a:pPr>
            <a:r>
              <a:t>moved faster.</a:t>
            </a:r>
          </a:p>
        </p:txBody>
      </p:sp>
      <p:sp>
        <p:nvSpPr>
          <p:cNvPr id="10" name="TextBox 9"/>
          <p:cNvSpPr txBox="1"/>
          <p:nvPr/>
        </p:nvSpPr>
        <p:spPr>
          <a:xfrm>
            <a:off x="609600" y="4305300"/>
            <a:ext cx="6807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B4C9C8"/>
                </a:solidFill>
                <a:latin typeface="Segoe UI"/>
              </a:defRPr>
            </a:pPr>
            <a:r>
              <a:t>We’ll map the missed handoff, show the connected</a:t>
            </a:r>
          </a:p>
          <a:p>
            <a:pPr algn="l">
              <a:lnSpc>
                <a:spcPts val="2379"/>
              </a:lnSpc>
              <a:spcBef>
                <a:spcPts val="0"/>
              </a:spcBef>
              <a:spcAft>
                <a:spcPts val="0"/>
              </a:spcAft>
              <a:defRPr sz="2000" b="0">
                <a:solidFill>
                  <a:srgbClr val="B4C9C8"/>
                </a:solidFill>
                <a:latin typeface="Segoe UI"/>
              </a:defRPr>
            </a:pPr>
            <a:r>
              <a:t>workflow and agree what a successful pilot must prove.</a:t>
            </a:r>
          </a:p>
        </p:txBody>
      </p:sp>
      <p:sp>
        <p:nvSpPr>
          <p:cNvPr id="11" name="Rounded Rectangle 10"/>
          <p:cNvSpPr/>
          <p:nvPr/>
        </p:nvSpPr>
        <p:spPr>
          <a:xfrm>
            <a:off x="609600" y="5651500"/>
            <a:ext cx="4076700" cy="546100"/>
          </a:xfrm>
          <a:prstGeom prst="roundRect">
            <a:avLst>
              <a:gd name="adj" fmla="val 9302"/>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5791200"/>
            <a:ext cx="3733800" cy="292608"/>
          </a:xfrm>
          <a:prstGeom prst="rect">
            <a:avLst/>
          </a:prstGeom>
          <a:noFill/>
        </p:spPr>
        <p:txBody>
          <a:bodyPr wrap="none" lIns="0" rIns="0" tIns="0" bIns="0" anchor="t">
            <a:spAutoFit/>
          </a:bodyPr>
          <a:lstStyle/>
          <a:p>
            <a:pPr algn="l">
              <a:lnSpc>
                <a:spcPts val="1904"/>
              </a:lnSpc>
              <a:spcBef>
                <a:spcPts val="0"/>
              </a:spcBef>
              <a:spcAft>
                <a:spcPts val="0"/>
              </a:spcAft>
              <a:defRPr sz="1600" b="1">
                <a:solidFill>
                  <a:srgbClr val="071E23"/>
                </a:solidFill>
                <a:latin typeface="Segoe UI"/>
              </a:defRPr>
            </a:pPr>
            <a:r>
              <a:rPr>
                <a:hlinkClick r:id="rId5"/>
              </a:rPr>
              <a:t>Map your workflow with us →</a:t>
            </a:r>
          </a:p>
        </p:txBody>
      </p:sp>
      <p:sp>
        <p:nvSpPr>
          <p:cNvPr id="13" name="TextBox 12"/>
          <p:cNvSpPr txBox="1"/>
          <p:nvPr/>
        </p:nvSpPr>
        <p:spPr>
          <a:xfrm>
            <a:off x="609600" y="6464300"/>
            <a:ext cx="7150100" cy="232156"/>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B4C9C8"/>
                </a:solidFill>
                <a:latin typeface="Segoe UI"/>
              </a:defRPr>
            </a:pPr>
            <a:r>
              <a:rPr>
                <a:hlinkClick r:id="rId6"/>
              </a:rPr>
              <a:t>operatoros.net/for/trades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name="The questions that make the fit clearer.">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APPENDIX / BUYER QUESTIONS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The questions that</a:t>
            </a:r>
          </a:p>
          <a:p>
            <a:pPr algn="l">
              <a:lnSpc>
                <a:spcPts val="4284"/>
              </a:lnSpc>
              <a:spcBef>
                <a:spcPts val="0"/>
              </a:spcBef>
              <a:spcAft>
                <a:spcPts val="0"/>
              </a:spcAft>
              <a:defRPr sz="3600" b="1">
                <a:solidFill>
                  <a:srgbClr val="F3FAF7"/>
                </a:solidFill>
                <a:latin typeface="Segoe UI"/>
              </a:defRPr>
            </a:pPr>
            <a:r>
              <a:t>make the fit clearer.</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18 / 20</a:t>
            </a:r>
          </a:p>
        </p:txBody>
      </p:sp>
      <p:cxnSp>
        <p:nvCxnSpPr>
          <p:cNvPr id="9" name="Connector 8"/>
          <p:cNvCxnSpPr/>
          <p:nvPr/>
        </p:nvCxnSpPr>
        <p:spPr>
          <a:xfrm>
            <a:off x="609600" y="22987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47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“We already use accounting</a:t>
            </a:r>
          </a:p>
          <a:p>
            <a:pPr algn="l">
              <a:lnSpc>
                <a:spcPts val="2261"/>
              </a:lnSpc>
              <a:spcBef>
                <a:spcPts val="0"/>
              </a:spcBef>
              <a:spcAft>
                <a:spcPts val="0"/>
              </a:spcAft>
              <a:defRPr sz="1900" b="1">
                <a:solidFill>
                  <a:srgbClr val="F3FAF7"/>
                </a:solidFill>
                <a:latin typeface="Segoe UI"/>
              </a:defRPr>
            </a:pPr>
            <a:r>
              <a:t>software.”</a:t>
            </a:r>
          </a:p>
        </p:txBody>
      </p:sp>
      <p:sp>
        <p:nvSpPr>
          <p:cNvPr id="11" name="TextBox 10"/>
          <p:cNvSpPr txBox="1"/>
          <p:nvPr/>
        </p:nvSpPr>
        <p:spPr>
          <a:xfrm>
            <a:off x="4940300" y="247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Keep it. Evaluate the customer-to-work-to-invoice handoffs around</a:t>
            </a:r>
          </a:p>
          <a:p>
            <a:pPr algn="l">
              <a:lnSpc>
                <a:spcPts val="2023"/>
              </a:lnSpc>
              <a:spcBef>
                <a:spcPts val="0"/>
              </a:spcBef>
              <a:spcAft>
                <a:spcPts val="0"/>
              </a:spcAft>
              <a:defRPr sz="1700" b="0">
                <a:solidFill>
                  <a:srgbClr val="B4C9C8"/>
                </a:solidFill>
                <a:latin typeface="Segoe UI"/>
              </a:defRPr>
            </a:pPr>
            <a:r>
              <a:t>it. Start with supported accounting exports; do not assume direct</a:t>
            </a:r>
          </a:p>
          <a:p>
            <a:pPr algn="l">
              <a:lnSpc>
                <a:spcPts val="2023"/>
              </a:lnSpc>
              <a:spcBef>
                <a:spcPts val="0"/>
              </a:spcBef>
              <a:spcAft>
                <a:spcPts val="0"/>
              </a:spcAft>
              <a:defRPr sz="1700" b="0">
                <a:solidFill>
                  <a:srgbClr val="B4C9C8"/>
                </a:solidFill>
                <a:latin typeface="Segoe UI"/>
              </a:defRPr>
            </a:pPr>
            <a:r>
              <a:t>QuickBooks sync.</a:t>
            </a:r>
          </a:p>
        </p:txBody>
      </p:sp>
      <p:cxnSp>
        <p:nvCxnSpPr>
          <p:cNvPr id="12" name="Connector 11"/>
          <p:cNvCxnSpPr/>
          <p:nvPr/>
        </p:nvCxnSpPr>
        <p:spPr>
          <a:xfrm>
            <a:off x="609600" y="35687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74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“The crew will not tolerate more</a:t>
            </a:r>
          </a:p>
          <a:p>
            <a:pPr algn="l">
              <a:lnSpc>
                <a:spcPts val="2261"/>
              </a:lnSpc>
              <a:spcBef>
                <a:spcPts val="0"/>
              </a:spcBef>
              <a:spcAft>
                <a:spcPts val="0"/>
              </a:spcAft>
              <a:defRPr sz="1900" b="1">
                <a:solidFill>
                  <a:srgbClr val="F3FAF7"/>
                </a:solidFill>
                <a:latin typeface="Segoe UI"/>
              </a:defRPr>
            </a:pPr>
            <a:r>
              <a:t>admin.”</a:t>
            </a:r>
          </a:p>
        </p:txBody>
      </p:sp>
      <p:sp>
        <p:nvSpPr>
          <p:cNvPr id="14" name="TextBox 13"/>
          <p:cNvSpPr txBox="1"/>
          <p:nvPr/>
        </p:nvSpPr>
        <p:spPr>
          <a:xfrm>
            <a:off x="4940300" y="3746500"/>
            <a:ext cx="66548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Start with one job and the few fields needed to own the next action.</a:t>
            </a:r>
          </a:p>
          <a:p>
            <a:pPr algn="l">
              <a:lnSpc>
                <a:spcPts val="2023"/>
              </a:lnSpc>
              <a:spcBef>
                <a:spcPts val="0"/>
              </a:spcBef>
              <a:spcAft>
                <a:spcPts val="0"/>
              </a:spcAft>
              <a:defRPr sz="1700" b="0">
                <a:solidFill>
                  <a:srgbClr val="B4C9C8"/>
                </a:solidFill>
                <a:latin typeface="Segoe UI"/>
              </a:defRPr>
            </a:pPr>
            <a:r>
              <a:t>Measure entry and handoff time with the actual team.</a:t>
            </a:r>
          </a:p>
        </p:txBody>
      </p:sp>
      <p:cxnSp>
        <p:nvCxnSpPr>
          <p:cNvPr id="15" name="Connector 14"/>
          <p:cNvCxnSpPr/>
          <p:nvPr/>
        </p:nvCxnSpPr>
        <p:spPr>
          <a:xfrm>
            <a:off x="609600" y="48387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01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3FAF7"/>
                </a:solidFill>
                <a:latin typeface="Segoe UI"/>
              </a:defRPr>
            </a:pPr>
            <a:r>
              <a:t>“Can everything send and collect</a:t>
            </a:r>
          </a:p>
          <a:p>
            <a:pPr algn="l">
              <a:lnSpc>
                <a:spcPts val="2261"/>
              </a:lnSpc>
              <a:spcBef>
                <a:spcPts val="0"/>
              </a:spcBef>
              <a:spcAft>
                <a:spcPts val="0"/>
              </a:spcAft>
              <a:defRPr sz="1900" b="1">
                <a:solidFill>
                  <a:srgbClr val="F3FAF7"/>
                </a:solidFill>
                <a:latin typeface="Segoe UI"/>
              </a:defRPr>
            </a:pPr>
            <a:r>
              <a:t>automatically?”</a:t>
            </a:r>
          </a:p>
        </p:txBody>
      </p:sp>
      <p:sp>
        <p:nvSpPr>
          <p:cNvPr id="17" name="TextBox 16"/>
          <p:cNvSpPr txBox="1"/>
          <p:nvPr/>
        </p:nvSpPr>
        <p:spPr>
          <a:xfrm>
            <a:off x="4940300" y="5016500"/>
            <a:ext cx="66548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Messages and online payments require verified services. Keep</a:t>
            </a:r>
          </a:p>
          <a:p>
            <a:pPr algn="l">
              <a:lnSpc>
                <a:spcPts val="2023"/>
              </a:lnSpc>
              <a:spcBef>
                <a:spcPts val="0"/>
              </a:spcBef>
              <a:spcAft>
                <a:spcPts val="0"/>
              </a:spcAft>
              <a:defRPr sz="1700" b="0">
                <a:solidFill>
                  <a:srgbClr val="B4C9C8"/>
                </a:solidFill>
                <a:latin typeface="Segoe UI"/>
              </a:defRPr>
            </a:pPr>
            <a:r>
              <a:t>approval, delivery and settlement states distinct during the pilot.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name="Capabilities at a glance.">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APPENDIX / FEATURE CHECKLIST</a:t>
            </a:r>
          </a:p>
        </p:txBody>
      </p:sp>
      <p:sp>
        <p:nvSpPr>
          <p:cNvPr id="5" name="TextBox 4"/>
          <p:cNvSpPr txBox="1"/>
          <p:nvPr/>
        </p:nvSpPr>
        <p:spPr>
          <a:xfrm>
            <a:off x="609600" y="825500"/>
            <a:ext cx="10934700" cy="594868"/>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Capabilities at a glance.</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19 / 20</a:t>
            </a:r>
          </a:p>
        </p:txBody>
      </p:sp>
      <p:cxnSp>
        <p:nvCxnSpPr>
          <p:cNvPr id="9" name="Connector 8"/>
          <p:cNvCxnSpPr/>
          <p:nvPr/>
        </p:nvCxnSpPr>
        <p:spPr>
          <a:xfrm>
            <a:off x="609600" y="25400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Sales</a:t>
            </a:r>
          </a:p>
        </p:txBody>
      </p:sp>
      <p:sp>
        <p:nvSpPr>
          <p:cNvPr id="11" name="TextBox 10"/>
          <p:cNvSpPr txBox="1"/>
          <p:nvPr/>
        </p:nvSpPr>
        <p:spPr>
          <a:xfrm>
            <a:off x="6096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Leads • owners • status • saved views</a:t>
            </a:r>
          </a:p>
        </p:txBody>
      </p:sp>
      <p:cxnSp>
        <p:nvCxnSpPr>
          <p:cNvPr id="12" name="Connector 11"/>
          <p:cNvCxnSpPr/>
          <p:nvPr/>
        </p:nvCxnSpPr>
        <p:spPr>
          <a:xfrm>
            <a:off x="6248400" y="25400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Customers</a:t>
            </a:r>
          </a:p>
        </p:txBody>
      </p:sp>
      <p:sp>
        <p:nvSpPr>
          <p:cNvPr id="14" name="TextBox 13"/>
          <p:cNvSpPr txBox="1"/>
          <p:nvPr/>
        </p:nvSpPr>
        <p:spPr>
          <a:xfrm>
            <a:off x="62484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Shared directory • contacts • sites</a:t>
            </a:r>
          </a:p>
        </p:txBody>
      </p:sp>
      <p:cxnSp>
        <p:nvCxnSpPr>
          <p:cNvPr id="15" name="Connector 14"/>
          <p:cNvCxnSpPr/>
          <p:nvPr/>
        </p:nvCxnSpPr>
        <p:spPr>
          <a:xfrm>
            <a:off x="609600" y="32512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Delivery</a:t>
            </a:r>
          </a:p>
        </p:txBody>
      </p:sp>
      <p:sp>
        <p:nvSpPr>
          <p:cNvPr id="17" name="TextBox 16"/>
          <p:cNvSpPr txBox="1"/>
          <p:nvPr/>
        </p:nvSpPr>
        <p:spPr>
          <a:xfrm>
            <a:off x="6096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Jobs • tasks • dates • workflow stages</a:t>
            </a:r>
          </a:p>
        </p:txBody>
      </p:sp>
      <p:cxnSp>
        <p:nvCxnSpPr>
          <p:cNvPr id="18" name="Connector 17"/>
          <p:cNvCxnSpPr/>
          <p:nvPr/>
        </p:nvCxnSpPr>
        <p:spPr>
          <a:xfrm>
            <a:off x="6248400" y="32512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Repeat service</a:t>
            </a:r>
          </a:p>
        </p:txBody>
      </p:sp>
      <p:sp>
        <p:nvSpPr>
          <p:cNvPr id="20" name="TextBox 19"/>
          <p:cNvSpPr txBox="1"/>
          <p:nvPr/>
        </p:nvSpPr>
        <p:spPr>
          <a:xfrm>
            <a:off x="62484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Recurring templates • next run • pause</a:t>
            </a:r>
          </a:p>
        </p:txBody>
      </p:sp>
      <p:cxnSp>
        <p:nvCxnSpPr>
          <p:cNvPr id="21" name="Connector 20"/>
          <p:cNvCxnSpPr/>
          <p:nvPr/>
        </p:nvCxnSpPr>
        <p:spPr>
          <a:xfrm>
            <a:off x="609600" y="39624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Quotes</a:t>
            </a:r>
          </a:p>
        </p:txBody>
      </p:sp>
      <p:sp>
        <p:nvSpPr>
          <p:cNvPr id="23" name="TextBox 22"/>
          <p:cNvSpPr txBox="1"/>
          <p:nvPr/>
        </p:nvSpPr>
        <p:spPr>
          <a:xfrm>
            <a:off x="6096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Line items • totals • customer decision</a:t>
            </a:r>
          </a:p>
        </p:txBody>
      </p:sp>
      <p:cxnSp>
        <p:nvCxnSpPr>
          <p:cNvPr id="24" name="Connector 23"/>
          <p:cNvCxnSpPr/>
          <p:nvPr/>
        </p:nvCxnSpPr>
        <p:spPr>
          <a:xfrm>
            <a:off x="6248400" y="39624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484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Invoices</a:t>
            </a:r>
          </a:p>
        </p:txBody>
      </p:sp>
      <p:sp>
        <p:nvSpPr>
          <p:cNvPr id="26" name="TextBox 25"/>
          <p:cNvSpPr txBox="1"/>
          <p:nvPr/>
        </p:nvSpPr>
        <p:spPr>
          <a:xfrm>
            <a:off x="62484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Issue • share • balances • corrections</a:t>
            </a:r>
          </a:p>
        </p:txBody>
      </p:sp>
      <p:cxnSp>
        <p:nvCxnSpPr>
          <p:cNvPr id="27" name="Connector 26"/>
          <p:cNvCxnSpPr/>
          <p:nvPr/>
        </p:nvCxnSpPr>
        <p:spPr>
          <a:xfrm>
            <a:off x="609600" y="46736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Payments</a:t>
            </a:r>
          </a:p>
        </p:txBody>
      </p:sp>
      <p:sp>
        <p:nvSpPr>
          <p:cNvPr id="29" name="TextBox 28"/>
          <p:cNvSpPr txBox="1"/>
          <p:nvPr/>
        </p:nvSpPr>
        <p:spPr>
          <a:xfrm>
            <a:off x="6096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Manual reference • provider settlement</a:t>
            </a:r>
          </a:p>
        </p:txBody>
      </p:sp>
      <p:cxnSp>
        <p:nvCxnSpPr>
          <p:cNvPr id="30" name="Connector 29"/>
          <p:cNvCxnSpPr/>
          <p:nvPr/>
        </p:nvCxnSpPr>
        <p:spPr>
          <a:xfrm>
            <a:off x="6248400" y="46736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2484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Visibility</a:t>
            </a:r>
          </a:p>
        </p:txBody>
      </p:sp>
      <p:sp>
        <p:nvSpPr>
          <p:cNvPr id="32" name="TextBox 31"/>
          <p:cNvSpPr txBox="1"/>
          <p:nvPr/>
        </p:nvSpPr>
        <p:spPr>
          <a:xfrm>
            <a:off x="62484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Revenue Rescue • workload • analytics</a:t>
            </a:r>
          </a:p>
        </p:txBody>
      </p:sp>
      <p:cxnSp>
        <p:nvCxnSpPr>
          <p:cNvPr id="33" name="Connector 32"/>
          <p:cNvCxnSpPr/>
          <p:nvPr/>
        </p:nvCxnSpPr>
        <p:spPr>
          <a:xfrm>
            <a:off x="609600" y="53848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096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Follow-up</a:t>
            </a:r>
          </a:p>
        </p:txBody>
      </p:sp>
      <p:sp>
        <p:nvSpPr>
          <p:cNvPr id="35" name="TextBox 34"/>
          <p:cNvSpPr txBox="1"/>
          <p:nvPr/>
        </p:nvSpPr>
        <p:spPr>
          <a:xfrm>
            <a:off x="6096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Permission-aware messaging outbox</a:t>
            </a:r>
          </a:p>
        </p:txBody>
      </p:sp>
      <p:cxnSp>
        <p:nvCxnSpPr>
          <p:cNvPr id="36" name="Connector 35"/>
          <p:cNvCxnSpPr/>
          <p:nvPr/>
        </p:nvCxnSpPr>
        <p:spPr>
          <a:xfrm>
            <a:off x="6248400" y="53848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484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Evidence</a:t>
            </a:r>
          </a:p>
        </p:txBody>
      </p:sp>
      <p:sp>
        <p:nvSpPr>
          <p:cNvPr id="38" name="TextBox 37"/>
          <p:cNvSpPr txBox="1"/>
          <p:nvPr/>
        </p:nvSpPr>
        <p:spPr>
          <a:xfrm>
            <a:off x="62484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Activity • eligible SnapProofOS handoff</a:t>
            </a:r>
          </a:p>
        </p:txBody>
      </p:sp>
      <p:cxnSp>
        <p:nvCxnSpPr>
          <p:cNvPr id="39" name="Connector 38"/>
          <p:cNvCxnSpPr/>
          <p:nvPr/>
        </p:nvCxnSpPr>
        <p:spPr>
          <a:xfrm>
            <a:off x="609600" y="60960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96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Accounting</a:t>
            </a:r>
          </a:p>
        </p:txBody>
      </p:sp>
      <p:sp>
        <p:nvSpPr>
          <p:cNvPr id="41" name="TextBox 40"/>
          <p:cNvSpPr txBox="1"/>
          <p:nvPr/>
        </p:nvSpPr>
        <p:spPr>
          <a:xfrm>
            <a:off x="6096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Supported accounting exports</a:t>
            </a:r>
          </a:p>
        </p:txBody>
      </p:sp>
      <p:cxnSp>
        <p:nvCxnSpPr>
          <p:cNvPr id="42" name="Connector 41"/>
          <p:cNvCxnSpPr/>
          <p:nvPr/>
        </p:nvCxnSpPr>
        <p:spPr>
          <a:xfrm>
            <a:off x="6248400" y="6096000"/>
            <a:ext cx="53340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484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80EDBA"/>
                </a:solidFill>
                <a:latin typeface="Segoe UI"/>
              </a:defRPr>
            </a:pPr>
            <a:r>
              <a:t>Access</a:t>
            </a:r>
          </a:p>
        </p:txBody>
      </p:sp>
      <p:sp>
        <p:nvSpPr>
          <p:cNvPr id="44" name="TextBox 43"/>
          <p:cNvSpPr txBox="1"/>
          <p:nvPr/>
        </p:nvSpPr>
        <p:spPr>
          <a:xfrm>
            <a:off x="62484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B4C9C8"/>
                </a:solidFill>
                <a:latin typeface="Segoe UI"/>
              </a:defRPr>
            </a:pPr>
            <a:r>
              <a:t>OperatorOS members • roles • app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name="Agree the scope. Verify the workflow.">
    <p:spTree>
      <p:nvGrpSpPr>
        <p:cNvPr id="1" name=""/>
        <p:cNvGrpSpPr/>
        <p:nvPr/>
      </p:nvGrpSpPr>
      <p:grpSpPr/>
      <p:sp>
        <p:nvSpPr>
          <p:cNvPr id="2" name="Rectangle 1"/>
          <p:cNvSpPr/>
          <p:nvPr/>
        </p:nvSpPr>
        <p:spPr>
          <a:xfrm>
            <a:off x="0" y="0"/>
            <a:ext cx="12192000" cy="6858000"/>
          </a:xfrm>
          <a:prstGeom prst="rect">
            <a:avLst/>
          </a:prstGeom>
          <a:solidFill>
            <a:srgbClr val="07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80E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80EDBA"/>
                </a:solidFill>
                <a:latin typeface="Segoe UI"/>
              </a:defRPr>
            </a:pPr>
            <a:r>
              <a:t>APPENDIX / EVALUATION NOTES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3FAF7"/>
                </a:solidFill>
                <a:latin typeface="Segoe UI"/>
              </a:defRPr>
            </a:pPr>
            <a:r>
              <a:t>Agree the scope.</a:t>
            </a:r>
          </a:p>
          <a:p>
            <a:pPr algn="l">
              <a:lnSpc>
                <a:spcPts val="4284"/>
              </a:lnSpc>
              <a:spcBef>
                <a:spcPts val="0"/>
              </a:spcBef>
              <a:spcAft>
                <a:spcPts val="0"/>
              </a:spcAft>
              <a:defRPr sz="3600" b="1">
                <a:solidFill>
                  <a:srgbClr val="F3FAF7"/>
                </a:solidFill>
                <a:latin typeface="Segoe UI"/>
              </a:defRPr>
            </a:pPr>
            <a:r>
              <a:t>Verify the workflow.</a:t>
            </a:r>
          </a:p>
        </p:txBody>
      </p:sp>
      <p:cxnSp>
        <p:nvCxnSpPr>
          <p:cNvPr id="6" name="Connector 5"/>
          <p:cNvCxnSpPr/>
          <p:nvPr/>
        </p:nvCxnSpPr>
        <p:spPr>
          <a:xfrm>
            <a:off x="609600" y="63754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B4C9C8"/>
                </a:solidFill>
                <a:latin typeface="Segoe UI"/>
              </a:defRPr>
            </a:pPr>
            <a:r>
              <a:t>OPERATOROS / TRADEFLOWKIT</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B4C9C8"/>
                </a:solidFill>
                <a:latin typeface="Consolas"/>
              </a:defRPr>
            </a:pPr>
            <a:r>
              <a:t>20 / 20</a:t>
            </a:r>
          </a:p>
        </p:txBody>
      </p:sp>
      <p:sp>
        <p:nvSpPr>
          <p:cNvPr id="9" name="TextBox 8"/>
          <p:cNvSpPr txBox="1"/>
          <p:nvPr/>
        </p:nvSpPr>
        <p:spPr>
          <a:xfrm>
            <a:off x="609600" y="22606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80EDBA"/>
                </a:solidFill>
                <a:latin typeface="Segoe UI"/>
              </a:defRPr>
            </a:pPr>
            <a:r>
              <a:t>Start here</a:t>
            </a:r>
          </a:p>
        </p:txBody>
      </p:sp>
      <p:sp>
        <p:nvSpPr>
          <p:cNvPr id="10" name="TextBox 9"/>
          <p:cNvSpPr txBox="1"/>
          <p:nvPr/>
        </p:nvSpPr>
        <p:spPr>
          <a:xfrm>
            <a:off x="3860800" y="2260600"/>
            <a:ext cx="77343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One service line, a reviewed customer sample and a complete job workflow.</a:t>
            </a:r>
          </a:p>
        </p:txBody>
      </p:sp>
      <p:sp>
        <p:nvSpPr>
          <p:cNvPr id="11" name="TextBox 10"/>
          <p:cNvSpPr txBox="1"/>
          <p:nvPr/>
        </p:nvSpPr>
        <p:spPr>
          <a:xfrm>
            <a:off x="609600" y="31877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80EDBA"/>
                </a:solidFill>
                <a:latin typeface="Segoe UI"/>
              </a:defRPr>
            </a:pPr>
            <a:r>
              <a:t>Verify before relying on it</a:t>
            </a:r>
          </a:p>
        </p:txBody>
      </p:sp>
      <p:sp>
        <p:nvSpPr>
          <p:cNvPr id="12" name="TextBox 11"/>
          <p:cNvSpPr txBox="1"/>
          <p:nvPr/>
        </p:nvSpPr>
        <p:spPr>
          <a:xfrm>
            <a:off x="3860800" y="31877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Message delivery, payment setup, settlement and the exact accounting export</a:t>
            </a:r>
          </a:p>
          <a:p>
            <a:pPr algn="l">
              <a:lnSpc>
                <a:spcPts val="2023"/>
              </a:lnSpc>
              <a:spcBef>
                <a:spcPts val="0"/>
              </a:spcBef>
              <a:spcAft>
                <a:spcPts val="0"/>
              </a:spcAft>
              <a:defRPr sz="1700" b="0">
                <a:solidFill>
                  <a:srgbClr val="B4C9C8"/>
                </a:solidFill>
                <a:latin typeface="Segoe UI"/>
              </a:defRPr>
            </a:pPr>
            <a:r>
              <a:t>needed.</a:t>
            </a:r>
          </a:p>
        </p:txBody>
      </p:sp>
      <p:sp>
        <p:nvSpPr>
          <p:cNvPr id="13" name="TextBox 12"/>
          <p:cNvSpPr txBox="1"/>
          <p:nvPr/>
        </p:nvSpPr>
        <p:spPr>
          <a:xfrm>
            <a:off x="609600" y="41148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80EDBA"/>
                </a:solidFill>
                <a:latin typeface="Segoe UI"/>
              </a:defRPr>
            </a:pPr>
            <a:r>
              <a:t>Keep outside the pitch</a:t>
            </a:r>
          </a:p>
        </p:txBody>
      </p:sp>
      <p:sp>
        <p:nvSpPr>
          <p:cNvPr id="14" name="TextBox 13"/>
          <p:cNvSpPr txBox="1"/>
          <p:nvPr/>
        </p:nvSpPr>
        <p:spPr>
          <a:xfrm>
            <a:off x="3860800" y="41148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B4C9C8"/>
                </a:solidFill>
                <a:latin typeface="Segoe UI"/>
              </a:defRPr>
            </a:pPr>
            <a:r>
              <a:t>Direct QuickBooks Online sync, automatic dispatch and guaranteed revenue</a:t>
            </a:r>
          </a:p>
          <a:p>
            <a:pPr algn="l">
              <a:lnSpc>
                <a:spcPts val="2023"/>
              </a:lnSpc>
              <a:spcBef>
                <a:spcPts val="0"/>
              </a:spcBef>
              <a:spcAft>
                <a:spcPts val="0"/>
              </a:spcAft>
              <a:defRPr sz="1700" b="0">
                <a:solidFill>
                  <a:srgbClr val="B4C9C8"/>
                </a:solidFill>
                <a:latin typeface="Segoe UI"/>
              </a:defRPr>
            </a:pPr>
            <a:r>
              <a:t>improvement.</a:t>
            </a:r>
          </a:p>
        </p:txBody>
      </p:sp>
      <p:cxnSp>
        <p:nvCxnSpPr>
          <p:cNvPr id="15" name="Connector 14"/>
          <p:cNvCxnSpPr/>
          <p:nvPr/>
        </p:nvCxnSpPr>
        <p:spPr>
          <a:xfrm>
            <a:off x="609600" y="5181600"/>
            <a:ext cx="10972800" cy="0"/>
          </a:xfrm>
          <a:prstGeom prst="line">
            <a:avLst/>
          </a:prstGeom>
          <a:ln w="12700">
            <a:solidFill>
              <a:srgbClr val="2E50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3721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B4C9C8"/>
                </a:solidFill>
                <a:latin typeface="Segoe UI"/>
              </a:defRPr>
            </a:pPr>
            <a:r>
              <a:t>Scenario examples are illustrative. Workflow diagrams are explanatory, not product screenshots.</a:t>
            </a:r>
          </a:p>
        </p:txBody>
      </p:sp>
      <p:sp>
        <p:nvSpPr>
          <p:cNvPr id="17" name="TextBox 16"/>
          <p:cNvSpPr txBox="1"/>
          <p:nvPr/>
        </p:nvSpPr>
        <p:spPr>
          <a:xfrm>
            <a:off x="609600" y="56515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B4C9C8"/>
                </a:solidFill>
                <a:latin typeface="Segoe UI"/>
              </a:defRPr>
            </a:pPr>
            <a:r>
              <a:t>Product scope reviewed 05 Oct 2026. Validate the selected tenant and connected services before rollout.</a:t>
            </a:r>
          </a:p>
        </p:txBody>
      </p:sp>
      <p:sp>
        <p:nvSpPr>
          <p:cNvPr id="18" name="TextBox 17"/>
          <p:cNvSpPr txBox="1"/>
          <p:nvPr/>
        </p:nvSpPr>
        <p:spPr>
          <a:xfrm>
            <a:off x="609600" y="5994400"/>
            <a:ext cx="36957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80EDBA"/>
                </a:solidFill>
                <a:latin typeface="Segoe UI"/>
              </a:defRPr>
            </a:pPr>
            <a:r>
              <a:rPr>
                <a:hlinkClick r:id="rId3"/>
              </a:rPr>
              <a:t>Explore this lane →</a:t>
            </a:r>
          </a:p>
        </p:txBody>
      </p:sp>
      <p:sp>
        <p:nvSpPr>
          <p:cNvPr id="19" name="TextBox 18"/>
          <p:cNvSpPr txBox="1"/>
          <p:nvPr/>
        </p:nvSpPr>
        <p:spPr>
          <a:xfrm>
            <a:off x="4787900" y="5994400"/>
            <a:ext cx="40640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80EDBA"/>
                </a:solidFill>
                <a:latin typeface="Segoe UI"/>
              </a:defRPr>
            </a:pPr>
            <a:r>
              <a:rPr>
                <a:hlinkClick r:id="rId4"/>
              </a:rPr>
              <a:t>Plans and package details →</a:t>
            </a:r>
          </a:p>
        </p:txBody>
      </p:sp>
      <p:sp>
        <p:nvSpPr>
          <p:cNvPr id="20" name="TextBox 19"/>
          <p:cNvSpPr txBox="1"/>
          <p:nvPr/>
        </p:nvSpPr>
        <p:spPr>
          <a:xfrm>
            <a:off x="9525000" y="5994400"/>
            <a:ext cx="2070100" cy="232156"/>
          </a:xfrm>
          <a:prstGeom prst="rect">
            <a:avLst/>
          </a:prstGeom>
          <a:noFill/>
        </p:spPr>
        <p:txBody>
          <a:bodyPr wrap="none" lIns="0" rIns="0" tIns="0" bIns="0" anchor="t">
            <a:spAutoFit/>
          </a:bodyPr>
          <a:lstStyle/>
          <a:p>
            <a:pPr algn="r">
              <a:lnSpc>
                <a:spcPts val="1428"/>
              </a:lnSpc>
              <a:spcBef>
                <a:spcPts val="0"/>
              </a:spcBef>
              <a:spcAft>
                <a:spcPts val="0"/>
              </a:spcAft>
              <a:defRPr sz="1200" b="1">
                <a:solidFill>
                  <a:srgbClr val="80EDBA"/>
                </a:solidFill>
                <a:latin typeface="Segoe UI"/>
              </a:defRPr>
            </a:pPr>
            <a:r>
              <a:rPr>
                <a:hlinkClick r:id="rId5"/>
              </a:rPr>
              <a:t>Product help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OperatorOS | TradeFlowKit | Sales meeting</dc:title>
  <dc:subject>A focused lane pitch with illustrative scenarios and a measurable pilot</dc:subject>
  <dc:creator>Shotgun Ninjas Productions, LLC</dc:creator>
  <cp:keywords>OperatorOS, TradeFlowKit, sales, operations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