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MSP owners, service leaders and engineers who inherit the hard tickets. Ask one discovery question before advancing: How long would it take a different engineer to explain yesterday’s change? Position the product around an observable operating outcome. Cover imagery is conceptual brand art, not a customer or product screenshot.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 How long would it take a different engineer to explain yesterday’s change? Let the buyer identify the most expensive handoff. These are common scenario hypotheses, not measured customer results. Avoid assuming every pain applies.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retain the technical story while the team is doing the work. Walk the buyer through a single record. These are workflow stages, not an assertion that the product performs every transition automatically.</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OperatorOS centrally manages sign-in, organizations, membership, roles, billing and application access. The current forward-sale package has one flagship per organization and one chosen eligible companion. Do not present all three flagship products as bundled into one subscription.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capability map, not a rapid feature recital. Pick the two groups connected to the buyer’s pain, then continue to the workday view. Full feature checklist is in the appendix.</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workday brief is grounded in persisted facts and links to existing records. Illustrative priority sequence. Recorded system state is not automatic endpoint monitoring; procedures do not execute commands. The drawing explains priority categories; it is not a screenshot or a claim about a real account.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the buyer’s cover-my-ass concern to contemporaneous records and factual uncertainty. This is a recommended operating practice using ticket, evidence and closeout features; it is not an automated client-signature workflow. A record does not prove causation or confer immunity. Execution output comes from an authorized external tool. This is an invented, representative scenario, not a customer case study or a measured outcome. Trigger: After a configuration change, a client reports a new fault and asks the MSP to explain what happened. Outcome to evaluate: Time to reconstruct the change for client review.</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exact/full-text retrieval and source references using approved synthetic evidence. The baseline pitch does not require semantic search. Do not promise automatic collection of every ticket or external system log; import and review are explicit. This is an invented, representative scenario, not a customer case study or a measured outcome. Trigger: A recurring VPN issue lands with an engineer who did not work the original incident. Outcome to evaluate: Minutes from assignment to a defensible next action.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document drafting is deterministic and does not need an external model. It preserves source references and stale-source checks. Publication retains source access, so it is not a public KB by default. Published runbooks remain instructions; nothing executes on an endpoint. This is an invented, representative scenario, not a customer case study or a measured outcome. Trigger: The team keeps solving the same fault, but the useful knowledge stays with one senior engineer. Outcome to evaluate: Repeat incidents with a usable reviewed procedure.</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dedicated, approved demo workspace and synthetic records. Prepare the complete flow before the meeting. Do not attempt live payments, real messages, patient data or endpoint changes during the demo. If the tenant is not accepted, present this as a workflow discussion rather than imply live operation.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Ops is an eligible companion; it does not execute scripts. FaultlineLab is free. Review operational material before using it for training. Each companion still requires appropriate organization access. A useful combination does not imply an automatic cross-module connector. Core feature claims and companion readiness remain separate.</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what the buyer wants to keep. Identify the required connection and its owner; verify before committing to an integration scope. Current source capabilities and public lane pages are the claim boundary.</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operating discipline using TechDeck records. It supports accountability; it cannot guarantee legal protection or prove an unrecorded action. Separate product controls from team process. A recorded note is not proof of a real external action unless the appropriate supporting evidence is retained.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invent an ROI percentage. Define a baseline and an equivalent pilot sample, then review these measures. If monetizing time, use the buyer’s agreed hourly cost and distinguish released capacity from actual cash savings. Correlation during a pilot does not establish causation.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source packaging: one flagship per organization, five seats and one eligible organization-wide companion, monthly billing. Repository catalog lists TradeFlowKit $149/month, TechDeck $99/month and PulseDesk $149/month; extra companions $29/month and seats $15/month. These are catalog references, not a verified live quote. On 2026-10-05 the public pricing page and rendered browser exposed Price unavailable for the dynamic totals. Do not quote an unverified total or promise a free pilot. Confirm commercial terms and final Stripe Checkout before purchase. Source: https://operatoros.net/pricing</a:t>
            </a:r>
          </a:p>
          <a:p/>
          <a:p>
            <a:r>
              <a:t>Evidence basis: repository snapshot 62fb640c; reviewed 2026-10-05. Capabilities describe supported source workflows, not blanket acceptance of every target deployment or provider.</a:t>
            </a:r>
          </a:p>
          <a:p>
            <a:r>
              <a:t>packages/sdk/src/products.ts</a:t>
            </a:r>
          </a:p>
          <a:p>
            <a:r>
              <a:t>https://operatoros.net/pricing</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evaluation structure, not an existing free-trial or onboarding-service promise. Agree pricing, support, scope, data handling, responsible owners and success criteria before starting. Use comparable baseline and pilot samples. Continue when a different engineer can reconstruct sampled work and identify unresolved actions without chasing the original technician.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Ask for one representative example, a workflow owner and a success measure. Agree a scoped working session and the commercial next step. The CTA opens the existing OperatorOS contact page; no appointment or service commitment is automatically created.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the relevant objection. Invite a specific example from the buyer instead of treating this as a scripted rebuttal. Unsupported integrations or clinical capabilities are material fit considerations.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list is a map of source-supported workflow families, not proof that every legacy feature or external provider is production accepted. Verify the buyer’s precise required workflow and role on the target tenant. Details: docs/techdeck/resolution-intelligence-documents.md, docs/techdeck/resolution-intelligence-phase3-review.md, docs/techdeck/resolution-intelligence-semantic-search.md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release context for presenter: current local source 62fb640c includes the OpenAI enablement merge. The recorded published release gate remains v65, with semantic provider disabled; the later hosted OpenAI credential recovery/publication and authenticated tenant acceptance remain open in implementation status. Do not sell AI activation as universal. This deck is collateral, not release acceptance. Autonomous remediation, automatic discovery, guaranteed compliance and activated semantic search.</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docs/techdeck/resolution-intelligence-documents.md</a:t>
            </a:r>
          </a:p>
          <a:p>
            <a:r>
              <a:t>docs/techdeck/resolution-intelligence-phase3-review.md</a:t>
            </a:r>
          </a:p>
          <a:p>
            <a:r>
              <a:t>docs/techdeck/resolution-intelligence-semantic-search.md</a:t>
            </a:r>
          </a:p>
          <a:p>
            <a:r>
              <a:t>Public lane: https://operatoros.net/for/msps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operatoros.net/pricing?product=techdeck#build-stac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operatoros.net/john" TargetMode="External"/><Relationship Id="rId6" Type="http://schemas.openxmlformats.org/officeDocument/2006/relationships/hyperlink" Target="https://operatoros.net/for/msp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operatoros.net/for/msps" TargetMode="External"/><Relationship Id="rId4" Type="http://schemas.openxmlformats.org/officeDocument/2006/relationships/hyperlink" Target="https://operatoros.net/pricing" TargetMode="External"/><Relationship Id="rId5" Type="http://schemas.openxmlformats.org/officeDocument/2006/relationships/hyperlink" Target="https://operatoros.net/help" TargetMode="External"/></Relationships>
</file>

<file path=ppt/slides/slide1.xml><?xml version="1.0" encoding="utf-8"?>
<p:sld xmlns:a="http://schemas.openxmlformats.org/drawingml/2006/main" xmlns:p="http://schemas.openxmlformats.org/presentationml/2006/main" xmlns:r="http://schemas.openxmlformats.org/officeDocument/2006/relationships">
  <p:cSld name="Resolve it. Explain it. Prove the work.">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sps.png"/>
          <p:cNvPicPr>
            <a:picLocks noChangeAspect="1"/>
          </p:cNvPicPr>
          <p:nvPr/>
        </p:nvPicPr>
        <p:blipFill>
          <a:blip r:embed="rId3"/>
          <a:srcRect t="685" b="685"/>
          <a:stretch>
            <a:fillRect/>
          </a:stretch>
        </p:blipFill>
        <p:spPr>
          <a:xfrm>
            <a:off x="7556500" y="0"/>
            <a:ext cx="4635500" cy="6858000"/>
          </a:xfrm>
          <a:prstGeom prst="rect">
            <a:avLst/>
          </a:prstGeom>
        </p:spPr>
      </p:pic>
      <p:sp>
        <p:nvSpPr>
          <p:cNvPr id="5" name="Rectangle 4"/>
          <p:cNvSpPr/>
          <p:nvPr/>
        </p:nvSpPr>
        <p:spPr>
          <a:xfrm>
            <a:off x="7327900" y="0"/>
            <a:ext cx="2286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os-mark.png"/>
          <p:cNvPicPr>
            <a:picLocks noChangeAspect="1"/>
          </p:cNvPicPr>
          <p:nvPr/>
        </p:nvPicPr>
        <p:blipFill>
          <a:blip r:embed="rId4"/>
          <a:stretch>
            <a:fillRect/>
          </a:stretch>
        </p:blipFill>
        <p:spPr>
          <a:xfrm>
            <a:off x="609600" y="292100"/>
            <a:ext cx="381000" cy="381000"/>
          </a:xfrm>
          <a:prstGeom prst="rect">
            <a:avLst/>
          </a:prstGeom>
        </p:spPr>
      </p:pic>
      <p:sp>
        <p:nvSpPr>
          <p:cNvPr id="7" name="TextBox 6"/>
          <p:cNvSpPr txBox="1"/>
          <p:nvPr/>
        </p:nvSpPr>
        <p:spPr>
          <a:xfrm>
            <a:off x="1092200" y="342900"/>
            <a:ext cx="2171700" cy="277495"/>
          </a:xfrm>
          <a:prstGeom prst="rect">
            <a:avLst/>
          </a:prstGeom>
          <a:noFill/>
        </p:spPr>
        <p:txBody>
          <a:bodyPr wrap="none" lIns="0" rIns="0" tIns="0" bIns="0" anchor="t">
            <a:spAutoFit/>
          </a:bodyPr>
          <a:lstStyle/>
          <a:p>
            <a:pPr algn="l">
              <a:lnSpc>
                <a:spcPts val="1784"/>
              </a:lnSpc>
              <a:spcBef>
                <a:spcPts val="0"/>
              </a:spcBef>
              <a:spcAft>
                <a:spcPts val="0"/>
              </a:spcAft>
              <a:defRPr sz="1500" b="1">
                <a:solidFill>
                  <a:srgbClr val="F5FAFF"/>
                </a:solidFill>
                <a:latin typeface="Segoe UI"/>
              </a:defRPr>
            </a:pPr>
            <a:r>
              <a:t>OperatorOS</a:t>
            </a:r>
          </a:p>
        </p:txBody>
      </p:sp>
      <p:sp>
        <p:nvSpPr>
          <p:cNvPr id="8" name="TextBox 7"/>
          <p:cNvSpPr txBox="1"/>
          <p:nvPr/>
        </p:nvSpPr>
        <p:spPr>
          <a:xfrm>
            <a:off x="609600" y="1193800"/>
            <a:ext cx="6489700" cy="204952"/>
          </a:xfrm>
          <a:prstGeom prst="rect">
            <a:avLst/>
          </a:prstGeom>
          <a:noFill/>
        </p:spPr>
        <p:txBody>
          <a:bodyPr wrap="none" lIns="0" rIns="0" tIns="0" bIns="0" anchor="t">
            <a:spAutoFit/>
          </a:bodyPr>
          <a:lstStyle/>
          <a:p>
            <a:pPr algn="l">
              <a:lnSpc>
                <a:spcPts val="1213"/>
              </a:lnSpc>
              <a:spcBef>
                <a:spcPts val="0"/>
              </a:spcBef>
              <a:spcAft>
                <a:spcPts val="0"/>
              </a:spcAft>
              <a:defRPr sz="1019" b="1">
                <a:solidFill>
                  <a:srgbClr val="59D8FF"/>
                </a:solidFill>
                <a:latin typeface="Segoe UI"/>
              </a:defRPr>
            </a:pPr>
            <a:r>
              <a:t>MSPs / INTERNAL IT / FIELD ENGINEERS</a:t>
            </a:r>
          </a:p>
        </p:txBody>
      </p:sp>
      <p:sp>
        <p:nvSpPr>
          <p:cNvPr id="9" name="TextBox 8"/>
          <p:cNvSpPr txBox="1"/>
          <p:nvPr/>
        </p:nvSpPr>
        <p:spPr>
          <a:xfrm>
            <a:off x="609600" y="1511300"/>
            <a:ext cx="6489700" cy="519303"/>
          </a:xfrm>
          <a:prstGeom prst="rect">
            <a:avLst/>
          </a:prstGeom>
          <a:noFill/>
        </p:spPr>
        <p:txBody>
          <a:bodyPr wrap="none" lIns="0" rIns="0" tIns="0" bIns="0" anchor="t">
            <a:spAutoFit/>
          </a:bodyPr>
          <a:lstStyle/>
          <a:p>
            <a:pPr algn="l">
              <a:lnSpc>
                <a:spcPts val="3689"/>
              </a:lnSpc>
              <a:spcBef>
                <a:spcPts val="0"/>
              </a:spcBef>
              <a:spcAft>
                <a:spcPts val="0"/>
              </a:spcAft>
              <a:defRPr sz="3100" b="0">
                <a:solidFill>
                  <a:srgbClr val="F5FAFF"/>
                </a:solidFill>
                <a:latin typeface="Segoe UI Light"/>
              </a:defRPr>
            </a:pPr>
            <a:r>
              <a:t>TechDeck</a:t>
            </a:r>
          </a:p>
        </p:txBody>
      </p:sp>
      <p:sp>
        <p:nvSpPr>
          <p:cNvPr id="10" name="TextBox 9"/>
          <p:cNvSpPr txBox="1"/>
          <p:nvPr/>
        </p:nvSpPr>
        <p:spPr>
          <a:xfrm>
            <a:off x="609600" y="2260600"/>
            <a:ext cx="6616700" cy="2045715"/>
          </a:xfrm>
          <a:prstGeom prst="rect">
            <a:avLst/>
          </a:prstGeom>
          <a:noFill/>
        </p:spPr>
        <p:txBody>
          <a:bodyPr wrap="none" lIns="0" rIns="0" tIns="0" bIns="0" anchor="t">
            <a:spAutoFit/>
          </a:bodyPr>
          <a:lstStyle/>
          <a:p>
            <a:pPr algn="l">
              <a:lnSpc>
                <a:spcPts val="5236"/>
              </a:lnSpc>
              <a:spcBef>
                <a:spcPts val="0"/>
              </a:spcBef>
              <a:spcAft>
                <a:spcPts val="0"/>
              </a:spcAft>
              <a:defRPr sz="4400" b="1">
                <a:solidFill>
                  <a:srgbClr val="F5FAFF"/>
                </a:solidFill>
                <a:latin typeface="Segoe UI"/>
              </a:defRPr>
            </a:pPr>
            <a:r>
              <a:t>Resolve it.</a:t>
            </a:r>
          </a:p>
          <a:p>
            <a:pPr algn="l">
              <a:lnSpc>
                <a:spcPts val="5236"/>
              </a:lnSpc>
              <a:spcBef>
                <a:spcPts val="0"/>
              </a:spcBef>
              <a:spcAft>
                <a:spcPts val="0"/>
              </a:spcAft>
              <a:defRPr sz="4400" b="1">
                <a:solidFill>
                  <a:srgbClr val="F5FAFF"/>
                </a:solidFill>
                <a:latin typeface="Segoe UI"/>
              </a:defRPr>
            </a:pPr>
            <a:r>
              <a:t>Explain it.</a:t>
            </a:r>
          </a:p>
          <a:p>
            <a:pPr algn="l">
              <a:lnSpc>
                <a:spcPts val="5236"/>
              </a:lnSpc>
              <a:spcBef>
                <a:spcPts val="0"/>
              </a:spcBef>
              <a:spcAft>
                <a:spcPts val="0"/>
              </a:spcAft>
              <a:defRPr sz="4400" b="1">
                <a:solidFill>
                  <a:srgbClr val="F5FAFF"/>
                </a:solidFill>
                <a:latin typeface="Segoe UI"/>
              </a:defRPr>
            </a:pPr>
            <a:r>
              <a:t>Prove the work.</a:t>
            </a:r>
          </a:p>
        </p:txBody>
      </p:sp>
      <p:sp>
        <p:nvSpPr>
          <p:cNvPr id="11" name="TextBox 10"/>
          <p:cNvSpPr txBox="1"/>
          <p:nvPr/>
        </p:nvSpPr>
        <p:spPr>
          <a:xfrm>
            <a:off x="609600" y="4699000"/>
            <a:ext cx="65532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AFC2D8"/>
                </a:solidFill>
                <a:latin typeface="Segoe UI"/>
              </a:defRPr>
            </a:pPr>
            <a:r>
              <a:t>Turn service work into a record</a:t>
            </a:r>
          </a:p>
          <a:p>
            <a:pPr algn="l">
              <a:lnSpc>
                <a:spcPts val="2379"/>
              </a:lnSpc>
              <a:spcBef>
                <a:spcPts val="0"/>
              </a:spcBef>
              <a:spcAft>
                <a:spcPts val="0"/>
              </a:spcAft>
              <a:defRPr sz="2000" b="0">
                <a:solidFill>
                  <a:srgbClr val="AFC2D8"/>
                </a:solidFill>
                <a:latin typeface="Segoe UI"/>
              </a:defRPr>
            </a:pPr>
            <a:r>
              <a:t>your team can stand behind.</a:t>
            </a:r>
          </a:p>
        </p:txBody>
      </p:sp>
      <p:cxnSp>
        <p:nvCxnSpPr>
          <p:cNvPr id="12" name="Connector 11"/>
          <p:cNvCxnSpPr/>
          <p:nvPr/>
        </p:nvCxnSpPr>
        <p:spPr>
          <a:xfrm>
            <a:off x="609600" y="5854700"/>
            <a:ext cx="61849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6070600"/>
            <a:ext cx="4457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A BETTER WAY TO OPERATE</a:t>
            </a:r>
          </a:p>
        </p:txBody>
      </p:sp>
      <p:sp>
        <p:nvSpPr>
          <p:cNvPr id="14" name="TextBox 13"/>
          <p:cNvSpPr txBox="1"/>
          <p:nvPr/>
        </p:nvSpPr>
        <p:spPr>
          <a:xfrm>
            <a:off x="609600" y="6451600"/>
            <a:ext cx="6489700" cy="183794"/>
          </a:xfrm>
          <a:prstGeom prst="rect">
            <a:avLst/>
          </a:prstGeom>
          <a:noFill/>
        </p:spPr>
        <p:txBody>
          <a:bodyPr wrap="none" lIns="0" rIns="0" tIns="0" bIns="0" anchor="t">
            <a:spAutoFit/>
          </a:bodyPr>
          <a:lstStyle/>
          <a:p>
            <a:pPr algn="l">
              <a:lnSpc>
                <a:spcPts val="1047"/>
              </a:lnSpc>
              <a:spcBef>
                <a:spcPts val="0"/>
              </a:spcBef>
              <a:spcAft>
                <a:spcPts val="0"/>
              </a:spcAft>
              <a:defRPr sz="880" b="0">
                <a:solidFill>
                  <a:srgbClr val="AFC2D8"/>
                </a:solidFill>
                <a:latin typeface="Segoe UI"/>
              </a:defRPr>
            </a:pPr>
            <a:r>
              <a:t>SHOTGUN NINJAS PRODUCTIONS / 05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he fix is only half of the service.">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FRICTION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The fix is only half</a:t>
            </a:r>
          </a:p>
          <a:p>
            <a:pPr algn="l">
              <a:lnSpc>
                <a:spcPts val="4284"/>
              </a:lnSpc>
              <a:spcBef>
                <a:spcPts val="0"/>
              </a:spcBef>
              <a:spcAft>
                <a:spcPts val="0"/>
              </a:spcAft>
              <a:defRPr sz="3600" b="1">
                <a:solidFill>
                  <a:srgbClr val="F5FAFF"/>
                </a:solidFill>
                <a:latin typeface="Segoe UI"/>
              </a:defRPr>
            </a:pPr>
            <a:r>
              <a:t>of the service.</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02 / 20</a:t>
            </a:r>
          </a:p>
        </p:txBody>
      </p:sp>
      <p:sp>
        <p:nvSpPr>
          <p:cNvPr id="9" name="TextBox 8"/>
          <p:cNvSpPr txBox="1"/>
          <p:nvPr/>
        </p:nvSpPr>
        <p:spPr>
          <a:xfrm>
            <a:off x="6096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59D8FF"/>
                </a:solidFill>
                <a:latin typeface="Segoe UI Light"/>
              </a:defRPr>
            </a:pPr>
            <a:r>
              <a:t>01</a:t>
            </a:r>
          </a:p>
        </p:txBody>
      </p:sp>
      <p:cxnSp>
        <p:nvCxnSpPr>
          <p:cNvPr id="10" name="Connector 9"/>
          <p:cNvCxnSpPr/>
          <p:nvPr/>
        </p:nvCxnSpPr>
        <p:spPr>
          <a:xfrm>
            <a:off x="609600" y="3187700"/>
            <a:ext cx="3429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Context is scattered</a:t>
            </a:r>
          </a:p>
        </p:txBody>
      </p:sp>
      <p:sp>
        <p:nvSpPr>
          <p:cNvPr id="12" name="TextBox 11"/>
          <p:cNvSpPr txBox="1"/>
          <p:nvPr/>
        </p:nvSpPr>
        <p:spPr>
          <a:xfrm>
            <a:off x="6096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AFC2D8"/>
                </a:solidFill>
                <a:latin typeface="Segoe UI"/>
              </a:defRPr>
            </a:pPr>
            <a:r>
              <a:t>The ticket says what broke. The</a:t>
            </a:r>
          </a:p>
          <a:p>
            <a:pPr algn="l">
              <a:lnSpc>
                <a:spcPts val="2082"/>
              </a:lnSpc>
              <a:spcBef>
                <a:spcPts val="0"/>
              </a:spcBef>
              <a:spcAft>
                <a:spcPts val="0"/>
              </a:spcAft>
              <a:defRPr sz="1750" b="0">
                <a:solidFill>
                  <a:srgbClr val="AFC2D8"/>
                </a:solidFill>
                <a:latin typeface="Segoe UI"/>
              </a:defRPr>
            </a:pPr>
            <a:r>
              <a:t>system details and last attempt</a:t>
            </a:r>
          </a:p>
          <a:p>
            <a:pPr algn="l">
              <a:lnSpc>
                <a:spcPts val="2082"/>
              </a:lnSpc>
              <a:spcBef>
                <a:spcPts val="0"/>
              </a:spcBef>
              <a:spcAft>
                <a:spcPts val="0"/>
              </a:spcAft>
              <a:defRPr sz="1750" b="0">
                <a:solidFill>
                  <a:srgbClr val="AFC2D8"/>
                </a:solidFill>
                <a:latin typeface="Segoe UI"/>
              </a:defRPr>
            </a:pPr>
            <a:r>
              <a:t>are somewhere else.</a:t>
            </a:r>
          </a:p>
        </p:txBody>
      </p:sp>
      <p:sp>
        <p:nvSpPr>
          <p:cNvPr id="13" name="TextBox 12"/>
          <p:cNvSpPr txBox="1"/>
          <p:nvPr/>
        </p:nvSpPr>
        <p:spPr>
          <a:xfrm>
            <a:off x="6096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FFA46B"/>
                </a:solidFill>
                <a:latin typeface="Segoe UI"/>
              </a:defRPr>
            </a:pPr>
            <a:r>
              <a:t>Time goes into reconstruction.</a:t>
            </a:r>
          </a:p>
        </p:txBody>
      </p:sp>
      <p:sp>
        <p:nvSpPr>
          <p:cNvPr id="14" name="TextBox 13"/>
          <p:cNvSpPr txBox="1"/>
          <p:nvPr/>
        </p:nvSpPr>
        <p:spPr>
          <a:xfrm>
            <a:off x="43688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59D8FF"/>
                </a:solidFill>
                <a:latin typeface="Segoe UI Light"/>
              </a:defRPr>
            </a:pPr>
            <a:r>
              <a:t>02</a:t>
            </a:r>
          </a:p>
        </p:txBody>
      </p:sp>
      <p:cxnSp>
        <p:nvCxnSpPr>
          <p:cNvPr id="15" name="Connector 14"/>
          <p:cNvCxnSpPr/>
          <p:nvPr/>
        </p:nvCxnSpPr>
        <p:spPr>
          <a:xfrm>
            <a:off x="4368800" y="3187700"/>
            <a:ext cx="3429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688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The handoff is thin</a:t>
            </a:r>
          </a:p>
        </p:txBody>
      </p:sp>
      <p:sp>
        <p:nvSpPr>
          <p:cNvPr id="17" name="TextBox 16"/>
          <p:cNvSpPr txBox="1"/>
          <p:nvPr/>
        </p:nvSpPr>
        <p:spPr>
          <a:xfrm>
            <a:off x="43688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AFC2D8"/>
                </a:solidFill>
                <a:latin typeface="Segoe UI"/>
              </a:defRPr>
            </a:pPr>
            <a:r>
              <a:t>“Resolved” hides failed attempts,</a:t>
            </a:r>
          </a:p>
          <a:p>
            <a:pPr algn="l">
              <a:lnSpc>
                <a:spcPts val="2082"/>
              </a:lnSpc>
              <a:spcBef>
                <a:spcPts val="0"/>
              </a:spcBef>
              <a:spcAft>
                <a:spcPts val="0"/>
              </a:spcAft>
              <a:defRPr sz="1750" b="0">
                <a:solidFill>
                  <a:srgbClr val="AFC2D8"/>
                </a:solidFill>
                <a:latin typeface="Segoe UI"/>
              </a:defRPr>
            </a:pPr>
            <a:r>
              <a:t>side effects and the checks still</a:t>
            </a:r>
          </a:p>
          <a:p>
            <a:pPr algn="l">
              <a:lnSpc>
                <a:spcPts val="2082"/>
              </a:lnSpc>
              <a:spcBef>
                <a:spcPts val="0"/>
              </a:spcBef>
              <a:spcAft>
                <a:spcPts val="0"/>
              </a:spcAft>
              <a:defRPr sz="1750" b="0">
                <a:solidFill>
                  <a:srgbClr val="AFC2D8"/>
                </a:solidFill>
                <a:latin typeface="Segoe UI"/>
              </a:defRPr>
            </a:pPr>
            <a:r>
              <a:t>outstanding.</a:t>
            </a:r>
          </a:p>
        </p:txBody>
      </p:sp>
      <p:sp>
        <p:nvSpPr>
          <p:cNvPr id="18" name="TextBox 17"/>
          <p:cNvSpPr txBox="1"/>
          <p:nvPr/>
        </p:nvSpPr>
        <p:spPr>
          <a:xfrm>
            <a:off x="43688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FFA46B"/>
                </a:solidFill>
                <a:latin typeface="Segoe UI"/>
              </a:defRPr>
            </a:pPr>
            <a:r>
              <a:t>The next engineer starts over.</a:t>
            </a:r>
          </a:p>
        </p:txBody>
      </p:sp>
      <p:sp>
        <p:nvSpPr>
          <p:cNvPr id="19" name="TextBox 18"/>
          <p:cNvSpPr txBox="1"/>
          <p:nvPr/>
        </p:nvSpPr>
        <p:spPr>
          <a:xfrm>
            <a:off x="81280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59D8FF"/>
                </a:solidFill>
                <a:latin typeface="Segoe UI Light"/>
              </a:defRPr>
            </a:pPr>
            <a:r>
              <a:t>03</a:t>
            </a:r>
          </a:p>
        </p:txBody>
      </p:sp>
      <p:cxnSp>
        <p:nvCxnSpPr>
          <p:cNvPr id="20" name="Connector 19"/>
          <p:cNvCxnSpPr/>
          <p:nvPr/>
        </p:nvCxnSpPr>
        <p:spPr>
          <a:xfrm>
            <a:off x="8128000" y="3187700"/>
            <a:ext cx="3429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1280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The explanation is late</a:t>
            </a:r>
          </a:p>
        </p:txBody>
      </p:sp>
      <p:sp>
        <p:nvSpPr>
          <p:cNvPr id="22" name="TextBox 21"/>
          <p:cNvSpPr txBox="1"/>
          <p:nvPr/>
        </p:nvSpPr>
        <p:spPr>
          <a:xfrm>
            <a:off x="81280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AFC2D8"/>
                </a:solidFill>
                <a:latin typeface="Segoe UI"/>
              </a:defRPr>
            </a:pPr>
            <a:r>
              <a:t>A client challenges the change or</a:t>
            </a:r>
          </a:p>
          <a:p>
            <a:pPr algn="l">
              <a:lnSpc>
                <a:spcPts val="2082"/>
              </a:lnSpc>
              <a:spcBef>
                <a:spcPts val="0"/>
              </a:spcBef>
              <a:spcAft>
                <a:spcPts val="0"/>
              </a:spcAft>
              <a:defRPr sz="1750" b="0">
                <a:solidFill>
                  <a:srgbClr val="AFC2D8"/>
                </a:solidFill>
                <a:latin typeface="Segoe UI"/>
              </a:defRPr>
            </a:pPr>
            <a:r>
              <a:t>invoice. Evidence has to be</a:t>
            </a:r>
          </a:p>
          <a:p>
            <a:pPr algn="l">
              <a:lnSpc>
                <a:spcPts val="2082"/>
              </a:lnSpc>
              <a:spcBef>
                <a:spcPts val="0"/>
              </a:spcBef>
              <a:spcAft>
                <a:spcPts val="0"/>
              </a:spcAft>
              <a:defRPr sz="1750" b="0">
                <a:solidFill>
                  <a:srgbClr val="AFC2D8"/>
                </a:solidFill>
                <a:latin typeface="Segoe UI"/>
              </a:defRPr>
            </a:pPr>
            <a:r>
              <a:t>assembled after the fact.</a:t>
            </a:r>
          </a:p>
        </p:txBody>
      </p:sp>
      <p:sp>
        <p:nvSpPr>
          <p:cNvPr id="23" name="TextBox 22"/>
          <p:cNvSpPr txBox="1"/>
          <p:nvPr/>
        </p:nvSpPr>
        <p:spPr>
          <a:xfrm>
            <a:off x="81280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FFA46B"/>
                </a:solidFill>
                <a:latin typeface="Segoe UI"/>
              </a:defRPr>
            </a:pPr>
            <a:r>
              <a:t>Confidence becomes fragile.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From client risk to a defensible closeout.">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CONNECTED WORKFLOW</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From client risk</a:t>
            </a:r>
          </a:p>
          <a:p>
            <a:pPr algn="l">
              <a:lnSpc>
                <a:spcPts val="4284"/>
              </a:lnSpc>
              <a:spcBef>
                <a:spcPts val="0"/>
              </a:spcBef>
              <a:spcAft>
                <a:spcPts val="0"/>
              </a:spcAft>
              <a:defRPr sz="3600" b="1">
                <a:solidFill>
                  <a:srgbClr val="F5FAFF"/>
                </a:solidFill>
                <a:latin typeface="Segoe UI"/>
              </a:defRPr>
            </a:pPr>
            <a:r>
              <a:t>to a defensible closeout.</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03 / 20</a:t>
            </a:r>
          </a:p>
        </p:txBody>
      </p:sp>
      <p:sp>
        <p:nvSpPr>
          <p:cNvPr id="9" name="Oval 8"/>
          <p:cNvSpPr/>
          <p:nvPr/>
        </p:nvSpPr>
        <p:spPr>
          <a:xfrm>
            <a:off x="609600" y="2603500"/>
            <a:ext cx="419100" cy="4191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11E"/>
                </a:solidFill>
                <a:latin typeface="Segoe UI"/>
              </a:defRPr>
            </a:pPr>
            <a:r>
              <a:t>1</a:t>
            </a:r>
          </a:p>
        </p:txBody>
      </p:sp>
      <p:cxnSp>
        <p:nvCxnSpPr>
          <p:cNvPr id="11" name="Connector 10"/>
          <p:cNvCxnSpPr/>
          <p:nvPr/>
        </p:nvCxnSpPr>
        <p:spPr>
          <a:xfrm>
            <a:off x="1117600" y="2819400"/>
            <a:ext cx="1600200" cy="0"/>
          </a:xfrm>
          <a:prstGeom prst="line">
            <a:avLst/>
          </a:prstGeom>
          <a:ln w="25400">
            <a:solidFill>
              <a:srgbClr val="28405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5FAFF"/>
                </a:solidFill>
                <a:latin typeface="Segoe UI"/>
              </a:defRPr>
            </a:pPr>
            <a:r>
              <a:t>Context</a:t>
            </a:r>
          </a:p>
        </p:txBody>
      </p:sp>
      <p:sp>
        <p:nvSpPr>
          <p:cNvPr id="13" name="TextBox 12"/>
          <p:cNvSpPr txBox="1"/>
          <p:nvPr/>
        </p:nvSpPr>
        <p:spPr>
          <a:xfrm>
            <a:off x="6096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Client + system</a:t>
            </a:r>
          </a:p>
        </p:txBody>
      </p:sp>
      <p:sp>
        <p:nvSpPr>
          <p:cNvPr id="14" name="Oval 13"/>
          <p:cNvSpPr/>
          <p:nvPr/>
        </p:nvSpPr>
        <p:spPr>
          <a:xfrm>
            <a:off x="2844800" y="2603500"/>
            <a:ext cx="419100" cy="4191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448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11E"/>
                </a:solidFill>
                <a:latin typeface="Segoe UI"/>
              </a:defRPr>
            </a:pPr>
            <a:r>
              <a:t>2</a:t>
            </a:r>
          </a:p>
        </p:txBody>
      </p:sp>
      <p:cxnSp>
        <p:nvCxnSpPr>
          <p:cNvPr id="16" name="Connector 15"/>
          <p:cNvCxnSpPr/>
          <p:nvPr/>
        </p:nvCxnSpPr>
        <p:spPr>
          <a:xfrm>
            <a:off x="3352800" y="2819400"/>
            <a:ext cx="1600200" cy="0"/>
          </a:xfrm>
          <a:prstGeom prst="line">
            <a:avLst/>
          </a:prstGeom>
          <a:ln w="25400">
            <a:solidFill>
              <a:srgbClr val="28405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448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5FAFF"/>
                </a:solidFill>
                <a:latin typeface="Segoe UI"/>
              </a:defRPr>
            </a:pPr>
            <a:r>
              <a:t>Triage</a:t>
            </a:r>
          </a:p>
        </p:txBody>
      </p:sp>
      <p:sp>
        <p:nvSpPr>
          <p:cNvPr id="18" name="TextBox 17"/>
          <p:cNvSpPr txBox="1"/>
          <p:nvPr/>
        </p:nvSpPr>
        <p:spPr>
          <a:xfrm>
            <a:off x="28448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Owner + priority</a:t>
            </a:r>
          </a:p>
        </p:txBody>
      </p:sp>
      <p:sp>
        <p:nvSpPr>
          <p:cNvPr id="19" name="Oval 18"/>
          <p:cNvSpPr/>
          <p:nvPr/>
        </p:nvSpPr>
        <p:spPr>
          <a:xfrm>
            <a:off x="5080000" y="2603500"/>
            <a:ext cx="419100" cy="4191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00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11E"/>
                </a:solidFill>
                <a:latin typeface="Segoe UI"/>
              </a:defRPr>
            </a:pPr>
            <a:r>
              <a:t>3</a:t>
            </a:r>
          </a:p>
        </p:txBody>
      </p:sp>
      <p:cxnSp>
        <p:nvCxnSpPr>
          <p:cNvPr id="21" name="Connector 20"/>
          <p:cNvCxnSpPr/>
          <p:nvPr/>
        </p:nvCxnSpPr>
        <p:spPr>
          <a:xfrm>
            <a:off x="5588000" y="2819400"/>
            <a:ext cx="1600200" cy="0"/>
          </a:xfrm>
          <a:prstGeom prst="line">
            <a:avLst/>
          </a:prstGeom>
          <a:ln w="25400">
            <a:solidFill>
              <a:srgbClr val="2840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800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5FAFF"/>
                </a:solidFill>
                <a:latin typeface="Segoe UI"/>
              </a:defRPr>
            </a:pPr>
            <a:r>
              <a:t>Work</a:t>
            </a:r>
          </a:p>
        </p:txBody>
      </p:sp>
      <p:sp>
        <p:nvSpPr>
          <p:cNvPr id="23" name="TextBox 22"/>
          <p:cNvSpPr txBox="1"/>
          <p:nvPr/>
        </p:nvSpPr>
        <p:spPr>
          <a:xfrm>
            <a:off x="50800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Procedure + time</a:t>
            </a:r>
          </a:p>
        </p:txBody>
      </p:sp>
      <p:sp>
        <p:nvSpPr>
          <p:cNvPr id="24" name="Oval 23"/>
          <p:cNvSpPr/>
          <p:nvPr/>
        </p:nvSpPr>
        <p:spPr>
          <a:xfrm>
            <a:off x="7315200" y="2603500"/>
            <a:ext cx="419100" cy="4191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11E"/>
                </a:solidFill>
                <a:latin typeface="Segoe UI"/>
              </a:defRPr>
            </a:pPr>
            <a:r>
              <a:t>4</a:t>
            </a:r>
          </a:p>
        </p:txBody>
      </p:sp>
      <p:cxnSp>
        <p:nvCxnSpPr>
          <p:cNvPr id="26" name="Connector 25"/>
          <p:cNvCxnSpPr/>
          <p:nvPr/>
        </p:nvCxnSpPr>
        <p:spPr>
          <a:xfrm>
            <a:off x="7823200" y="2819400"/>
            <a:ext cx="1600200" cy="0"/>
          </a:xfrm>
          <a:prstGeom prst="line">
            <a:avLst/>
          </a:prstGeom>
          <a:ln w="25400">
            <a:solidFill>
              <a:srgbClr val="28405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3152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5FAFF"/>
                </a:solidFill>
                <a:latin typeface="Segoe UI"/>
              </a:defRPr>
            </a:pPr>
            <a:r>
              <a:t>Verify</a:t>
            </a:r>
          </a:p>
        </p:txBody>
      </p:sp>
      <p:sp>
        <p:nvSpPr>
          <p:cNvPr id="28" name="TextBox 27"/>
          <p:cNvSpPr txBox="1"/>
          <p:nvPr/>
        </p:nvSpPr>
        <p:spPr>
          <a:xfrm>
            <a:off x="73152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Checks + evidence</a:t>
            </a:r>
          </a:p>
        </p:txBody>
      </p:sp>
      <p:sp>
        <p:nvSpPr>
          <p:cNvPr id="29" name="Oval 28"/>
          <p:cNvSpPr/>
          <p:nvPr/>
        </p:nvSpPr>
        <p:spPr>
          <a:xfrm>
            <a:off x="9550400" y="2603500"/>
            <a:ext cx="419100" cy="4191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04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07111E"/>
                </a:solidFill>
                <a:latin typeface="Segoe UI"/>
              </a:defRPr>
            </a:pPr>
            <a:r>
              <a:t>5</a:t>
            </a:r>
          </a:p>
        </p:txBody>
      </p:sp>
      <p:sp>
        <p:nvSpPr>
          <p:cNvPr id="31" name="TextBox 30"/>
          <p:cNvSpPr txBox="1"/>
          <p:nvPr/>
        </p:nvSpPr>
        <p:spPr>
          <a:xfrm>
            <a:off x="95504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F5FAFF"/>
                </a:solidFill>
                <a:latin typeface="Segoe UI"/>
              </a:defRPr>
            </a:pPr>
            <a:r>
              <a:t>Reuse</a:t>
            </a:r>
          </a:p>
        </p:txBody>
      </p:sp>
      <p:sp>
        <p:nvSpPr>
          <p:cNvPr id="32" name="TextBox 31"/>
          <p:cNvSpPr txBox="1"/>
          <p:nvPr/>
        </p:nvSpPr>
        <p:spPr>
          <a:xfrm>
            <a:off x="9550400" y="3898900"/>
            <a:ext cx="19177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History +</a:t>
            </a:r>
          </a:p>
          <a:p>
            <a:pPr algn="l">
              <a:lnSpc>
                <a:spcPts val="2023"/>
              </a:lnSpc>
              <a:spcBef>
                <a:spcPts val="0"/>
              </a:spcBef>
              <a:spcAft>
                <a:spcPts val="0"/>
              </a:spcAft>
              <a:defRPr sz="1700" b="0">
                <a:solidFill>
                  <a:srgbClr val="AFC2D8"/>
                </a:solidFill>
                <a:latin typeface="Segoe UI"/>
              </a:defRPr>
            </a:pPr>
            <a:r>
              <a:t>knowledge</a:t>
            </a:r>
          </a:p>
        </p:txBody>
      </p:sp>
      <p:sp>
        <p:nvSpPr>
          <p:cNvPr id="33" name="Rounded Rectangle 32"/>
          <p:cNvSpPr/>
          <p:nvPr/>
        </p:nvSpPr>
        <p:spPr>
          <a:xfrm>
            <a:off x="609600" y="4851400"/>
            <a:ext cx="10972800" cy="1066800"/>
          </a:xfrm>
          <a:prstGeom prst="roundRect">
            <a:avLst>
              <a:gd name="adj" fmla="val 5952"/>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500" y="50292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RECORD YOU KEEP</a:t>
            </a:r>
          </a:p>
        </p:txBody>
      </p:sp>
      <p:sp>
        <p:nvSpPr>
          <p:cNvPr id="35" name="TextBox 34"/>
          <p:cNvSpPr txBox="1"/>
          <p:nvPr/>
        </p:nvSpPr>
        <p:spPr>
          <a:xfrm>
            <a:off x="825500" y="5334000"/>
            <a:ext cx="10553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5FAFF"/>
                </a:solidFill>
                <a:latin typeface="Segoe UI"/>
              </a:defRPr>
            </a:pPr>
            <a:r>
              <a:t>Leave a service record that explains what happened, what changed and what still needs attention.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Your core workflow. One OperatorOS home base.">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PLATFORM</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Your core workflow.</a:t>
            </a:r>
          </a:p>
          <a:p>
            <a:pPr algn="l">
              <a:lnSpc>
                <a:spcPts val="4284"/>
              </a:lnSpc>
              <a:spcBef>
                <a:spcPts val="0"/>
              </a:spcBef>
              <a:spcAft>
                <a:spcPts val="0"/>
              </a:spcAft>
              <a:defRPr sz="3600" b="1">
                <a:solidFill>
                  <a:srgbClr val="F5FAFF"/>
                </a:solidFill>
                <a:latin typeface="Segoe UI"/>
              </a:defRPr>
            </a:pPr>
            <a:r>
              <a:t>One OperatorOS home base.</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04 / 20</a:t>
            </a:r>
          </a:p>
        </p:txBody>
      </p:sp>
      <p:sp>
        <p:nvSpPr>
          <p:cNvPr id="9" name="Oval 8"/>
          <p:cNvSpPr/>
          <p:nvPr/>
        </p:nvSpPr>
        <p:spPr>
          <a:xfrm>
            <a:off x="965200" y="2654300"/>
            <a:ext cx="2717800" cy="2717800"/>
          </a:xfrm>
          <a:prstGeom prst="ellipse">
            <a:avLst/>
          </a:prstGeom>
          <a:noFill/>
          <a:ln w="12700">
            <a:solidFill>
              <a:srgbClr val="2840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9200" y="2908300"/>
            <a:ext cx="2209800" cy="2209800"/>
          </a:xfrm>
          <a:prstGeom prst="ellipse">
            <a:avLst/>
          </a:prstGeom>
          <a:solidFill>
            <a:srgbClr val="102437"/>
          </a:solidFill>
          <a:ln w="12700">
            <a:solidFill>
              <a:srgbClr val="59D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operatoros-mark.png"/>
          <p:cNvPicPr>
            <a:picLocks noChangeAspect="1"/>
          </p:cNvPicPr>
          <p:nvPr/>
        </p:nvPicPr>
        <p:blipFill>
          <a:blip r:embed="rId3"/>
          <a:stretch>
            <a:fillRect/>
          </a:stretch>
        </p:blipFill>
        <p:spPr>
          <a:xfrm>
            <a:off x="1968500" y="3213100"/>
            <a:ext cx="736600" cy="736600"/>
          </a:xfrm>
          <a:prstGeom prst="rect">
            <a:avLst/>
          </a:prstGeom>
        </p:spPr>
      </p:pic>
      <p:sp>
        <p:nvSpPr>
          <p:cNvPr id="12" name="TextBox 11"/>
          <p:cNvSpPr txBox="1"/>
          <p:nvPr/>
        </p:nvSpPr>
        <p:spPr>
          <a:xfrm>
            <a:off x="1460500" y="4102100"/>
            <a:ext cx="1854200" cy="368173"/>
          </a:xfrm>
          <a:prstGeom prst="rect">
            <a:avLst/>
          </a:prstGeom>
          <a:noFill/>
        </p:spPr>
        <p:txBody>
          <a:bodyPr wrap="none" lIns="0" rIns="0" tIns="0" bIns="0" anchor="t">
            <a:spAutoFit/>
          </a:bodyPr>
          <a:lstStyle/>
          <a:p>
            <a:pPr algn="ctr">
              <a:lnSpc>
                <a:spcPts val="2499"/>
              </a:lnSpc>
              <a:spcBef>
                <a:spcPts val="0"/>
              </a:spcBef>
              <a:spcAft>
                <a:spcPts val="0"/>
              </a:spcAft>
              <a:defRPr sz="2100" b="1">
                <a:solidFill>
                  <a:srgbClr val="F5FAFF"/>
                </a:solidFill>
                <a:latin typeface="Segoe UI"/>
              </a:defRPr>
            </a:pPr>
            <a:r>
              <a:t>OperatorOS</a:t>
            </a:r>
          </a:p>
        </p:txBody>
      </p:sp>
      <p:sp>
        <p:nvSpPr>
          <p:cNvPr id="13" name="TextBox 12"/>
          <p:cNvSpPr txBox="1"/>
          <p:nvPr/>
        </p:nvSpPr>
        <p:spPr>
          <a:xfrm>
            <a:off x="1333500" y="4508500"/>
            <a:ext cx="2082800" cy="247269"/>
          </a:xfrm>
          <a:prstGeom prst="rect">
            <a:avLst/>
          </a:prstGeom>
          <a:noFill/>
        </p:spPr>
        <p:txBody>
          <a:bodyPr wrap="none" lIns="0" rIns="0" tIns="0" bIns="0" anchor="t">
            <a:spAutoFit/>
          </a:bodyPr>
          <a:lstStyle/>
          <a:p>
            <a:pPr algn="ctr">
              <a:lnSpc>
                <a:spcPts val="1547"/>
              </a:lnSpc>
              <a:spcBef>
                <a:spcPts val="0"/>
              </a:spcBef>
              <a:spcAft>
                <a:spcPts val="0"/>
              </a:spcAft>
              <a:defRPr sz="1300" b="0">
                <a:solidFill>
                  <a:srgbClr val="AFC2D8"/>
                </a:solidFill>
                <a:latin typeface="Segoe UI"/>
              </a:defRPr>
            </a:pPr>
            <a:r>
              <a:t>Your home base</a:t>
            </a:r>
          </a:p>
        </p:txBody>
      </p:sp>
      <p:cxnSp>
        <p:nvCxnSpPr>
          <p:cNvPr id="14" name="Connector 13"/>
          <p:cNvCxnSpPr/>
          <p:nvPr/>
        </p:nvCxnSpPr>
        <p:spPr>
          <a:xfrm flipV="1">
            <a:off x="3695700" y="2882900"/>
            <a:ext cx="1270000" cy="113030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65700" y="2451100"/>
            <a:ext cx="6616700" cy="876300"/>
          </a:xfrm>
          <a:prstGeom prst="roundRect">
            <a:avLst>
              <a:gd name="adj" fmla="val 7246"/>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9700" y="25908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CORE WORKFLOW</a:t>
            </a:r>
          </a:p>
        </p:txBody>
      </p:sp>
      <p:sp>
        <p:nvSpPr>
          <p:cNvPr id="17" name="TextBox 16"/>
          <p:cNvSpPr txBox="1"/>
          <p:nvPr/>
        </p:nvSpPr>
        <p:spPr>
          <a:xfrm>
            <a:off x="5219700" y="2832100"/>
            <a:ext cx="60579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5FAFF"/>
                </a:solidFill>
                <a:latin typeface="Segoe UI"/>
              </a:defRPr>
            </a:pPr>
            <a:r>
              <a:t>TechDeck</a:t>
            </a:r>
          </a:p>
        </p:txBody>
      </p:sp>
      <p:cxnSp>
        <p:nvCxnSpPr>
          <p:cNvPr id="18" name="Connector 17"/>
          <p:cNvCxnSpPr/>
          <p:nvPr/>
        </p:nvCxnSpPr>
        <p:spPr>
          <a:xfrm flipV="1">
            <a:off x="3695700" y="3949700"/>
            <a:ext cx="1270000" cy="6350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65700" y="3517900"/>
            <a:ext cx="6616700" cy="876300"/>
          </a:xfrm>
          <a:prstGeom prst="roundRect">
            <a:avLst>
              <a:gd name="adj" fmla="val 7246"/>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9700" y="36576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CHOSEN COMPANION</a:t>
            </a:r>
          </a:p>
        </p:txBody>
      </p:sp>
      <p:sp>
        <p:nvSpPr>
          <p:cNvPr id="21" name="TextBox 20"/>
          <p:cNvSpPr txBox="1"/>
          <p:nvPr/>
        </p:nvSpPr>
        <p:spPr>
          <a:xfrm>
            <a:off x="5219700" y="3898900"/>
            <a:ext cx="60579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5FAFF"/>
                </a:solidFill>
                <a:latin typeface="Segoe UI"/>
              </a:defRPr>
            </a:pPr>
            <a:r>
              <a:t>Script Ops</a:t>
            </a:r>
          </a:p>
        </p:txBody>
      </p:sp>
      <p:cxnSp>
        <p:nvCxnSpPr>
          <p:cNvPr id="22" name="Connector 21"/>
          <p:cNvCxnSpPr/>
          <p:nvPr/>
        </p:nvCxnSpPr>
        <p:spPr>
          <a:xfrm>
            <a:off x="3695700" y="4013200"/>
            <a:ext cx="1270000" cy="100330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965700" y="4584700"/>
            <a:ext cx="6616700" cy="876300"/>
          </a:xfrm>
          <a:prstGeom prst="roundRect">
            <a:avLst>
              <a:gd name="adj" fmla="val 7246"/>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9700" y="47244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CENTRAL CONTROLS</a:t>
            </a:r>
          </a:p>
        </p:txBody>
      </p:sp>
      <p:sp>
        <p:nvSpPr>
          <p:cNvPr id="25" name="TextBox 24"/>
          <p:cNvSpPr txBox="1"/>
          <p:nvPr/>
        </p:nvSpPr>
        <p:spPr>
          <a:xfrm>
            <a:off x="5219700" y="4965700"/>
            <a:ext cx="6057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People • roles • access • billing</a:t>
            </a:r>
          </a:p>
        </p:txBody>
      </p:sp>
      <p:sp>
        <p:nvSpPr>
          <p:cNvPr id="26" name="TextBox 25"/>
          <p:cNvSpPr txBox="1"/>
          <p:nvPr/>
        </p:nvSpPr>
        <p:spPr>
          <a:xfrm>
            <a:off x="609600" y="5930900"/>
            <a:ext cx="10960100" cy="277495"/>
          </a:xfrm>
          <a:prstGeom prst="rect">
            <a:avLst/>
          </a:prstGeom>
          <a:noFill/>
        </p:spPr>
        <p:txBody>
          <a:bodyPr wrap="none" lIns="0" rIns="0" tIns="0" bIns="0" anchor="t">
            <a:spAutoFit/>
          </a:bodyPr>
          <a:lstStyle/>
          <a:p>
            <a:pPr algn="l">
              <a:lnSpc>
                <a:spcPts val="1784"/>
              </a:lnSpc>
              <a:spcBef>
                <a:spcPts val="0"/>
              </a:spcBef>
              <a:spcAft>
                <a:spcPts val="0"/>
              </a:spcAft>
              <a:defRPr sz="1500" b="0">
                <a:solidFill>
                  <a:srgbClr val="AFC2D8"/>
                </a:solidFill>
                <a:latin typeface="Segoe UI"/>
              </a:defRPr>
            </a:pPr>
            <a:r>
              <a:t>One flagship per organization. Expand with the eligible companions your team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Built around the engineer’s actual work.">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WHAT THE TEAM GETS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Built around the</a:t>
            </a:r>
          </a:p>
          <a:p>
            <a:pPr algn="l">
              <a:lnSpc>
                <a:spcPts val="4284"/>
              </a:lnSpc>
              <a:spcBef>
                <a:spcPts val="0"/>
              </a:spcBef>
              <a:spcAft>
                <a:spcPts val="0"/>
              </a:spcAft>
              <a:defRPr sz="3600" b="1">
                <a:solidFill>
                  <a:srgbClr val="F5FAFF"/>
                </a:solidFill>
                <a:latin typeface="Segoe UI"/>
              </a:defRPr>
            </a:pPr>
            <a:r>
              <a:t>engineer’s actual work.</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05 / 20</a:t>
            </a:r>
          </a:p>
        </p:txBody>
      </p:sp>
      <p:sp>
        <p:nvSpPr>
          <p:cNvPr id="9" name="Rounded Rectangle 8"/>
          <p:cNvSpPr/>
          <p:nvPr/>
        </p:nvSpPr>
        <p:spPr>
          <a:xfrm>
            <a:off x="609600" y="2425700"/>
            <a:ext cx="3454400" cy="1638300"/>
          </a:xfrm>
          <a:prstGeom prst="roundRect">
            <a:avLst>
              <a:gd name="adj" fmla="val 465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59D8FF"/>
                </a:solidFill>
                <a:latin typeface="Consolas"/>
              </a:defRPr>
            </a:pPr>
            <a:r>
              <a:t>01</a:t>
            </a:r>
          </a:p>
        </p:txBody>
      </p:sp>
      <p:sp>
        <p:nvSpPr>
          <p:cNvPr id="11" name="TextBox 10"/>
          <p:cNvSpPr txBox="1"/>
          <p:nvPr/>
        </p:nvSpPr>
        <p:spPr>
          <a:xfrm>
            <a:off x="8128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Run service delivery</a:t>
            </a:r>
          </a:p>
        </p:txBody>
      </p:sp>
      <p:sp>
        <p:nvSpPr>
          <p:cNvPr id="12" name="TextBox 11"/>
          <p:cNvSpPr txBox="1"/>
          <p:nvPr/>
        </p:nvSpPr>
        <p:spPr>
          <a:xfrm>
            <a:off x="8128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AFC2D8"/>
                </a:solidFill>
                <a:latin typeface="Segoe UI"/>
              </a:defRPr>
            </a:pPr>
            <a:r>
              <a:t>Tickets, assignment, service time,</a:t>
            </a:r>
          </a:p>
          <a:p>
            <a:pPr algn="l">
              <a:lnSpc>
                <a:spcPts val="1844"/>
              </a:lnSpc>
              <a:spcBef>
                <a:spcPts val="0"/>
              </a:spcBef>
              <a:spcAft>
                <a:spcPts val="0"/>
              </a:spcAft>
              <a:defRPr sz="1550" b="0">
                <a:solidFill>
                  <a:srgbClr val="AFC2D8"/>
                </a:solidFill>
                <a:latin typeface="Segoe UI"/>
              </a:defRPr>
            </a:pPr>
            <a:r>
              <a:t>recurring work, portal updates</a:t>
            </a:r>
          </a:p>
          <a:p>
            <a:pPr algn="l">
              <a:lnSpc>
                <a:spcPts val="1844"/>
              </a:lnSpc>
              <a:spcBef>
                <a:spcPts val="0"/>
              </a:spcBef>
              <a:spcAft>
                <a:spcPts val="0"/>
              </a:spcAft>
              <a:defRPr sz="1550" b="0">
                <a:solidFill>
                  <a:srgbClr val="AFC2D8"/>
                </a:solidFill>
                <a:latin typeface="Segoe UI"/>
              </a:defRPr>
            </a:pPr>
            <a:r>
              <a:t>and status history.</a:t>
            </a:r>
          </a:p>
        </p:txBody>
      </p:sp>
      <p:sp>
        <p:nvSpPr>
          <p:cNvPr id="13" name="Rounded Rectangle 12"/>
          <p:cNvSpPr/>
          <p:nvPr/>
        </p:nvSpPr>
        <p:spPr>
          <a:xfrm>
            <a:off x="4368800" y="2425700"/>
            <a:ext cx="3454400" cy="1638300"/>
          </a:xfrm>
          <a:prstGeom prst="roundRect">
            <a:avLst>
              <a:gd name="adj" fmla="val 465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59D8FF"/>
                </a:solidFill>
                <a:latin typeface="Consolas"/>
              </a:defRPr>
            </a:pPr>
            <a:r>
              <a:t>02</a:t>
            </a:r>
          </a:p>
        </p:txBody>
      </p:sp>
      <p:sp>
        <p:nvSpPr>
          <p:cNvPr id="15" name="TextBox 14"/>
          <p:cNvSpPr txBox="1"/>
          <p:nvPr/>
        </p:nvSpPr>
        <p:spPr>
          <a:xfrm>
            <a:off x="45720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Keep system context</a:t>
            </a:r>
          </a:p>
        </p:txBody>
      </p:sp>
      <p:sp>
        <p:nvSpPr>
          <p:cNvPr id="16" name="TextBox 15"/>
          <p:cNvSpPr txBox="1"/>
          <p:nvPr/>
        </p:nvSpPr>
        <p:spPr>
          <a:xfrm>
            <a:off x="45720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AFC2D8"/>
                </a:solidFill>
                <a:latin typeface="Segoe UI"/>
              </a:defRPr>
            </a:pPr>
            <a:r>
              <a:t>Clients, sites, configuration items,</a:t>
            </a:r>
          </a:p>
          <a:p>
            <a:pPr algn="l">
              <a:lnSpc>
                <a:spcPts val="1844"/>
              </a:lnSpc>
              <a:spcBef>
                <a:spcPts val="0"/>
              </a:spcBef>
              <a:spcAft>
                <a:spcPts val="0"/>
              </a:spcAft>
              <a:defRPr sz="1550" b="0">
                <a:solidFill>
                  <a:srgbClr val="AFC2D8"/>
                </a:solidFill>
                <a:latin typeface="Segoe UI"/>
              </a:defRPr>
            </a:pPr>
            <a:r>
              <a:t>network/IP records and lifecycle</a:t>
            </a:r>
          </a:p>
          <a:p>
            <a:pPr algn="l">
              <a:lnSpc>
                <a:spcPts val="1844"/>
              </a:lnSpc>
              <a:spcBef>
                <a:spcPts val="0"/>
              </a:spcBef>
              <a:spcAft>
                <a:spcPts val="0"/>
              </a:spcAft>
              <a:defRPr sz="1550" b="0">
                <a:solidFill>
                  <a:srgbClr val="AFC2D8"/>
                </a:solidFill>
                <a:latin typeface="Segoe UI"/>
              </a:defRPr>
            </a:pPr>
            <a:r>
              <a:t>facts.</a:t>
            </a:r>
          </a:p>
        </p:txBody>
      </p:sp>
      <p:sp>
        <p:nvSpPr>
          <p:cNvPr id="17" name="Rounded Rectangle 16"/>
          <p:cNvSpPr/>
          <p:nvPr/>
        </p:nvSpPr>
        <p:spPr>
          <a:xfrm>
            <a:off x="8128000" y="2425700"/>
            <a:ext cx="3454400" cy="1638300"/>
          </a:xfrm>
          <a:prstGeom prst="roundRect">
            <a:avLst>
              <a:gd name="adj" fmla="val 465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2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59D8FF"/>
                </a:solidFill>
                <a:latin typeface="Consolas"/>
              </a:defRPr>
            </a:pPr>
            <a:r>
              <a:t>03</a:t>
            </a:r>
          </a:p>
        </p:txBody>
      </p:sp>
      <p:sp>
        <p:nvSpPr>
          <p:cNvPr id="19" name="TextBox 18"/>
          <p:cNvSpPr txBox="1"/>
          <p:nvPr/>
        </p:nvSpPr>
        <p:spPr>
          <a:xfrm>
            <a:off x="83312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Control the procedure</a:t>
            </a:r>
          </a:p>
        </p:txBody>
      </p:sp>
      <p:sp>
        <p:nvSpPr>
          <p:cNvPr id="20" name="TextBox 19"/>
          <p:cNvSpPr txBox="1"/>
          <p:nvPr/>
        </p:nvSpPr>
        <p:spPr>
          <a:xfrm>
            <a:off x="83312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AFC2D8"/>
                </a:solidFill>
                <a:latin typeface="Segoe UI"/>
              </a:defRPr>
            </a:pPr>
            <a:r>
              <a:t>Versioned documents, review</a:t>
            </a:r>
          </a:p>
          <a:p>
            <a:pPr algn="l">
              <a:lnSpc>
                <a:spcPts val="1844"/>
              </a:lnSpc>
              <a:spcBef>
                <a:spcPts val="0"/>
              </a:spcBef>
              <a:spcAft>
                <a:spcPts val="0"/>
              </a:spcAft>
              <a:defRPr sz="1550" b="0">
                <a:solidFill>
                  <a:srgbClr val="AFC2D8"/>
                </a:solidFill>
                <a:latin typeface="Segoe UI"/>
              </a:defRPr>
            </a:pPr>
            <a:r>
              <a:t>states and technician-guided</a:t>
            </a:r>
          </a:p>
          <a:p>
            <a:pPr algn="l">
              <a:lnSpc>
                <a:spcPts val="1844"/>
              </a:lnSpc>
              <a:spcBef>
                <a:spcPts val="0"/>
              </a:spcBef>
              <a:spcAft>
                <a:spcPts val="0"/>
              </a:spcAft>
              <a:defRPr sz="1550" b="0">
                <a:solidFill>
                  <a:srgbClr val="AFC2D8"/>
                </a:solidFill>
                <a:latin typeface="Segoe UI"/>
              </a:defRPr>
            </a:pPr>
            <a:r>
              <a:t>runbooks.</a:t>
            </a:r>
          </a:p>
        </p:txBody>
      </p:sp>
      <p:sp>
        <p:nvSpPr>
          <p:cNvPr id="21" name="Rounded Rectangle 20"/>
          <p:cNvSpPr/>
          <p:nvPr/>
        </p:nvSpPr>
        <p:spPr>
          <a:xfrm>
            <a:off x="609600" y="4279900"/>
            <a:ext cx="3454400" cy="1638300"/>
          </a:xfrm>
          <a:prstGeom prst="roundRect">
            <a:avLst>
              <a:gd name="adj" fmla="val 465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8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59D8FF"/>
                </a:solidFill>
                <a:latin typeface="Consolas"/>
              </a:defRPr>
            </a:pPr>
            <a:r>
              <a:t>04</a:t>
            </a:r>
          </a:p>
        </p:txBody>
      </p:sp>
      <p:sp>
        <p:nvSpPr>
          <p:cNvPr id="23" name="TextBox 22"/>
          <p:cNvSpPr txBox="1"/>
          <p:nvPr/>
        </p:nvSpPr>
        <p:spPr>
          <a:xfrm>
            <a:off x="8128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Retain resolution evidence</a:t>
            </a:r>
          </a:p>
        </p:txBody>
      </p:sp>
      <p:sp>
        <p:nvSpPr>
          <p:cNvPr id="24" name="TextBox 23"/>
          <p:cNvSpPr txBox="1"/>
          <p:nvPr/>
        </p:nvSpPr>
        <p:spPr>
          <a:xfrm>
            <a:off x="8128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AFC2D8"/>
                </a:solidFill>
                <a:latin typeface="Segoe UI"/>
              </a:defRPr>
            </a:pPr>
            <a:r>
              <a:t>Structured closeouts with source</a:t>
            </a:r>
          </a:p>
          <a:p>
            <a:pPr algn="l">
              <a:lnSpc>
                <a:spcPts val="1844"/>
              </a:lnSpc>
              <a:spcBef>
                <a:spcPts val="0"/>
              </a:spcBef>
              <a:spcAft>
                <a:spcPts val="0"/>
              </a:spcAft>
              <a:defRPr sz="1550" b="0">
                <a:solidFill>
                  <a:srgbClr val="AFC2D8"/>
                </a:solidFill>
                <a:latin typeface="Segoe UI"/>
              </a:defRPr>
            </a:pPr>
            <a:r>
              <a:t>revisions, warnings, failures and</a:t>
            </a:r>
          </a:p>
          <a:p>
            <a:pPr algn="l">
              <a:lnSpc>
                <a:spcPts val="1844"/>
              </a:lnSpc>
              <a:spcBef>
                <a:spcPts val="0"/>
              </a:spcBef>
              <a:spcAft>
                <a:spcPts val="0"/>
              </a:spcAft>
              <a:defRPr sz="1550" b="0">
                <a:solidFill>
                  <a:srgbClr val="AFC2D8"/>
                </a:solidFill>
                <a:latin typeface="Segoe UI"/>
              </a:defRPr>
            </a:pPr>
            <a:r>
              <a:t>validation.</a:t>
            </a:r>
          </a:p>
        </p:txBody>
      </p:sp>
      <p:sp>
        <p:nvSpPr>
          <p:cNvPr id="25" name="Rounded Rectangle 24"/>
          <p:cNvSpPr/>
          <p:nvPr/>
        </p:nvSpPr>
        <p:spPr>
          <a:xfrm>
            <a:off x="4368800" y="4279900"/>
            <a:ext cx="3454400" cy="1638300"/>
          </a:xfrm>
          <a:prstGeom prst="roundRect">
            <a:avLst>
              <a:gd name="adj" fmla="val 465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59D8FF"/>
                </a:solidFill>
                <a:latin typeface="Consolas"/>
              </a:defRPr>
            </a:pPr>
            <a:r>
              <a:t>05</a:t>
            </a:r>
          </a:p>
        </p:txBody>
      </p:sp>
      <p:sp>
        <p:nvSpPr>
          <p:cNvPr id="27" name="TextBox 26"/>
          <p:cNvSpPr txBox="1"/>
          <p:nvPr/>
        </p:nvSpPr>
        <p:spPr>
          <a:xfrm>
            <a:off x="45720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Find and reuse the fix</a:t>
            </a:r>
          </a:p>
        </p:txBody>
      </p:sp>
      <p:sp>
        <p:nvSpPr>
          <p:cNvPr id="28" name="TextBox 27"/>
          <p:cNvSpPr txBox="1"/>
          <p:nvPr/>
        </p:nvSpPr>
        <p:spPr>
          <a:xfrm>
            <a:off x="45720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AFC2D8"/>
                </a:solidFill>
                <a:latin typeface="Segoe UI"/>
              </a:defRPr>
            </a:pPr>
            <a:r>
              <a:t>Exact and full-text retrieval;</a:t>
            </a:r>
          </a:p>
          <a:p>
            <a:pPr algn="l">
              <a:lnSpc>
                <a:spcPts val="1844"/>
              </a:lnSpc>
              <a:spcBef>
                <a:spcPts val="0"/>
              </a:spcBef>
              <a:spcAft>
                <a:spcPts val="0"/>
              </a:spcAft>
              <a:defRPr sz="1550" b="0">
                <a:solidFill>
                  <a:srgbClr val="AFC2D8"/>
                </a:solidFill>
                <a:latin typeface="Segoe UI"/>
              </a:defRPr>
            </a:pPr>
            <a:r>
              <a:t>evidence-derived KB and runbook</a:t>
            </a:r>
          </a:p>
          <a:p>
            <a:pPr algn="l">
              <a:lnSpc>
                <a:spcPts val="1844"/>
              </a:lnSpc>
              <a:spcBef>
                <a:spcPts val="0"/>
              </a:spcBef>
              <a:spcAft>
                <a:spcPts val="0"/>
              </a:spcAft>
              <a:defRPr sz="1550" b="0">
                <a:solidFill>
                  <a:srgbClr val="AFC2D8"/>
                </a:solidFill>
                <a:latin typeface="Segoe UI"/>
              </a:defRPr>
            </a:pPr>
            <a:r>
              <a:t>drafts.</a:t>
            </a:r>
          </a:p>
        </p:txBody>
      </p:sp>
      <p:sp>
        <p:nvSpPr>
          <p:cNvPr id="29" name="Rounded Rectangle 28"/>
          <p:cNvSpPr/>
          <p:nvPr/>
        </p:nvSpPr>
        <p:spPr>
          <a:xfrm>
            <a:off x="8128000" y="4279900"/>
            <a:ext cx="3454400" cy="1638300"/>
          </a:xfrm>
          <a:prstGeom prst="roundRect">
            <a:avLst>
              <a:gd name="adj" fmla="val 465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2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59D8FF"/>
                </a:solidFill>
                <a:latin typeface="Consolas"/>
              </a:defRPr>
            </a:pPr>
            <a:r>
              <a:t>06</a:t>
            </a:r>
          </a:p>
        </p:txBody>
      </p:sp>
      <p:sp>
        <p:nvSpPr>
          <p:cNvPr id="31" name="TextBox 30"/>
          <p:cNvSpPr txBox="1"/>
          <p:nvPr/>
        </p:nvSpPr>
        <p:spPr>
          <a:xfrm>
            <a:off x="83312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Show the work</a:t>
            </a:r>
          </a:p>
        </p:txBody>
      </p:sp>
      <p:sp>
        <p:nvSpPr>
          <p:cNvPr id="32" name="TextBox 31"/>
          <p:cNvSpPr txBox="1"/>
          <p:nvPr/>
        </p:nvSpPr>
        <p:spPr>
          <a:xfrm>
            <a:off x="83312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AFC2D8"/>
                </a:solidFill>
                <a:latin typeface="Segoe UI"/>
              </a:defRPr>
            </a:pPr>
            <a:r>
              <a:t>Reports, protected attachments,</a:t>
            </a:r>
          </a:p>
          <a:p>
            <a:pPr algn="l">
              <a:lnSpc>
                <a:spcPts val="1844"/>
              </a:lnSpc>
              <a:spcBef>
                <a:spcPts val="0"/>
              </a:spcBef>
              <a:spcAft>
                <a:spcPts val="0"/>
              </a:spcAft>
              <a:defRPr sz="1550" b="0">
                <a:solidFill>
                  <a:srgbClr val="AFC2D8"/>
                </a:solidFill>
                <a:latin typeface="Segoe UI"/>
              </a:defRPr>
            </a:pPr>
            <a:r>
              <a:t>activity history, scoped APIs and</a:t>
            </a:r>
          </a:p>
          <a:p>
            <a:pPr algn="l">
              <a:lnSpc>
                <a:spcPts val="1844"/>
              </a:lnSpc>
              <a:spcBef>
                <a:spcPts val="0"/>
              </a:spcBef>
              <a:spcAft>
                <a:spcPts val="0"/>
              </a:spcAft>
              <a:defRPr sz="1550" b="0">
                <a:solidFill>
                  <a:srgbClr val="AFC2D8"/>
                </a:solidFill>
                <a:latin typeface="Segoe UI"/>
              </a:defRPr>
            </a:pPr>
            <a:r>
              <a:t>signed webhooks.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ut service risk and its context together.">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RISK-TO-PROOF</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Put service risk</a:t>
            </a:r>
          </a:p>
          <a:p>
            <a:pPr algn="l">
              <a:lnSpc>
                <a:spcPts val="4284"/>
              </a:lnSpc>
              <a:spcBef>
                <a:spcPts val="0"/>
              </a:spcBef>
              <a:spcAft>
                <a:spcPts val="0"/>
              </a:spcAft>
              <a:defRPr sz="3600" b="1">
                <a:solidFill>
                  <a:srgbClr val="F5FAFF"/>
                </a:solidFill>
                <a:latin typeface="Segoe UI"/>
              </a:defRPr>
            </a:pPr>
            <a:r>
              <a:t>and its context together.</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06 / 20</a:t>
            </a:r>
          </a:p>
        </p:txBody>
      </p:sp>
      <p:sp>
        <p:nvSpPr>
          <p:cNvPr id="9" name="TextBox 8"/>
          <p:cNvSpPr txBox="1"/>
          <p:nvPr/>
        </p:nvSpPr>
        <p:spPr>
          <a:xfrm>
            <a:off x="609600" y="2641600"/>
            <a:ext cx="3695700" cy="1501648"/>
          </a:xfrm>
          <a:prstGeom prst="rect">
            <a:avLst/>
          </a:prstGeom>
          <a:noFill/>
        </p:spPr>
        <p:txBody>
          <a:bodyPr wrap="none" lIns="0" rIns="0" tIns="0" bIns="0" anchor="t">
            <a:spAutoFit/>
          </a:bodyPr>
          <a:lstStyle/>
          <a:p>
            <a:pPr algn="l">
              <a:lnSpc>
                <a:spcPts val="2856"/>
              </a:lnSpc>
              <a:spcBef>
                <a:spcPts val="0"/>
              </a:spcBef>
              <a:spcAft>
                <a:spcPts val="0"/>
              </a:spcAft>
              <a:defRPr sz="2400" b="0">
                <a:solidFill>
                  <a:srgbClr val="AFC2D8"/>
                </a:solidFill>
                <a:latin typeface="Segoe UI"/>
              </a:defRPr>
            </a:pPr>
            <a:r>
              <a:t>The workday brief points</a:t>
            </a:r>
          </a:p>
          <a:p>
            <a:pPr algn="l">
              <a:lnSpc>
                <a:spcPts val="2856"/>
              </a:lnSpc>
              <a:spcBef>
                <a:spcPts val="0"/>
              </a:spcBef>
              <a:spcAft>
                <a:spcPts val="0"/>
              </a:spcAft>
              <a:defRPr sz="2400" b="0">
                <a:solidFill>
                  <a:srgbClr val="AFC2D8"/>
                </a:solidFill>
                <a:latin typeface="Segoe UI"/>
              </a:defRPr>
            </a:pPr>
            <a:r>
              <a:t>the team to recorded risks</a:t>
            </a:r>
          </a:p>
          <a:p>
            <a:pPr algn="l">
              <a:lnSpc>
                <a:spcPts val="2856"/>
              </a:lnSpc>
              <a:spcBef>
                <a:spcPts val="0"/>
              </a:spcBef>
              <a:spcAft>
                <a:spcPts val="0"/>
              </a:spcAft>
              <a:defRPr sz="2400" b="0">
                <a:solidFill>
                  <a:srgbClr val="AFC2D8"/>
                </a:solidFill>
                <a:latin typeface="Segoe UI"/>
              </a:defRPr>
            </a:pPr>
            <a:r>
              <a:t>and the source records</a:t>
            </a:r>
          </a:p>
          <a:p>
            <a:pPr algn="l">
              <a:lnSpc>
                <a:spcPts val="2856"/>
              </a:lnSpc>
              <a:spcBef>
                <a:spcPts val="0"/>
              </a:spcBef>
              <a:spcAft>
                <a:spcPts val="0"/>
              </a:spcAft>
              <a:defRPr sz="2400" b="0">
                <a:solidFill>
                  <a:srgbClr val="AFC2D8"/>
                </a:solidFill>
                <a:latin typeface="Segoe UI"/>
              </a:defRPr>
            </a:pPr>
            <a:r>
              <a:t>needed to act.</a:t>
            </a:r>
          </a:p>
        </p:txBody>
      </p:sp>
      <p:sp>
        <p:nvSpPr>
          <p:cNvPr id="10" name="Rounded Rectangle 9"/>
          <p:cNvSpPr/>
          <p:nvPr/>
        </p:nvSpPr>
        <p:spPr>
          <a:xfrm>
            <a:off x="4864100" y="2476500"/>
            <a:ext cx="6718300" cy="685800"/>
          </a:xfrm>
          <a:prstGeom prst="roundRect">
            <a:avLst>
              <a:gd name="adj" fmla="val 7407"/>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41900" y="2679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59D8FF"/>
                </a:solidFill>
                <a:latin typeface="Consolas"/>
              </a:defRPr>
            </a:pPr>
            <a:r>
              <a:t>01</a:t>
            </a:r>
          </a:p>
        </p:txBody>
      </p:sp>
      <p:sp>
        <p:nvSpPr>
          <p:cNvPr id="12" name="TextBox 11"/>
          <p:cNvSpPr txBox="1"/>
          <p:nvPr/>
        </p:nvSpPr>
        <p:spPr>
          <a:xfrm>
            <a:off x="5575300" y="2565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5FAFF"/>
                </a:solidFill>
                <a:latin typeface="Segoe UI"/>
              </a:defRPr>
            </a:pPr>
            <a:r>
              <a:t>Overdue ticket</a:t>
            </a:r>
          </a:p>
        </p:txBody>
      </p:sp>
      <p:sp>
        <p:nvSpPr>
          <p:cNvPr id="13" name="TextBox 12"/>
          <p:cNvSpPr txBox="1"/>
          <p:nvPr/>
        </p:nvSpPr>
        <p:spPr>
          <a:xfrm>
            <a:off x="5575300" y="2882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AFC2D8"/>
                </a:solidFill>
                <a:latin typeface="Segoe UI"/>
              </a:defRPr>
            </a:pPr>
            <a:r>
              <a:t>Open the work that needs attention.</a:t>
            </a:r>
          </a:p>
        </p:txBody>
      </p:sp>
      <p:sp>
        <p:nvSpPr>
          <p:cNvPr id="14" name="Rounded Rectangle 13"/>
          <p:cNvSpPr/>
          <p:nvPr/>
        </p:nvSpPr>
        <p:spPr>
          <a:xfrm>
            <a:off x="4864100" y="3238500"/>
            <a:ext cx="6718300" cy="685800"/>
          </a:xfrm>
          <a:prstGeom prst="roundRect">
            <a:avLst>
              <a:gd name="adj" fmla="val 7407"/>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1900" y="3441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59D8FF"/>
                </a:solidFill>
                <a:latin typeface="Consolas"/>
              </a:defRPr>
            </a:pPr>
            <a:r>
              <a:t>02</a:t>
            </a:r>
          </a:p>
        </p:txBody>
      </p:sp>
      <p:sp>
        <p:nvSpPr>
          <p:cNvPr id="16" name="TextBox 15"/>
          <p:cNvSpPr txBox="1"/>
          <p:nvPr/>
        </p:nvSpPr>
        <p:spPr>
          <a:xfrm>
            <a:off x="5575300" y="3327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5FAFF"/>
                </a:solidFill>
                <a:latin typeface="Segoe UI"/>
              </a:defRPr>
            </a:pPr>
            <a:r>
              <a:t>Critical / unassigned</a:t>
            </a:r>
          </a:p>
        </p:txBody>
      </p:sp>
      <p:sp>
        <p:nvSpPr>
          <p:cNvPr id="17" name="TextBox 16"/>
          <p:cNvSpPr txBox="1"/>
          <p:nvPr/>
        </p:nvSpPr>
        <p:spPr>
          <a:xfrm>
            <a:off x="5575300" y="3644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AFC2D8"/>
                </a:solidFill>
                <a:latin typeface="Segoe UI"/>
              </a:defRPr>
            </a:pPr>
            <a:r>
              <a:t>Make ownership the next decision.</a:t>
            </a:r>
          </a:p>
        </p:txBody>
      </p:sp>
      <p:sp>
        <p:nvSpPr>
          <p:cNvPr id="18" name="Rounded Rectangle 17"/>
          <p:cNvSpPr/>
          <p:nvPr/>
        </p:nvSpPr>
        <p:spPr>
          <a:xfrm>
            <a:off x="4864100" y="4000500"/>
            <a:ext cx="6718300" cy="685800"/>
          </a:xfrm>
          <a:prstGeom prst="roundRect">
            <a:avLst>
              <a:gd name="adj" fmla="val 7407"/>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1900" y="4203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59D8FF"/>
                </a:solidFill>
                <a:latin typeface="Consolas"/>
              </a:defRPr>
            </a:pPr>
            <a:r>
              <a:t>03</a:t>
            </a:r>
          </a:p>
        </p:txBody>
      </p:sp>
      <p:sp>
        <p:nvSpPr>
          <p:cNvPr id="20" name="TextBox 19"/>
          <p:cNvSpPr txBox="1"/>
          <p:nvPr/>
        </p:nvSpPr>
        <p:spPr>
          <a:xfrm>
            <a:off x="5575300" y="4089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5FAFF"/>
                </a:solidFill>
                <a:latin typeface="Segoe UI"/>
              </a:defRPr>
            </a:pPr>
            <a:r>
              <a:t>Critical / offline record</a:t>
            </a:r>
          </a:p>
        </p:txBody>
      </p:sp>
      <p:sp>
        <p:nvSpPr>
          <p:cNvPr id="21" name="TextBox 20"/>
          <p:cNvSpPr txBox="1"/>
          <p:nvPr/>
        </p:nvSpPr>
        <p:spPr>
          <a:xfrm>
            <a:off x="5575300" y="4406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AFC2D8"/>
                </a:solidFill>
                <a:latin typeface="Segoe UI"/>
              </a:defRPr>
            </a:pPr>
            <a:r>
              <a:t>Review the affected configuration item.</a:t>
            </a:r>
          </a:p>
        </p:txBody>
      </p:sp>
      <p:sp>
        <p:nvSpPr>
          <p:cNvPr id="22" name="Rounded Rectangle 21"/>
          <p:cNvSpPr/>
          <p:nvPr/>
        </p:nvSpPr>
        <p:spPr>
          <a:xfrm>
            <a:off x="4864100" y="4762500"/>
            <a:ext cx="6718300" cy="685800"/>
          </a:xfrm>
          <a:prstGeom prst="roundRect">
            <a:avLst>
              <a:gd name="adj" fmla="val 7407"/>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41900" y="4965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59D8FF"/>
                </a:solidFill>
                <a:latin typeface="Consolas"/>
              </a:defRPr>
            </a:pPr>
            <a:r>
              <a:t>04</a:t>
            </a:r>
          </a:p>
        </p:txBody>
      </p:sp>
      <p:sp>
        <p:nvSpPr>
          <p:cNvPr id="24" name="TextBox 23"/>
          <p:cNvSpPr txBox="1"/>
          <p:nvPr/>
        </p:nvSpPr>
        <p:spPr>
          <a:xfrm>
            <a:off x="5575300" y="4851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F5FAFF"/>
                </a:solidFill>
                <a:latin typeface="Segoe UI"/>
              </a:defRPr>
            </a:pPr>
            <a:r>
              <a:t>Lifecycle / procedure</a:t>
            </a:r>
          </a:p>
        </p:txBody>
      </p:sp>
      <p:sp>
        <p:nvSpPr>
          <p:cNvPr id="25" name="TextBox 24"/>
          <p:cNvSpPr txBox="1"/>
          <p:nvPr/>
        </p:nvSpPr>
        <p:spPr>
          <a:xfrm>
            <a:off x="5575300" y="5168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AFC2D8"/>
                </a:solidFill>
                <a:latin typeface="Segoe UI"/>
              </a:defRPr>
            </a:pPr>
            <a:r>
              <a:t>Check what is due or waiting for review.</a:t>
            </a:r>
          </a:p>
        </p:txBody>
      </p:sp>
      <p:sp>
        <p:nvSpPr>
          <p:cNvPr id="26" name="TextBox 25"/>
          <p:cNvSpPr txBox="1"/>
          <p:nvPr/>
        </p:nvSpPr>
        <p:spPr>
          <a:xfrm>
            <a:off x="609600" y="5397500"/>
            <a:ext cx="3721100" cy="564642"/>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A ranked service view grounded in</a:t>
            </a:r>
          </a:p>
          <a:p>
            <a:pPr algn="l">
              <a:lnSpc>
                <a:spcPts val="2023"/>
              </a:lnSpc>
              <a:spcBef>
                <a:spcPts val="0"/>
              </a:spcBef>
              <a:spcAft>
                <a:spcPts val="0"/>
              </a:spcAft>
              <a:defRPr sz="1700" b="1">
                <a:solidFill>
                  <a:srgbClr val="59D8FF"/>
                </a:solidFill>
                <a:latin typeface="Segoe UI"/>
              </a:defRPr>
            </a:pPr>
            <a:r>
              <a:t>recorded facts.</a:t>
            </a:r>
          </a:p>
        </p:txBody>
      </p:sp>
      <p:sp>
        <p:nvSpPr>
          <p:cNvPr id="27" name="TextBox 26"/>
          <p:cNvSpPr txBox="1"/>
          <p:nvPr/>
        </p:nvSpPr>
        <p:spPr>
          <a:xfrm>
            <a:off x="4864100" y="5765800"/>
            <a:ext cx="6718300" cy="194373"/>
          </a:xfrm>
          <a:prstGeom prst="rect">
            <a:avLst/>
          </a:prstGeom>
          <a:noFill/>
        </p:spPr>
        <p:txBody>
          <a:bodyPr wrap="none" lIns="0" rIns="0" tIns="0" bIns="0" anchor="t">
            <a:spAutoFit/>
          </a:bodyPr>
          <a:lstStyle/>
          <a:p>
            <a:pPr algn="l">
              <a:lnSpc>
                <a:spcPts val="1130"/>
              </a:lnSpc>
              <a:spcBef>
                <a:spcPts val="0"/>
              </a:spcBef>
              <a:spcAft>
                <a:spcPts val="0"/>
              </a:spcAft>
              <a:defRPr sz="950" b="0">
                <a:solidFill>
                  <a:srgbClr val="AFC2D8"/>
                </a:solidFill>
                <a:latin typeface="Segoe UI"/>
              </a:defRPr>
            </a:pPr>
            <a:r>
              <a:t>WORKFLOW DIAGRAM / ILLUSTRATIVE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You touched it. Now it is broken.”">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ILLUSTRATIVE SCENARIO 01 / MSP / CHANGE ACCOUNTABILITY</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“You touched it.</a:t>
            </a:r>
          </a:p>
          <a:p>
            <a:pPr algn="l">
              <a:lnSpc>
                <a:spcPts val="4284"/>
              </a:lnSpc>
              <a:spcBef>
                <a:spcPts val="0"/>
              </a:spcBef>
              <a:spcAft>
                <a:spcPts val="0"/>
              </a:spcAft>
              <a:defRPr sz="3600" b="1">
                <a:solidFill>
                  <a:srgbClr val="F5FAFF"/>
                </a:solidFill>
                <a:latin typeface="Segoe UI"/>
              </a:defRPr>
            </a:pPr>
            <a:r>
              <a:t>Now it is broken.”</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07 / 20</a:t>
            </a:r>
          </a:p>
        </p:txBody>
      </p:sp>
      <p:sp>
        <p:nvSpPr>
          <p:cNvPr id="9" name="Rounded Rectangle 8"/>
          <p:cNvSpPr/>
          <p:nvPr/>
        </p:nvSpPr>
        <p:spPr>
          <a:xfrm>
            <a:off x="609600" y="2374900"/>
            <a:ext cx="3429000" cy="3581400"/>
          </a:xfrm>
          <a:prstGeom prst="roundRect">
            <a:avLst>
              <a:gd name="adj" fmla="val 2222"/>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MOMENT</a:t>
            </a:r>
          </a:p>
        </p:txBody>
      </p:sp>
      <p:sp>
        <p:nvSpPr>
          <p:cNvPr id="11" name="TextBox 10"/>
          <p:cNvSpPr txBox="1"/>
          <p:nvPr/>
        </p:nvSpPr>
        <p:spPr>
          <a:xfrm>
            <a:off x="838200" y="2971800"/>
            <a:ext cx="2984500" cy="1713230"/>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F5FAFF"/>
                </a:solidFill>
                <a:latin typeface="Segoe UI"/>
              </a:defRPr>
            </a:pPr>
            <a:r>
              <a:t>After a configuration</a:t>
            </a:r>
          </a:p>
          <a:p>
            <a:pPr algn="l">
              <a:lnSpc>
                <a:spcPts val="2618"/>
              </a:lnSpc>
              <a:spcBef>
                <a:spcPts val="0"/>
              </a:spcBef>
              <a:spcAft>
                <a:spcPts val="0"/>
              </a:spcAft>
              <a:defRPr sz="2200" b="0">
                <a:solidFill>
                  <a:srgbClr val="F5FAFF"/>
                </a:solidFill>
                <a:latin typeface="Segoe UI"/>
              </a:defRPr>
            </a:pPr>
            <a:r>
              <a:t>change, a client reports</a:t>
            </a:r>
          </a:p>
          <a:p>
            <a:pPr algn="l">
              <a:lnSpc>
                <a:spcPts val="2618"/>
              </a:lnSpc>
              <a:spcBef>
                <a:spcPts val="0"/>
              </a:spcBef>
              <a:spcAft>
                <a:spcPts val="0"/>
              </a:spcAft>
              <a:defRPr sz="2200" b="0">
                <a:solidFill>
                  <a:srgbClr val="F5FAFF"/>
                </a:solidFill>
                <a:latin typeface="Segoe UI"/>
              </a:defRPr>
            </a:pPr>
            <a:r>
              <a:t>a new fault and asks</a:t>
            </a:r>
          </a:p>
          <a:p>
            <a:pPr algn="l">
              <a:lnSpc>
                <a:spcPts val="2618"/>
              </a:lnSpc>
              <a:spcBef>
                <a:spcPts val="0"/>
              </a:spcBef>
              <a:spcAft>
                <a:spcPts val="0"/>
              </a:spcAft>
              <a:defRPr sz="2200" b="0">
                <a:solidFill>
                  <a:srgbClr val="F5FAFF"/>
                </a:solidFill>
                <a:latin typeface="Segoe UI"/>
              </a:defRPr>
            </a:pPr>
            <a:r>
              <a:t>the MSP to explain</a:t>
            </a:r>
          </a:p>
          <a:p>
            <a:pPr algn="l">
              <a:lnSpc>
                <a:spcPts val="2618"/>
              </a:lnSpc>
              <a:spcBef>
                <a:spcPts val="0"/>
              </a:spcBef>
              <a:spcAft>
                <a:spcPts val="0"/>
              </a:spcAft>
              <a:defRPr sz="2200" b="0">
                <a:solidFill>
                  <a:srgbClr val="F5FAFF"/>
                </a:solidFill>
                <a:latin typeface="Segoe UI"/>
              </a:defRPr>
            </a:pPr>
            <a:r>
              <a:t>what happened.</a:t>
            </a:r>
          </a:p>
        </p:txBody>
      </p:sp>
      <p:sp>
        <p:nvSpPr>
          <p:cNvPr id="12" name="Oval 11"/>
          <p:cNvSpPr/>
          <p:nvPr/>
        </p:nvSpPr>
        <p:spPr>
          <a:xfrm>
            <a:off x="4457700" y="24130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28405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Establish context</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Link the client, ticket and affected system.</a:t>
            </a:r>
          </a:p>
        </p:txBody>
      </p:sp>
      <p:sp>
        <p:nvSpPr>
          <p:cNvPr id="17" name="Oval 16"/>
          <p:cNvSpPr/>
          <p:nvPr/>
        </p:nvSpPr>
        <p:spPr>
          <a:xfrm>
            <a:off x="4457700" y="32639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2840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Retain the record</a:t>
            </a:r>
          </a:p>
        </p:txBody>
      </p:sp>
      <p:sp>
        <p:nvSpPr>
          <p:cNvPr id="21" name="TextBox 20"/>
          <p:cNvSpPr txBox="1"/>
          <p:nvPr/>
        </p:nvSpPr>
        <p:spPr>
          <a:xfrm>
            <a:off x="4965700" y="3543300"/>
            <a:ext cx="6489700" cy="525348"/>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Capture the baseline, authorization reference and external execution</a:t>
            </a:r>
          </a:p>
          <a:p>
            <a:pPr algn="l">
              <a:lnSpc>
                <a:spcPts val="1868"/>
              </a:lnSpc>
              <a:spcBef>
                <a:spcPts val="0"/>
              </a:spcBef>
              <a:spcAft>
                <a:spcPts val="0"/>
              </a:spcAft>
              <a:defRPr sz="1570" b="0">
                <a:solidFill>
                  <a:srgbClr val="AFC2D8"/>
                </a:solidFill>
                <a:latin typeface="Segoe UI"/>
              </a:defRPr>
            </a:pPr>
            <a:r>
              <a:t>output.</a:t>
            </a:r>
          </a:p>
        </p:txBody>
      </p:sp>
      <p:sp>
        <p:nvSpPr>
          <p:cNvPr id="22" name="Oval 21"/>
          <p:cNvSpPr/>
          <p:nvPr/>
        </p:nvSpPr>
        <p:spPr>
          <a:xfrm>
            <a:off x="4457700" y="41148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Validate</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Record the exact checks, results and unresolved work.</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5FAFF"/>
                </a:solidFill>
                <a:latin typeface="Segoe UI"/>
              </a:defRPr>
            </a:pPr>
            <a:r>
              <a:t>An attributable sequence of evidence and decisions.</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AFC2D8"/>
                </a:solidFill>
                <a:latin typeface="Segoe UI"/>
              </a:defRPr>
            </a:pPr>
            <a:r>
              <a:t>MEASURE / Time to reconstruct the change for client 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he next shift skips the archaeology.">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ILLUSTRATIVE SCENARIO 02 / INTERNAL IT / ENGINEER HANDOFF</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The next shift</a:t>
            </a:r>
          </a:p>
          <a:p>
            <a:pPr algn="l">
              <a:lnSpc>
                <a:spcPts val="4284"/>
              </a:lnSpc>
              <a:spcBef>
                <a:spcPts val="0"/>
              </a:spcBef>
              <a:spcAft>
                <a:spcPts val="0"/>
              </a:spcAft>
              <a:defRPr sz="3600" b="1">
                <a:solidFill>
                  <a:srgbClr val="F5FAFF"/>
                </a:solidFill>
                <a:latin typeface="Segoe UI"/>
              </a:defRPr>
            </a:pPr>
            <a:r>
              <a:t>skips the archaeology.</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08 / 20</a:t>
            </a:r>
          </a:p>
        </p:txBody>
      </p:sp>
      <p:sp>
        <p:nvSpPr>
          <p:cNvPr id="9" name="Rounded Rectangle 8"/>
          <p:cNvSpPr/>
          <p:nvPr/>
        </p:nvSpPr>
        <p:spPr>
          <a:xfrm>
            <a:off x="609600" y="2374900"/>
            <a:ext cx="3429000" cy="3581400"/>
          </a:xfrm>
          <a:prstGeom prst="roundRect">
            <a:avLst>
              <a:gd name="adj" fmla="val 2222"/>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MOMENT</a:t>
            </a:r>
          </a:p>
        </p:txBody>
      </p:sp>
      <p:sp>
        <p:nvSpPr>
          <p:cNvPr id="11" name="TextBox 10"/>
          <p:cNvSpPr txBox="1"/>
          <p:nvPr/>
        </p:nvSpPr>
        <p:spPr>
          <a:xfrm>
            <a:off x="838200" y="2971800"/>
            <a:ext cx="2984500" cy="1380744"/>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F5FAFF"/>
                </a:solidFill>
                <a:latin typeface="Segoe UI"/>
              </a:defRPr>
            </a:pPr>
            <a:r>
              <a:t>A recurring VPN issue</a:t>
            </a:r>
          </a:p>
          <a:p>
            <a:pPr algn="l">
              <a:lnSpc>
                <a:spcPts val="2618"/>
              </a:lnSpc>
              <a:spcBef>
                <a:spcPts val="0"/>
              </a:spcBef>
              <a:spcAft>
                <a:spcPts val="0"/>
              </a:spcAft>
              <a:defRPr sz="2200" b="0">
                <a:solidFill>
                  <a:srgbClr val="F5FAFF"/>
                </a:solidFill>
                <a:latin typeface="Segoe UI"/>
              </a:defRPr>
            </a:pPr>
            <a:r>
              <a:t>lands with an engineer</a:t>
            </a:r>
          </a:p>
          <a:p>
            <a:pPr algn="l">
              <a:lnSpc>
                <a:spcPts val="2618"/>
              </a:lnSpc>
              <a:spcBef>
                <a:spcPts val="0"/>
              </a:spcBef>
              <a:spcAft>
                <a:spcPts val="0"/>
              </a:spcAft>
              <a:defRPr sz="2200" b="0">
                <a:solidFill>
                  <a:srgbClr val="F5FAFF"/>
                </a:solidFill>
                <a:latin typeface="Segoe UI"/>
              </a:defRPr>
            </a:pPr>
            <a:r>
              <a:t>who did not work the</a:t>
            </a:r>
          </a:p>
          <a:p>
            <a:pPr algn="l">
              <a:lnSpc>
                <a:spcPts val="2618"/>
              </a:lnSpc>
              <a:spcBef>
                <a:spcPts val="0"/>
              </a:spcBef>
              <a:spcAft>
                <a:spcPts val="0"/>
              </a:spcAft>
              <a:defRPr sz="2200" b="0">
                <a:solidFill>
                  <a:srgbClr val="F5FAFF"/>
                </a:solidFill>
                <a:latin typeface="Segoe UI"/>
              </a:defRPr>
            </a:pPr>
            <a:r>
              <a:t>original incident.</a:t>
            </a:r>
          </a:p>
        </p:txBody>
      </p:sp>
      <p:sp>
        <p:nvSpPr>
          <p:cNvPr id="12" name="Oval 11"/>
          <p:cNvSpPr/>
          <p:nvPr/>
        </p:nvSpPr>
        <p:spPr>
          <a:xfrm>
            <a:off x="4457700" y="24130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28405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Retrieve</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Search the recorded identifier and incident narrative.</a:t>
            </a:r>
          </a:p>
        </p:txBody>
      </p:sp>
      <p:sp>
        <p:nvSpPr>
          <p:cNvPr id="17" name="Oval 16"/>
          <p:cNvSpPr/>
          <p:nvPr/>
        </p:nvSpPr>
        <p:spPr>
          <a:xfrm>
            <a:off x="4457700" y="32639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2840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Inspect</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Review failed attempts, side effects, warnings and pending validation.</a:t>
            </a:r>
          </a:p>
        </p:txBody>
      </p:sp>
      <p:sp>
        <p:nvSpPr>
          <p:cNvPr id="22" name="Oval 21"/>
          <p:cNvSpPr/>
          <p:nvPr/>
        </p:nvSpPr>
        <p:spPr>
          <a:xfrm>
            <a:off x="4457700" y="41148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Continue</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Use linked knowledge and retain the next action with an owner.</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5FAFF"/>
                </a:solidFill>
                <a:latin typeface="Segoe UI"/>
              </a:defRPr>
            </a:pPr>
            <a:r>
              <a:t>A useful starting point with the source still attached.</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AFC2D8"/>
                </a:solidFill>
                <a:latin typeface="Segoe UI"/>
              </a:defRPr>
            </a:pPr>
            <a:r>
              <a:t>MEASURE / Minutes from assignment to a defensible next 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A good fix becomes a reviewed procedure.">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ILLUSTRATIVE SCENARIO 03 / MSP / REPEATABLE ENGINEERING</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A good fix becomes</a:t>
            </a:r>
          </a:p>
          <a:p>
            <a:pPr algn="l">
              <a:lnSpc>
                <a:spcPts val="4284"/>
              </a:lnSpc>
              <a:spcBef>
                <a:spcPts val="0"/>
              </a:spcBef>
              <a:spcAft>
                <a:spcPts val="0"/>
              </a:spcAft>
              <a:defRPr sz="3600" b="1">
                <a:solidFill>
                  <a:srgbClr val="F5FAFF"/>
                </a:solidFill>
                <a:latin typeface="Segoe UI"/>
              </a:defRPr>
            </a:pPr>
            <a:r>
              <a:t>a reviewed procedure.</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09 / 20</a:t>
            </a:r>
          </a:p>
        </p:txBody>
      </p:sp>
      <p:sp>
        <p:nvSpPr>
          <p:cNvPr id="9" name="Rounded Rectangle 8"/>
          <p:cNvSpPr/>
          <p:nvPr/>
        </p:nvSpPr>
        <p:spPr>
          <a:xfrm>
            <a:off x="609600" y="2374900"/>
            <a:ext cx="3429000" cy="3581400"/>
          </a:xfrm>
          <a:prstGeom prst="roundRect">
            <a:avLst>
              <a:gd name="adj" fmla="val 2222"/>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MOMENT</a:t>
            </a:r>
          </a:p>
        </p:txBody>
      </p:sp>
      <p:sp>
        <p:nvSpPr>
          <p:cNvPr id="11" name="TextBox 10"/>
          <p:cNvSpPr txBox="1"/>
          <p:nvPr/>
        </p:nvSpPr>
        <p:spPr>
          <a:xfrm>
            <a:off x="838200" y="2971800"/>
            <a:ext cx="2984500" cy="1713230"/>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F5FAFF"/>
                </a:solidFill>
                <a:latin typeface="Segoe UI"/>
              </a:defRPr>
            </a:pPr>
            <a:r>
              <a:t>The team keeps solving</a:t>
            </a:r>
          </a:p>
          <a:p>
            <a:pPr algn="l">
              <a:lnSpc>
                <a:spcPts val="2618"/>
              </a:lnSpc>
              <a:spcBef>
                <a:spcPts val="0"/>
              </a:spcBef>
              <a:spcAft>
                <a:spcPts val="0"/>
              </a:spcAft>
              <a:defRPr sz="2200" b="0">
                <a:solidFill>
                  <a:srgbClr val="F5FAFF"/>
                </a:solidFill>
                <a:latin typeface="Segoe UI"/>
              </a:defRPr>
            </a:pPr>
            <a:r>
              <a:t>the same fault, but the</a:t>
            </a:r>
          </a:p>
          <a:p>
            <a:pPr algn="l">
              <a:lnSpc>
                <a:spcPts val="2618"/>
              </a:lnSpc>
              <a:spcBef>
                <a:spcPts val="0"/>
              </a:spcBef>
              <a:spcAft>
                <a:spcPts val="0"/>
              </a:spcAft>
              <a:defRPr sz="2200" b="0">
                <a:solidFill>
                  <a:srgbClr val="F5FAFF"/>
                </a:solidFill>
                <a:latin typeface="Segoe UI"/>
              </a:defRPr>
            </a:pPr>
            <a:r>
              <a:t>useful knowledge stays</a:t>
            </a:r>
          </a:p>
          <a:p>
            <a:pPr algn="l">
              <a:lnSpc>
                <a:spcPts val="2618"/>
              </a:lnSpc>
              <a:spcBef>
                <a:spcPts val="0"/>
              </a:spcBef>
              <a:spcAft>
                <a:spcPts val="0"/>
              </a:spcAft>
              <a:defRPr sz="2200" b="0">
                <a:solidFill>
                  <a:srgbClr val="F5FAFF"/>
                </a:solidFill>
                <a:latin typeface="Segoe UI"/>
              </a:defRPr>
            </a:pPr>
            <a:r>
              <a:t>with one senior</a:t>
            </a:r>
          </a:p>
          <a:p>
            <a:pPr algn="l">
              <a:lnSpc>
                <a:spcPts val="2618"/>
              </a:lnSpc>
              <a:spcBef>
                <a:spcPts val="0"/>
              </a:spcBef>
              <a:spcAft>
                <a:spcPts val="0"/>
              </a:spcAft>
              <a:defRPr sz="2200" b="0">
                <a:solidFill>
                  <a:srgbClr val="F5FAFF"/>
                </a:solidFill>
                <a:latin typeface="Segoe UI"/>
              </a:defRPr>
            </a:pPr>
            <a:r>
              <a:t>engineer.</a:t>
            </a:r>
          </a:p>
        </p:txBody>
      </p:sp>
      <p:sp>
        <p:nvSpPr>
          <p:cNvPr id="12" name="Oval 11"/>
          <p:cNvSpPr/>
          <p:nvPr/>
        </p:nvSpPr>
        <p:spPr>
          <a:xfrm>
            <a:off x="4457700" y="24130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28405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Review evidence</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Check what worked, what failed and what was actually verified.</a:t>
            </a:r>
          </a:p>
        </p:txBody>
      </p:sp>
      <p:sp>
        <p:nvSpPr>
          <p:cNvPr id="17" name="Oval 16"/>
          <p:cNvSpPr/>
          <p:nvPr/>
        </p:nvSpPr>
        <p:spPr>
          <a:xfrm>
            <a:off x="4457700" y="32639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28405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Create the draft</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Preview a KB or runbook assembled from the recorded incident.</a:t>
            </a:r>
          </a:p>
        </p:txBody>
      </p:sp>
      <p:sp>
        <p:nvSpPr>
          <p:cNvPr id="22" name="Oval 21"/>
          <p:cNvSpPr/>
          <p:nvPr/>
        </p:nvSpPr>
        <p:spPr>
          <a:xfrm>
            <a:off x="4457700" y="4114800"/>
            <a:ext cx="304800" cy="304800"/>
          </a:xfrm>
          <a:prstGeom prst="ellipse">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07111E"/>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F5FAFF"/>
                </a:solidFill>
                <a:latin typeface="Segoe UI"/>
              </a:defRPr>
            </a:pPr>
            <a:r>
              <a:t>Approve and reuse</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AFC2D8"/>
                </a:solidFill>
                <a:latin typeface="Segoe UI"/>
              </a:defRPr>
            </a:pPr>
            <a:r>
              <a:t>Edit, review and publish with source links and access controls.</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F5FAFF"/>
                </a:solidFill>
                <a:latin typeface="Segoe UI"/>
              </a:defRPr>
            </a:pPr>
            <a:r>
              <a:t>A versioned procedure with evidence behind its guidance.</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AFC2D8"/>
                </a:solidFill>
                <a:latin typeface="Segoe UI"/>
              </a:defRPr>
            </a:pPr>
            <a:r>
              <a:t>MEASURE / Repeat incidents with a usable reviewed procedure.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Open the ticket. Follow the evidence.">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LIVE DEMO STORY</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Open the ticket.</a:t>
            </a:r>
          </a:p>
          <a:p>
            <a:pPr algn="l">
              <a:lnSpc>
                <a:spcPts val="4284"/>
              </a:lnSpc>
              <a:spcBef>
                <a:spcPts val="0"/>
              </a:spcBef>
              <a:spcAft>
                <a:spcPts val="0"/>
              </a:spcAft>
              <a:defRPr sz="3600" b="1">
                <a:solidFill>
                  <a:srgbClr val="F5FAFF"/>
                </a:solidFill>
                <a:latin typeface="Segoe UI"/>
              </a:defRPr>
            </a:pPr>
            <a:r>
              <a:t>Follow the evidence.</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10 / 20</a:t>
            </a:r>
          </a:p>
        </p:txBody>
      </p:sp>
      <p:sp>
        <p:nvSpPr>
          <p:cNvPr id="9" name="Rounded Rectangle 8"/>
          <p:cNvSpPr/>
          <p:nvPr/>
        </p:nvSpPr>
        <p:spPr>
          <a:xfrm>
            <a:off x="609600" y="2476500"/>
            <a:ext cx="2514600" cy="3022600"/>
          </a:xfrm>
          <a:prstGeom prst="roundRect">
            <a:avLst>
              <a:gd name="adj" fmla="val 2525"/>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59D8FF"/>
                </a:solidFill>
                <a:latin typeface="Segoe UI Light"/>
              </a:defRPr>
            </a:pPr>
            <a:r>
              <a:t>01</a:t>
            </a:r>
          </a:p>
        </p:txBody>
      </p:sp>
      <p:sp>
        <p:nvSpPr>
          <p:cNvPr id="11" name="TextBox 10"/>
          <p:cNvSpPr txBox="1"/>
          <p:nvPr/>
        </p:nvSpPr>
        <p:spPr>
          <a:xfrm>
            <a:off x="8128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Set the context</a:t>
            </a:r>
          </a:p>
        </p:txBody>
      </p:sp>
      <p:sp>
        <p:nvSpPr>
          <p:cNvPr id="12" name="TextBox 11"/>
          <p:cNvSpPr txBox="1"/>
          <p:nvPr/>
        </p:nvSpPr>
        <p:spPr>
          <a:xfrm>
            <a:off x="8128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Open one client,</a:t>
            </a:r>
          </a:p>
          <a:p>
            <a:pPr algn="l">
              <a:lnSpc>
                <a:spcPts val="1904"/>
              </a:lnSpc>
              <a:spcBef>
                <a:spcPts val="0"/>
              </a:spcBef>
              <a:spcAft>
                <a:spcPts val="0"/>
              </a:spcAft>
              <a:defRPr sz="1600" b="0">
                <a:solidFill>
                  <a:srgbClr val="AFC2D8"/>
                </a:solidFill>
                <a:latin typeface="Segoe UI"/>
              </a:defRPr>
            </a:pPr>
            <a:r>
              <a:t>affected item and</a:t>
            </a:r>
          </a:p>
          <a:p>
            <a:pPr algn="l">
              <a:lnSpc>
                <a:spcPts val="1904"/>
              </a:lnSpc>
              <a:spcBef>
                <a:spcPts val="0"/>
              </a:spcBef>
              <a:spcAft>
                <a:spcPts val="0"/>
              </a:spcAft>
              <a:defRPr sz="1600" b="0">
                <a:solidFill>
                  <a:srgbClr val="AFC2D8"/>
                </a:solidFill>
                <a:latin typeface="Segoe UI"/>
              </a:defRPr>
            </a:pPr>
            <a:r>
              <a:t>ticket.</a:t>
            </a:r>
          </a:p>
        </p:txBody>
      </p:sp>
      <p:sp>
        <p:nvSpPr>
          <p:cNvPr id="13" name="Rounded Rectangle 12"/>
          <p:cNvSpPr/>
          <p:nvPr/>
        </p:nvSpPr>
        <p:spPr>
          <a:xfrm>
            <a:off x="3429000" y="2476500"/>
            <a:ext cx="2514600" cy="3022600"/>
          </a:xfrm>
          <a:prstGeom prst="roundRect">
            <a:avLst>
              <a:gd name="adj" fmla="val 2525"/>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22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59D8FF"/>
                </a:solidFill>
                <a:latin typeface="Segoe UI Light"/>
              </a:defRPr>
            </a:pPr>
            <a:r>
              <a:t>02</a:t>
            </a:r>
          </a:p>
        </p:txBody>
      </p:sp>
      <p:sp>
        <p:nvSpPr>
          <p:cNvPr id="15" name="TextBox 14"/>
          <p:cNvSpPr txBox="1"/>
          <p:nvPr/>
        </p:nvSpPr>
        <p:spPr>
          <a:xfrm>
            <a:off x="36322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Record the work</a:t>
            </a:r>
          </a:p>
        </p:txBody>
      </p:sp>
      <p:sp>
        <p:nvSpPr>
          <p:cNvPr id="16" name="TextBox 15"/>
          <p:cNvSpPr txBox="1"/>
          <p:nvPr/>
        </p:nvSpPr>
        <p:spPr>
          <a:xfrm>
            <a:off x="36322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Show the procedure,</a:t>
            </a:r>
          </a:p>
          <a:p>
            <a:pPr algn="l">
              <a:lnSpc>
                <a:spcPts val="1904"/>
              </a:lnSpc>
              <a:spcBef>
                <a:spcPts val="0"/>
              </a:spcBef>
              <a:spcAft>
                <a:spcPts val="0"/>
              </a:spcAft>
              <a:defRPr sz="1600" b="0">
                <a:solidFill>
                  <a:srgbClr val="AFC2D8"/>
                </a:solidFill>
                <a:latin typeface="Segoe UI"/>
              </a:defRPr>
            </a:pPr>
            <a:r>
              <a:t>service time and</a:t>
            </a:r>
          </a:p>
          <a:p>
            <a:pPr algn="l">
              <a:lnSpc>
                <a:spcPts val="1904"/>
              </a:lnSpc>
              <a:spcBef>
                <a:spcPts val="0"/>
              </a:spcBef>
              <a:spcAft>
                <a:spcPts val="0"/>
              </a:spcAft>
              <a:defRPr sz="1600" b="0">
                <a:solidFill>
                  <a:srgbClr val="AFC2D8"/>
                </a:solidFill>
                <a:latin typeface="Segoe UI"/>
              </a:defRPr>
            </a:pPr>
            <a:r>
              <a:t>evidence.</a:t>
            </a:r>
          </a:p>
        </p:txBody>
      </p:sp>
      <p:sp>
        <p:nvSpPr>
          <p:cNvPr id="17" name="Rounded Rectangle 16"/>
          <p:cNvSpPr/>
          <p:nvPr/>
        </p:nvSpPr>
        <p:spPr>
          <a:xfrm>
            <a:off x="6248400" y="2476500"/>
            <a:ext cx="2514600" cy="3022600"/>
          </a:xfrm>
          <a:prstGeom prst="roundRect">
            <a:avLst>
              <a:gd name="adj" fmla="val 2525"/>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6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59D8FF"/>
                </a:solidFill>
                <a:latin typeface="Segoe UI Light"/>
              </a:defRPr>
            </a:pPr>
            <a:r>
              <a:t>03</a:t>
            </a:r>
          </a:p>
        </p:txBody>
      </p:sp>
      <p:sp>
        <p:nvSpPr>
          <p:cNvPr id="19" name="TextBox 18"/>
          <p:cNvSpPr txBox="1"/>
          <p:nvPr/>
        </p:nvSpPr>
        <p:spPr>
          <a:xfrm>
            <a:off x="6451600" y="3479800"/>
            <a:ext cx="2120900" cy="685546"/>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Inspect the</a:t>
            </a:r>
          </a:p>
          <a:p>
            <a:pPr algn="l">
              <a:lnSpc>
                <a:spcPts val="2499"/>
              </a:lnSpc>
              <a:spcBef>
                <a:spcPts val="0"/>
              </a:spcBef>
              <a:spcAft>
                <a:spcPts val="0"/>
              </a:spcAft>
              <a:defRPr sz="2100" b="1">
                <a:solidFill>
                  <a:srgbClr val="F5FAFF"/>
                </a:solidFill>
                <a:latin typeface="Segoe UI"/>
              </a:defRPr>
            </a:pPr>
            <a:r>
              <a:t>closeout</a:t>
            </a:r>
          </a:p>
        </p:txBody>
      </p:sp>
      <p:sp>
        <p:nvSpPr>
          <p:cNvPr id="20" name="TextBox 19"/>
          <p:cNvSpPr txBox="1"/>
          <p:nvPr/>
        </p:nvSpPr>
        <p:spPr>
          <a:xfrm>
            <a:off x="64516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Review failed</a:t>
            </a:r>
          </a:p>
          <a:p>
            <a:pPr algn="l">
              <a:lnSpc>
                <a:spcPts val="1904"/>
              </a:lnSpc>
              <a:spcBef>
                <a:spcPts val="0"/>
              </a:spcBef>
              <a:spcAft>
                <a:spcPts val="0"/>
              </a:spcAft>
              <a:defRPr sz="1600" b="0">
                <a:solidFill>
                  <a:srgbClr val="AFC2D8"/>
                </a:solidFill>
                <a:latin typeface="Segoe UI"/>
              </a:defRPr>
            </a:pPr>
            <a:r>
              <a:t>attempts, checks and</a:t>
            </a:r>
          </a:p>
          <a:p>
            <a:pPr algn="l">
              <a:lnSpc>
                <a:spcPts val="1904"/>
              </a:lnSpc>
              <a:spcBef>
                <a:spcPts val="0"/>
              </a:spcBef>
              <a:spcAft>
                <a:spcPts val="0"/>
              </a:spcAft>
              <a:defRPr sz="1600" b="0">
                <a:solidFill>
                  <a:srgbClr val="AFC2D8"/>
                </a:solidFill>
                <a:latin typeface="Segoe UI"/>
              </a:defRPr>
            </a:pPr>
            <a:r>
              <a:t>open follow-ups.</a:t>
            </a:r>
          </a:p>
        </p:txBody>
      </p:sp>
      <p:sp>
        <p:nvSpPr>
          <p:cNvPr id="21" name="Rounded Rectangle 20"/>
          <p:cNvSpPr/>
          <p:nvPr/>
        </p:nvSpPr>
        <p:spPr>
          <a:xfrm>
            <a:off x="9067800" y="2476500"/>
            <a:ext cx="2514600" cy="3022600"/>
          </a:xfrm>
          <a:prstGeom prst="roundRect">
            <a:avLst>
              <a:gd name="adj" fmla="val 2525"/>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10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59D8FF"/>
                </a:solidFill>
                <a:latin typeface="Segoe UI Light"/>
              </a:defRPr>
            </a:pPr>
            <a:r>
              <a:t>04</a:t>
            </a:r>
          </a:p>
        </p:txBody>
      </p:sp>
      <p:sp>
        <p:nvSpPr>
          <p:cNvPr id="23" name="TextBox 22"/>
          <p:cNvSpPr txBox="1"/>
          <p:nvPr/>
        </p:nvSpPr>
        <p:spPr>
          <a:xfrm>
            <a:off x="92710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F5FAFF"/>
                </a:solidFill>
                <a:latin typeface="Segoe UI"/>
              </a:defRPr>
            </a:pPr>
            <a:r>
              <a:t>Reuse the lesson</a:t>
            </a:r>
          </a:p>
        </p:txBody>
      </p:sp>
      <p:sp>
        <p:nvSpPr>
          <p:cNvPr id="24" name="TextBox 23"/>
          <p:cNvSpPr txBox="1"/>
          <p:nvPr/>
        </p:nvSpPr>
        <p:spPr>
          <a:xfrm>
            <a:off x="92710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Find the incident and</a:t>
            </a:r>
          </a:p>
          <a:p>
            <a:pPr algn="l">
              <a:lnSpc>
                <a:spcPts val="1904"/>
              </a:lnSpc>
              <a:spcBef>
                <a:spcPts val="0"/>
              </a:spcBef>
              <a:spcAft>
                <a:spcPts val="0"/>
              </a:spcAft>
              <a:defRPr sz="1600" b="0">
                <a:solidFill>
                  <a:srgbClr val="AFC2D8"/>
                </a:solidFill>
                <a:latin typeface="Segoe UI"/>
              </a:defRPr>
            </a:pPr>
            <a:r>
              <a:t>preview linked</a:t>
            </a:r>
          </a:p>
          <a:p>
            <a:pPr algn="l">
              <a:lnSpc>
                <a:spcPts val="1904"/>
              </a:lnSpc>
              <a:spcBef>
                <a:spcPts val="0"/>
              </a:spcBef>
              <a:spcAft>
                <a:spcPts val="0"/>
              </a:spcAft>
              <a:defRPr sz="1600" b="0">
                <a:solidFill>
                  <a:srgbClr val="AFC2D8"/>
                </a:solidFill>
                <a:latin typeface="Segoe UI"/>
              </a:defRPr>
            </a:pPr>
            <a:r>
              <a:t>knowledge.</a:t>
            </a:r>
          </a:p>
        </p:txBody>
      </p:sp>
      <p:sp>
        <p:nvSpPr>
          <p:cNvPr id="25" name="TextBox 24"/>
          <p:cNvSpPr txBox="1"/>
          <p:nvPr/>
        </p:nvSpPr>
        <p:spPr>
          <a:xfrm>
            <a:off x="609600" y="5803900"/>
            <a:ext cx="1727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SUCCESS CHECK</a:t>
            </a:r>
          </a:p>
        </p:txBody>
      </p:sp>
      <p:sp>
        <p:nvSpPr>
          <p:cNvPr id="26" name="TextBox 25"/>
          <p:cNvSpPr txBox="1"/>
          <p:nvPr/>
        </p:nvSpPr>
        <p:spPr>
          <a:xfrm>
            <a:off x="2540000" y="5727700"/>
            <a:ext cx="90551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F5FAFF"/>
                </a:solidFill>
                <a:latin typeface="Segoe UI"/>
              </a:defRPr>
            </a:pPr>
            <a:r>
              <a:t>Another engineer can explain the next step and the evidence supporting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Extend the workflow where it matters.">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USEFUL COMPANIONS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Extend the workflow</a:t>
            </a:r>
          </a:p>
          <a:p>
            <a:pPr algn="l">
              <a:lnSpc>
                <a:spcPts val="4284"/>
              </a:lnSpc>
              <a:spcBef>
                <a:spcPts val="0"/>
              </a:spcBef>
              <a:spcAft>
                <a:spcPts val="0"/>
              </a:spcAft>
              <a:defRPr sz="3600" b="1">
                <a:solidFill>
                  <a:srgbClr val="F5FAFF"/>
                </a:solidFill>
                <a:latin typeface="Segoe UI"/>
              </a:defRPr>
            </a:pPr>
            <a:r>
              <a:t>where it matters.</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11 / 20</a:t>
            </a:r>
          </a:p>
        </p:txBody>
      </p:sp>
      <p:sp>
        <p:nvSpPr>
          <p:cNvPr id="9" name="Rounded Rectangle 8"/>
          <p:cNvSpPr/>
          <p:nvPr/>
        </p:nvSpPr>
        <p:spPr>
          <a:xfrm>
            <a:off x="609600" y="2413000"/>
            <a:ext cx="5334000" cy="3009900"/>
          </a:xfrm>
          <a:prstGeom prst="roundRect">
            <a:avLst>
              <a:gd name="adj" fmla="val 253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2413000"/>
            <a:ext cx="5334000" cy="508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2679700"/>
            <a:ext cx="4787900" cy="458850"/>
          </a:xfrm>
          <a:prstGeom prst="rect">
            <a:avLst/>
          </a:prstGeom>
          <a:noFill/>
        </p:spPr>
        <p:txBody>
          <a:bodyPr wrap="none" lIns="0" rIns="0" tIns="0" bIns="0" anchor="t">
            <a:spAutoFit/>
          </a:bodyPr>
          <a:lstStyle/>
          <a:p>
            <a:pPr algn="l">
              <a:lnSpc>
                <a:spcPts val="3212"/>
              </a:lnSpc>
              <a:spcBef>
                <a:spcPts val="0"/>
              </a:spcBef>
              <a:spcAft>
                <a:spcPts val="0"/>
              </a:spcAft>
              <a:defRPr sz="2700" b="1">
                <a:solidFill>
                  <a:srgbClr val="F5FAFF"/>
                </a:solidFill>
                <a:latin typeface="Segoe UI"/>
              </a:defRPr>
            </a:pPr>
            <a:r>
              <a:t>Script Ops</a:t>
            </a:r>
          </a:p>
        </p:txBody>
      </p:sp>
      <p:sp>
        <p:nvSpPr>
          <p:cNvPr id="12" name="TextBox 11"/>
          <p:cNvSpPr txBox="1"/>
          <p:nvPr/>
        </p:nvSpPr>
        <p:spPr>
          <a:xfrm>
            <a:off x="889000" y="3276600"/>
            <a:ext cx="4787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59D8FF"/>
                </a:solidFill>
                <a:latin typeface="Segoe UI"/>
              </a:defRPr>
            </a:pPr>
            <a:r>
              <a:t>Review before reuse.</a:t>
            </a:r>
          </a:p>
        </p:txBody>
      </p:sp>
      <p:sp>
        <p:nvSpPr>
          <p:cNvPr id="13" name="TextBox 12"/>
          <p:cNvSpPr txBox="1"/>
          <p:nvPr/>
        </p:nvSpPr>
        <p:spPr>
          <a:xfrm>
            <a:off x="889000" y="3835400"/>
            <a:ext cx="4737100" cy="866901"/>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AFC2D8"/>
                </a:solidFill>
                <a:latin typeface="Segoe UI"/>
              </a:defRPr>
            </a:pPr>
            <a:r>
              <a:t>Version, check and approve scripts; download</a:t>
            </a:r>
          </a:p>
          <a:p>
            <a:pPr algn="l">
              <a:lnSpc>
                <a:spcPts val="2142"/>
              </a:lnSpc>
              <a:spcBef>
                <a:spcPts val="0"/>
              </a:spcBef>
              <a:spcAft>
                <a:spcPts val="0"/>
              </a:spcAft>
              <a:defRPr sz="1800" b="0">
                <a:solidFill>
                  <a:srgbClr val="AFC2D8"/>
                </a:solidFill>
                <a:latin typeface="Segoe UI"/>
              </a:defRPr>
            </a:pPr>
            <a:r>
              <a:t>approved work or create a TechDeck draft</a:t>
            </a:r>
          </a:p>
          <a:p>
            <a:pPr algn="l">
              <a:lnSpc>
                <a:spcPts val="2142"/>
              </a:lnSpc>
              <a:spcBef>
                <a:spcPts val="0"/>
              </a:spcBef>
              <a:spcAft>
                <a:spcPts val="0"/>
              </a:spcAft>
              <a:defRPr sz="1800" b="0">
                <a:solidFill>
                  <a:srgbClr val="AFC2D8"/>
                </a:solidFill>
                <a:latin typeface="Segoe UI"/>
              </a:defRPr>
            </a:pPr>
            <a:r>
              <a:t>procedure.</a:t>
            </a:r>
          </a:p>
        </p:txBody>
      </p:sp>
      <p:sp>
        <p:nvSpPr>
          <p:cNvPr id="14" name="TextBox 13"/>
          <p:cNvSpPr txBox="1"/>
          <p:nvPr/>
        </p:nvSpPr>
        <p:spPr>
          <a:xfrm>
            <a:off x="889000" y="5067300"/>
            <a:ext cx="4787900" cy="239712"/>
          </a:xfrm>
          <a:prstGeom prst="rect">
            <a:avLst/>
          </a:prstGeom>
          <a:noFill/>
        </p:spPr>
        <p:txBody>
          <a:bodyPr wrap="none" lIns="0" rIns="0" tIns="0" bIns="0" anchor="t">
            <a:spAutoFit/>
          </a:bodyPr>
          <a:lstStyle/>
          <a:p>
            <a:pPr algn="l">
              <a:lnSpc>
                <a:spcPts val="1487"/>
              </a:lnSpc>
              <a:spcBef>
                <a:spcPts val="0"/>
              </a:spcBef>
              <a:spcAft>
                <a:spcPts val="0"/>
              </a:spcAft>
              <a:defRPr sz="1250" b="1">
                <a:solidFill>
                  <a:srgbClr val="F5FAFF"/>
                </a:solidFill>
                <a:latin typeface="Segoe UI"/>
              </a:defRPr>
            </a:pPr>
            <a:r>
              <a:t>Choose it for script governance.</a:t>
            </a:r>
          </a:p>
        </p:txBody>
      </p:sp>
      <p:sp>
        <p:nvSpPr>
          <p:cNvPr id="15" name="Rounded Rectangle 14"/>
          <p:cNvSpPr/>
          <p:nvPr/>
        </p:nvSpPr>
        <p:spPr>
          <a:xfrm>
            <a:off x="6248400" y="2413000"/>
            <a:ext cx="5334000" cy="3009900"/>
          </a:xfrm>
          <a:prstGeom prst="roundRect">
            <a:avLst>
              <a:gd name="adj" fmla="val 2531"/>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8400" y="2413000"/>
            <a:ext cx="5334000" cy="50800"/>
          </a:xfrm>
          <a:prstGeom prst="rect">
            <a:avLst/>
          </a:prstGeom>
          <a:solidFill>
            <a:srgbClr val="FFA4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7800" y="2679700"/>
            <a:ext cx="4787900" cy="458850"/>
          </a:xfrm>
          <a:prstGeom prst="rect">
            <a:avLst/>
          </a:prstGeom>
          <a:noFill/>
        </p:spPr>
        <p:txBody>
          <a:bodyPr wrap="none" lIns="0" rIns="0" tIns="0" bIns="0" anchor="t">
            <a:spAutoFit/>
          </a:bodyPr>
          <a:lstStyle/>
          <a:p>
            <a:pPr algn="l">
              <a:lnSpc>
                <a:spcPts val="3212"/>
              </a:lnSpc>
              <a:spcBef>
                <a:spcPts val="0"/>
              </a:spcBef>
              <a:spcAft>
                <a:spcPts val="0"/>
              </a:spcAft>
              <a:defRPr sz="2700" b="1">
                <a:solidFill>
                  <a:srgbClr val="F5FAFF"/>
                </a:solidFill>
                <a:latin typeface="Segoe UI"/>
              </a:defRPr>
            </a:pPr>
            <a:r>
              <a:t>FaultlineLab</a:t>
            </a:r>
          </a:p>
        </p:txBody>
      </p:sp>
      <p:sp>
        <p:nvSpPr>
          <p:cNvPr id="18" name="TextBox 17"/>
          <p:cNvSpPr txBox="1"/>
          <p:nvPr/>
        </p:nvSpPr>
        <p:spPr>
          <a:xfrm>
            <a:off x="6527800" y="3276600"/>
            <a:ext cx="4787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59D8FF"/>
                </a:solidFill>
                <a:latin typeface="Segoe UI"/>
              </a:defRPr>
            </a:pPr>
            <a:r>
              <a:t>Turn experience into practice.</a:t>
            </a:r>
          </a:p>
        </p:txBody>
      </p:sp>
      <p:sp>
        <p:nvSpPr>
          <p:cNvPr id="19" name="TextBox 18"/>
          <p:cNvSpPr txBox="1"/>
          <p:nvPr/>
        </p:nvSpPr>
        <p:spPr>
          <a:xfrm>
            <a:off x="6527800" y="3835400"/>
            <a:ext cx="4737100" cy="594868"/>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AFC2D8"/>
                </a:solidFill>
                <a:latin typeface="Segoe UI"/>
              </a:defRPr>
            </a:pPr>
            <a:r>
              <a:t>Use reviewed, de-identified training drafts and</a:t>
            </a:r>
          </a:p>
          <a:p>
            <a:pPr algn="l">
              <a:lnSpc>
                <a:spcPts val="2142"/>
              </a:lnSpc>
              <a:spcBef>
                <a:spcPts val="0"/>
              </a:spcBef>
              <a:spcAft>
                <a:spcPts val="0"/>
              </a:spcAft>
              <a:defRPr sz="1800" b="0">
                <a:solidFill>
                  <a:srgbClr val="AFC2D8"/>
                </a:solidFill>
                <a:latin typeface="Segoe UI"/>
              </a:defRPr>
            </a:pPr>
            <a:r>
              <a:t>diagnostic challenges for coaching.</a:t>
            </a:r>
          </a:p>
        </p:txBody>
      </p:sp>
      <p:sp>
        <p:nvSpPr>
          <p:cNvPr id="20" name="TextBox 19"/>
          <p:cNvSpPr txBox="1"/>
          <p:nvPr/>
        </p:nvSpPr>
        <p:spPr>
          <a:xfrm>
            <a:off x="6527800" y="5067300"/>
            <a:ext cx="4787900" cy="239712"/>
          </a:xfrm>
          <a:prstGeom prst="rect">
            <a:avLst/>
          </a:prstGeom>
          <a:noFill/>
        </p:spPr>
        <p:txBody>
          <a:bodyPr wrap="none" lIns="0" rIns="0" tIns="0" bIns="0" anchor="t">
            <a:spAutoFit/>
          </a:bodyPr>
          <a:lstStyle/>
          <a:p>
            <a:pPr algn="l">
              <a:lnSpc>
                <a:spcPts val="1487"/>
              </a:lnSpc>
              <a:spcBef>
                <a:spcPts val="0"/>
              </a:spcBef>
              <a:spcAft>
                <a:spcPts val="0"/>
              </a:spcAft>
              <a:defRPr sz="1250" b="1">
                <a:solidFill>
                  <a:srgbClr val="F5FAFF"/>
                </a:solidFill>
                <a:latin typeface="Segoe UI"/>
              </a:defRPr>
            </a:pPr>
            <a:r>
              <a:t>Free with an OperatorOS account.</a:t>
            </a:r>
          </a:p>
        </p:txBody>
      </p:sp>
      <p:sp>
        <p:nvSpPr>
          <p:cNvPr id="21" name="TextBox 20"/>
          <p:cNvSpPr txBox="1"/>
          <p:nvPr/>
        </p:nvSpPr>
        <p:spPr>
          <a:xfrm>
            <a:off x="609600" y="5664200"/>
            <a:ext cx="10985500" cy="232156"/>
          </a:xfrm>
          <a:prstGeom prst="rect">
            <a:avLst/>
          </a:prstGeom>
          <a:noFill/>
        </p:spPr>
        <p:txBody>
          <a:bodyPr wrap="none" lIns="0" rIns="0" tIns="0" bIns="0" anchor="t">
            <a:spAutoFit/>
          </a:bodyPr>
          <a:lstStyle/>
          <a:p>
            <a:pPr algn="l">
              <a:lnSpc>
                <a:spcPts val="1428"/>
              </a:lnSpc>
              <a:spcBef>
                <a:spcPts val="0"/>
              </a:spcBef>
              <a:spcAft>
                <a:spcPts val="0"/>
              </a:spcAft>
              <a:defRPr sz="1200" b="0">
                <a:solidFill>
                  <a:srgbClr val="AFC2D8"/>
                </a:solidFill>
                <a:latin typeface="Segoe UI"/>
              </a:defRPr>
            </a:pPr>
            <a:r>
              <a:t>Script Ops is an eligible companion; it does not execute scripts. FaultlineLab is free. Review operational material before using it for 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it the workflow to your real environment.">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WORK WITH THE TOOLS YOU RELY 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Fit the workflow</a:t>
            </a:r>
          </a:p>
          <a:p>
            <a:pPr algn="l">
              <a:lnSpc>
                <a:spcPts val="4284"/>
              </a:lnSpc>
              <a:spcBef>
                <a:spcPts val="0"/>
              </a:spcBef>
              <a:spcAft>
                <a:spcPts val="0"/>
              </a:spcAft>
              <a:defRPr sz="3600" b="1">
                <a:solidFill>
                  <a:srgbClr val="F5FAFF"/>
                </a:solidFill>
                <a:latin typeface="Segoe UI"/>
              </a:defRPr>
            </a:pPr>
            <a:r>
              <a:t>to your real environment.</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12 / 20</a:t>
            </a:r>
          </a:p>
        </p:txBody>
      </p:sp>
      <p:sp>
        <p:nvSpPr>
          <p:cNvPr id="9" name="TextBox 8"/>
          <p:cNvSpPr txBox="1"/>
          <p:nvPr/>
        </p:nvSpPr>
        <p:spPr>
          <a:xfrm>
            <a:off x="6096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TECHDECK OWNS</a:t>
            </a:r>
          </a:p>
        </p:txBody>
      </p:sp>
      <p:cxnSp>
        <p:nvCxnSpPr>
          <p:cNvPr id="10" name="Connector 9"/>
          <p:cNvCxnSpPr/>
          <p:nvPr/>
        </p:nvCxnSpPr>
        <p:spPr>
          <a:xfrm>
            <a:off x="609600" y="2908300"/>
            <a:ext cx="3454400" cy="0"/>
          </a:xfrm>
          <a:prstGeom prst="line">
            <a:avLst/>
          </a:prstGeom>
          <a:ln w="25400">
            <a:solidFill>
              <a:srgbClr val="59D8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F5FAFF"/>
                </a:solidFill>
                <a:latin typeface="Segoe UI"/>
              </a:defRPr>
            </a:pPr>
            <a:r>
              <a:t>Service context +</a:t>
            </a:r>
          </a:p>
          <a:p>
            <a:pPr algn="l">
              <a:lnSpc>
                <a:spcPts val="3094"/>
              </a:lnSpc>
              <a:spcBef>
                <a:spcPts val="0"/>
              </a:spcBef>
              <a:spcAft>
                <a:spcPts val="0"/>
              </a:spcAft>
              <a:defRPr sz="2600" b="1">
                <a:solidFill>
                  <a:srgbClr val="F5FAFF"/>
                </a:solidFill>
                <a:latin typeface="Segoe UI"/>
              </a:defRPr>
            </a:pPr>
            <a:r>
              <a:t>evidence</a:t>
            </a:r>
          </a:p>
        </p:txBody>
      </p:sp>
      <p:sp>
        <p:nvSpPr>
          <p:cNvPr id="12" name="TextBox 11"/>
          <p:cNvSpPr txBox="1"/>
          <p:nvPr/>
        </p:nvSpPr>
        <p:spPr>
          <a:xfrm>
            <a:off x="609600" y="4445000"/>
            <a:ext cx="3441700" cy="95757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AFC2D8"/>
                </a:solidFill>
                <a:latin typeface="Segoe UI"/>
              </a:defRPr>
            </a:pPr>
            <a:r>
              <a:t>Tickets, recorded</a:t>
            </a:r>
          </a:p>
          <a:p>
            <a:pPr algn="l">
              <a:lnSpc>
                <a:spcPts val="2379"/>
              </a:lnSpc>
              <a:spcBef>
                <a:spcPts val="0"/>
              </a:spcBef>
              <a:spcAft>
                <a:spcPts val="0"/>
              </a:spcAft>
              <a:defRPr sz="2000" b="0">
                <a:solidFill>
                  <a:srgbClr val="AFC2D8"/>
                </a:solidFill>
                <a:latin typeface="Segoe UI"/>
              </a:defRPr>
            </a:pPr>
            <a:r>
              <a:t>configuration, procedures,</a:t>
            </a:r>
          </a:p>
          <a:p>
            <a:pPr algn="l">
              <a:lnSpc>
                <a:spcPts val="2379"/>
              </a:lnSpc>
              <a:spcBef>
                <a:spcPts val="0"/>
              </a:spcBef>
              <a:spcAft>
                <a:spcPts val="0"/>
              </a:spcAft>
              <a:defRPr sz="2000" b="0">
                <a:solidFill>
                  <a:srgbClr val="AFC2D8"/>
                </a:solidFill>
                <a:latin typeface="Segoe UI"/>
              </a:defRPr>
            </a:pPr>
            <a:r>
              <a:t>time, history and reporting.</a:t>
            </a:r>
          </a:p>
        </p:txBody>
      </p:sp>
      <p:sp>
        <p:nvSpPr>
          <p:cNvPr id="13" name="TextBox 12"/>
          <p:cNvSpPr txBox="1"/>
          <p:nvPr/>
        </p:nvSpPr>
        <p:spPr>
          <a:xfrm>
            <a:off x="43688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EXISTING TOOLS HANDLE</a:t>
            </a:r>
          </a:p>
        </p:txBody>
      </p:sp>
      <p:cxnSp>
        <p:nvCxnSpPr>
          <p:cNvPr id="14" name="Connector 13"/>
          <p:cNvCxnSpPr/>
          <p:nvPr/>
        </p:nvCxnSpPr>
        <p:spPr>
          <a:xfrm>
            <a:off x="4368800" y="2908300"/>
            <a:ext cx="3454400" cy="0"/>
          </a:xfrm>
          <a:prstGeom prst="line">
            <a:avLst/>
          </a:prstGeom>
          <a:ln w="25400">
            <a:solidFill>
              <a:srgbClr val="59D8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68800" y="3238500"/>
            <a:ext cx="3441700" cy="443738"/>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F5FAFF"/>
                </a:solidFill>
                <a:latin typeface="Segoe UI"/>
              </a:defRPr>
            </a:pPr>
            <a:r>
              <a:t>Endpoint execution</a:t>
            </a:r>
          </a:p>
        </p:txBody>
      </p:sp>
      <p:sp>
        <p:nvSpPr>
          <p:cNvPr id="16" name="TextBox 15"/>
          <p:cNvSpPr txBox="1"/>
          <p:nvPr/>
        </p:nvSpPr>
        <p:spPr>
          <a:xfrm>
            <a:off x="4368800" y="4445000"/>
            <a:ext cx="3441700" cy="125983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AFC2D8"/>
                </a:solidFill>
                <a:latin typeface="Segoe UI"/>
              </a:defRPr>
            </a:pPr>
            <a:r>
              <a:t>Keep authorized RMM,</a:t>
            </a:r>
          </a:p>
          <a:p>
            <a:pPr algn="l">
              <a:lnSpc>
                <a:spcPts val="2379"/>
              </a:lnSpc>
              <a:spcBef>
                <a:spcPts val="0"/>
              </a:spcBef>
              <a:spcAft>
                <a:spcPts val="0"/>
              </a:spcAft>
              <a:defRPr sz="2000" b="0">
                <a:solidFill>
                  <a:srgbClr val="AFC2D8"/>
                </a:solidFill>
                <a:latin typeface="Segoe UI"/>
              </a:defRPr>
            </a:pPr>
            <a:r>
              <a:t>monitoring and</a:t>
            </a:r>
          </a:p>
          <a:p>
            <a:pPr algn="l">
              <a:lnSpc>
                <a:spcPts val="2379"/>
              </a:lnSpc>
              <a:spcBef>
                <a:spcPts val="0"/>
              </a:spcBef>
              <a:spcAft>
                <a:spcPts val="0"/>
              </a:spcAft>
              <a:defRPr sz="2000" b="0">
                <a:solidFill>
                  <a:srgbClr val="AFC2D8"/>
                </a:solidFill>
                <a:latin typeface="Segoe UI"/>
              </a:defRPr>
            </a:pPr>
            <a:r>
              <a:t>remote-access tools in their</a:t>
            </a:r>
          </a:p>
          <a:p>
            <a:pPr algn="l">
              <a:lnSpc>
                <a:spcPts val="2379"/>
              </a:lnSpc>
              <a:spcBef>
                <a:spcPts val="0"/>
              </a:spcBef>
              <a:spcAft>
                <a:spcPts val="0"/>
              </a:spcAft>
              <a:defRPr sz="2000" b="0">
                <a:solidFill>
                  <a:srgbClr val="AFC2D8"/>
                </a:solidFill>
                <a:latin typeface="Segoe UI"/>
              </a:defRPr>
            </a:pPr>
            <a:r>
              <a:t>existing roles.</a:t>
            </a:r>
          </a:p>
        </p:txBody>
      </p:sp>
      <p:sp>
        <p:nvSpPr>
          <p:cNvPr id="17" name="TextBox 16"/>
          <p:cNvSpPr txBox="1"/>
          <p:nvPr/>
        </p:nvSpPr>
        <p:spPr>
          <a:xfrm>
            <a:off x="81280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CONNECT DELIBERATELY</a:t>
            </a:r>
          </a:p>
        </p:txBody>
      </p:sp>
      <p:cxnSp>
        <p:nvCxnSpPr>
          <p:cNvPr id="18" name="Connector 17"/>
          <p:cNvCxnSpPr/>
          <p:nvPr/>
        </p:nvCxnSpPr>
        <p:spPr>
          <a:xfrm>
            <a:off x="8128000" y="2908300"/>
            <a:ext cx="3454400" cy="0"/>
          </a:xfrm>
          <a:prstGeom prst="line">
            <a:avLst/>
          </a:prstGeom>
          <a:ln w="25400">
            <a:solidFill>
              <a:srgbClr val="59D8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F5FAFF"/>
                </a:solidFill>
                <a:latin typeface="Segoe UI"/>
              </a:defRPr>
            </a:pPr>
            <a:r>
              <a:t>Supported</a:t>
            </a:r>
          </a:p>
          <a:p>
            <a:pPr algn="l">
              <a:lnSpc>
                <a:spcPts val="3094"/>
              </a:lnSpc>
              <a:spcBef>
                <a:spcPts val="0"/>
              </a:spcBef>
              <a:spcAft>
                <a:spcPts val="0"/>
              </a:spcAft>
              <a:defRPr sz="2600" b="1">
                <a:solidFill>
                  <a:srgbClr val="F5FAFF"/>
                </a:solidFill>
                <a:latin typeface="Segoe UI"/>
              </a:defRPr>
            </a:pPr>
            <a:r>
              <a:t>boundaries</a:t>
            </a:r>
          </a:p>
        </p:txBody>
      </p:sp>
      <p:sp>
        <p:nvSpPr>
          <p:cNvPr id="20" name="TextBox 19"/>
          <p:cNvSpPr txBox="1"/>
          <p:nvPr/>
        </p:nvSpPr>
        <p:spPr>
          <a:xfrm>
            <a:off x="8128000" y="4445000"/>
            <a:ext cx="3441700" cy="125983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AFC2D8"/>
                </a:solidFill>
                <a:latin typeface="Segoe UI"/>
              </a:defRPr>
            </a:pPr>
            <a:r>
              <a:t>Use scoped API tokens and</a:t>
            </a:r>
          </a:p>
          <a:p>
            <a:pPr algn="l">
              <a:lnSpc>
                <a:spcPts val="2379"/>
              </a:lnSpc>
              <a:spcBef>
                <a:spcPts val="0"/>
              </a:spcBef>
              <a:spcAft>
                <a:spcPts val="0"/>
              </a:spcAft>
              <a:defRPr sz="2000" b="0">
                <a:solidFill>
                  <a:srgbClr val="AFC2D8"/>
                </a:solidFill>
                <a:latin typeface="Segoe UI"/>
              </a:defRPr>
            </a:pPr>
            <a:r>
              <a:t>signed outbound webhooks.</a:t>
            </a:r>
          </a:p>
          <a:p>
            <a:pPr algn="l">
              <a:lnSpc>
                <a:spcPts val="2379"/>
              </a:lnSpc>
              <a:spcBef>
                <a:spcPts val="0"/>
              </a:spcBef>
              <a:spcAft>
                <a:spcPts val="0"/>
              </a:spcAft>
              <a:defRPr sz="2000" b="0">
                <a:solidFill>
                  <a:srgbClr val="AFC2D8"/>
                </a:solidFill>
                <a:latin typeface="Segoe UI"/>
              </a:defRPr>
            </a:pPr>
            <a:r>
              <a:t>Verify each intended</a:t>
            </a:r>
          </a:p>
          <a:p>
            <a:pPr algn="l">
              <a:lnSpc>
                <a:spcPts val="2379"/>
              </a:lnSpc>
              <a:spcBef>
                <a:spcPts val="0"/>
              </a:spcBef>
              <a:spcAft>
                <a:spcPts val="0"/>
              </a:spcAft>
              <a:defRPr sz="2000" b="0">
                <a:solidFill>
                  <a:srgbClr val="AFC2D8"/>
                </a:solidFill>
                <a:latin typeface="Segoe UI"/>
              </a:defRPr>
            </a:pPr>
            <a:r>
              <a:t>workflow.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Build the record before you need to defend it.">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CONFIDENCE IN THE RECORD</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Build the record before</a:t>
            </a:r>
          </a:p>
          <a:p>
            <a:pPr algn="l">
              <a:lnSpc>
                <a:spcPts val="4284"/>
              </a:lnSpc>
              <a:spcBef>
                <a:spcPts val="0"/>
              </a:spcBef>
              <a:spcAft>
                <a:spcPts val="0"/>
              </a:spcAft>
              <a:defRPr sz="3600" b="1">
                <a:solidFill>
                  <a:srgbClr val="F5FAFF"/>
                </a:solidFill>
                <a:latin typeface="Segoe UI"/>
              </a:defRPr>
            </a:pPr>
            <a:r>
              <a:t>you need to defend it.</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13 / 20</a:t>
            </a:r>
          </a:p>
        </p:txBody>
      </p:sp>
      <p:cxnSp>
        <p:nvCxnSpPr>
          <p:cNvPr id="9" name="Connector 8"/>
          <p:cNvCxnSpPr/>
          <p:nvPr/>
        </p:nvCxnSpPr>
        <p:spPr>
          <a:xfrm>
            <a:off x="609600" y="2425700"/>
            <a:ext cx="53086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26035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5FAFF"/>
                </a:solidFill>
                <a:latin typeface="Segoe UI"/>
              </a:defRPr>
            </a:pPr>
            <a:r>
              <a:t>Authorization</a:t>
            </a:r>
          </a:p>
        </p:txBody>
      </p:sp>
      <p:sp>
        <p:nvSpPr>
          <p:cNvPr id="11" name="TextBox 10"/>
          <p:cNvSpPr txBox="1"/>
          <p:nvPr/>
        </p:nvSpPr>
        <p:spPr>
          <a:xfrm>
            <a:off x="609600" y="30607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Record the request and the approval reference</a:t>
            </a:r>
          </a:p>
          <a:p>
            <a:pPr algn="l">
              <a:lnSpc>
                <a:spcPts val="2023"/>
              </a:lnSpc>
              <a:spcBef>
                <a:spcPts val="0"/>
              </a:spcBef>
              <a:spcAft>
                <a:spcPts val="0"/>
              </a:spcAft>
              <a:defRPr sz="1700" b="0">
                <a:solidFill>
                  <a:srgbClr val="AFC2D8"/>
                </a:solidFill>
                <a:latin typeface="Segoe UI"/>
              </a:defRPr>
            </a:pPr>
            <a:r>
              <a:t>before the change.</a:t>
            </a:r>
          </a:p>
        </p:txBody>
      </p:sp>
      <p:cxnSp>
        <p:nvCxnSpPr>
          <p:cNvPr id="12" name="Connector 11"/>
          <p:cNvCxnSpPr/>
          <p:nvPr/>
        </p:nvCxnSpPr>
        <p:spPr>
          <a:xfrm>
            <a:off x="6248400" y="2425700"/>
            <a:ext cx="53086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26035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5FAFF"/>
                </a:solidFill>
                <a:latin typeface="Segoe UI"/>
              </a:defRPr>
            </a:pPr>
            <a:r>
              <a:t>Execution evidence</a:t>
            </a:r>
          </a:p>
        </p:txBody>
      </p:sp>
      <p:sp>
        <p:nvSpPr>
          <p:cNvPr id="14" name="TextBox 13"/>
          <p:cNvSpPr txBox="1"/>
          <p:nvPr/>
        </p:nvSpPr>
        <p:spPr>
          <a:xfrm>
            <a:off x="6248400" y="3060700"/>
            <a:ext cx="51435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Keep the external tool result, technician and timing.</a:t>
            </a:r>
          </a:p>
        </p:txBody>
      </p:sp>
      <p:cxnSp>
        <p:nvCxnSpPr>
          <p:cNvPr id="15" name="Connector 14"/>
          <p:cNvCxnSpPr/>
          <p:nvPr/>
        </p:nvCxnSpPr>
        <p:spPr>
          <a:xfrm>
            <a:off x="609600" y="3873500"/>
            <a:ext cx="53086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40513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5FAFF"/>
                </a:solidFill>
                <a:latin typeface="Segoe UI"/>
              </a:defRPr>
            </a:pPr>
            <a:r>
              <a:t>Validation</a:t>
            </a:r>
          </a:p>
        </p:txBody>
      </p:sp>
      <p:sp>
        <p:nvSpPr>
          <p:cNvPr id="17" name="TextBox 16"/>
          <p:cNvSpPr txBox="1"/>
          <p:nvPr/>
        </p:nvSpPr>
        <p:spPr>
          <a:xfrm>
            <a:off x="609600" y="45085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State what was tested, the outcome and what</a:t>
            </a:r>
          </a:p>
          <a:p>
            <a:pPr algn="l">
              <a:lnSpc>
                <a:spcPts val="2023"/>
              </a:lnSpc>
              <a:spcBef>
                <a:spcPts val="0"/>
              </a:spcBef>
              <a:spcAft>
                <a:spcPts val="0"/>
              </a:spcAft>
              <a:defRPr sz="1700" b="0">
                <a:solidFill>
                  <a:srgbClr val="AFC2D8"/>
                </a:solidFill>
                <a:latin typeface="Segoe UI"/>
              </a:defRPr>
            </a:pPr>
            <a:r>
              <a:t>remains unknown.</a:t>
            </a:r>
          </a:p>
        </p:txBody>
      </p:sp>
      <p:cxnSp>
        <p:nvCxnSpPr>
          <p:cNvPr id="18" name="Connector 17"/>
          <p:cNvCxnSpPr/>
          <p:nvPr/>
        </p:nvCxnSpPr>
        <p:spPr>
          <a:xfrm>
            <a:off x="6248400" y="3873500"/>
            <a:ext cx="53086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48400" y="40513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F5FAFF"/>
                </a:solidFill>
                <a:latin typeface="Segoe UI"/>
              </a:defRPr>
            </a:pPr>
            <a:r>
              <a:t>Handoff</a:t>
            </a:r>
          </a:p>
        </p:txBody>
      </p:sp>
      <p:sp>
        <p:nvSpPr>
          <p:cNvPr id="20" name="TextBox 19"/>
          <p:cNvSpPr txBox="1"/>
          <p:nvPr/>
        </p:nvSpPr>
        <p:spPr>
          <a:xfrm>
            <a:off x="6248400" y="4508500"/>
            <a:ext cx="51435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Name the unresolved action, owner and next check.</a:t>
            </a:r>
          </a:p>
        </p:txBody>
      </p:sp>
      <p:sp>
        <p:nvSpPr>
          <p:cNvPr id="21" name="TextBox 20"/>
          <p:cNvSpPr txBox="1"/>
          <p:nvPr/>
        </p:nvSpPr>
        <p:spPr>
          <a:xfrm>
            <a:off x="609600" y="5765800"/>
            <a:ext cx="10985500" cy="239712"/>
          </a:xfrm>
          <a:prstGeom prst="rect">
            <a:avLst/>
          </a:prstGeom>
          <a:noFill/>
        </p:spPr>
        <p:txBody>
          <a:bodyPr wrap="none" lIns="0" rIns="0" tIns="0" bIns="0" anchor="t">
            <a:spAutoFit/>
          </a:bodyPr>
          <a:lstStyle/>
          <a:p>
            <a:pPr algn="l">
              <a:lnSpc>
                <a:spcPts val="1487"/>
              </a:lnSpc>
              <a:spcBef>
                <a:spcPts val="0"/>
              </a:spcBef>
              <a:spcAft>
                <a:spcPts val="0"/>
              </a:spcAft>
              <a:defRPr sz="1250" b="0">
                <a:solidFill>
                  <a:srgbClr val="AFC2D8"/>
                </a:solidFill>
                <a:latin typeface="Segoe UI"/>
              </a:defRPr>
            </a:pPr>
            <a:r>
              <a:t>Recommended operating discipline using TechDeck records. It supports accountability; it cannot guarantee legal protection or prove an unrecorded action.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Measure the change in your own operation.">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A BUSINESS CASE YOU CAN TEST</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Measure the change</a:t>
            </a:r>
          </a:p>
          <a:p>
            <a:pPr algn="l">
              <a:lnSpc>
                <a:spcPts val="4284"/>
              </a:lnSpc>
              <a:spcBef>
                <a:spcPts val="0"/>
              </a:spcBef>
              <a:spcAft>
                <a:spcPts val="0"/>
              </a:spcAft>
              <a:defRPr sz="3600" b="1">
                <a:solidFill>
                  <a:srgbClr val="F5FAFF"/>
                </a:solidFill>
                <a:latin typeface="Segoe UI"/>
              </a:defRPr>
            </a:pPr>
            <a:r>
              <a:t>in your own operation.</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14 / 20</a:t>
            </a:r>
          </a:p>
        </p:txBody>
      </p:sp>
      <p:sp>
        <p:nvSpPr>
          <p:cNvPr id="9" name="Rounded Rectangle 8"/>
          <p:cNvSpPr/>
          <p:nvPr/>
        </p:nvSpPr>
        <p:spPr>
          <a:xfrm>
            <a:off x="609600" y="2413000"/>
            <a:ext cx="5334000" cy="1092200"/>
          </a:xfrm>
          <a:prstGeom prst="roundRect">
            <a:avLst>
              <a:gd name="adj" fmla="val 5813"/>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Handoff quality</a:t>
            </a:r>
          </a:p>
        </p:txBody>
      </p:sp>
      <p:sp>
        <p:nvSpPr>
          <p:cNvPr id="11" name="TextBox 10"/>
          <p:cNvSpPr txBox="1"/>
          <p:nvPr/>
        </p:nvSpPr>
        <p:spPr>
          <a:xfrm>
            <a:off x="838200" y="30353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AFC2D8"/>
                </a:solidFill>
                <a:latin typeface="Segoe UI"/>
              </a:defRPr>
            </a:pPr>
            <a:r>
              <a:t>Records with an owner + next action</a:t>
            </a:r>
          </a:p>
        </p:txBody>
      </p:sp>
      <p:sp>
        <p:nvSpPr>
          <p:cNvPr id="12" name="Rounded Rectangle 11"/>
          <p:cNvSpPr/>
          <p:nvPr/>
        </p:nvSpPr>
        <p:spPr>
          <a:xfrm>
            <a:off x="6248400" y="2413000"/>
            <a:ext cx="5334000" cy="1092200"/>
          </a:xfrm>
          <a:prstGeom prst="roundRect">
            <a:avLst>
              <a:gd name="adj" fmla="val 5813"/>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0" y="26035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Reconstruction effort</a:t>
            </a:r>
          </a:p>
        </p:txBody>
      </p:sp>
      <p:sp>
        <p:nvSpPr>
          <p:cNvPr id="14" name="TextBox 13"/>
          <p:cNvSpPr txBox="1"/>
          <p:nvPr/>
        </p:nvSpPr>
        <p:spPr>
          <a:xfrm>
            <a:off x="6477000" y="30353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AFC2D8"/>
                </a:solidFill>
                <a:latin typeface="Segoe UI"/>
              </a:defRPr>
            </a:pPr>
            <a:r>
              <a:t>Minutes to explain a sampled incident</a:t>
            </a:r>
          </a:p>
        </p:txBody>
      </p:sp>
      <p:sp>
        <p:nvSpPr>
          <p:cNvPr id="15" name="Rounded Rectangle 14"/>
          <p:cNvSpPr/>
          <p:nvPr/>
        </p:nvSpPr>
        <p:spPr>
          <a:xfrm>
            <a:off x="609600" y="3695700"/>
            <a:ext cx="5334000" cy="1092200"/>
          </a:xfrm>
          <a:prstGeom prst="roundRect">
            <a:avLst>
              <a:gd name="adj" fmla="val 5813"/>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38862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Verification quality</a:t>
            </a:r>
          </a:p>
        </p:txBody>
      </p:sp>
      <p:sp>
        <p:nvSpPr>
          <p:cNvPr id="17" name="TextBox 16"/>
          <p:cNvSpPr txBox="1"/>
          <p:nvPr/>
        </p:nvSpPr>
        <p:spPr>
          <a:xfrm>
            <a:off x="838200" y="43180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AFC2D8"/>
                </a:solidFill>
                <a:latin typeface="Segoe UI"/>
              </a:defRPr>
            </a:pPr>
            <a:r>
              <a:t>Closeouts with specific checks + outcomes</a:t>
            </a:r>
          </a:p>
        </p:txBody>
      </p:sp>
      <p:sp>
        <p:nvSpPr>
          <p:cNvPr id="18" name="Rounded Rectangle 17"/>
          <p:cNvSpPr/>
          <p:nvPr/>
        </p:nvSpPr>
        <p:spPr>
          <a:xfrm>
            <a:off x="6248400" y="3695700"/>
            <a:ext cx="5334000" cy="1092200"/>
          </a:xfrm>
          <a:prstGeom prst="roundRect">
            <a:avLst>
              <a:gd name="adj" fmla="val 5813"/>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0" y="38862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Knowledge reuse</a:t>
            </a:r>
          </a:p>
        </p:txBody>
      </p:sp>
      <p:sp>
        <p:nvSpPr>
          <p:cNvPr id="20" name="TextBox 19"/>
          <p:cNvSpPr txBox="1"/>
          <p:nvPr/>
        </p:nvSpPr>
        <p:spPr>
          <a:xfrm>
            <a:off x="6477000" y="43180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AFC2D8"/>
                </a:solidFill>
                <a:latin typeface="Segoe UI"/>
              </a:defRPr>
            </a:pPr>
            <a:r>
              <a:t>Repeat issues linked to reviewed guidance</a:t>
            </a:r>
          </a:p>
        </p:txBody>
      </p:sp>
      <p:sp>
        <p:nvSpPr>
          <p:cNvPr id="21" name="TextBox 20"/>
          <p:cNvSpPr txBox="1"/>
          <p:nvPr/>
        </p:nvSpPr>
        <p:spPr>
          <a:xfrm>
            <a:off x="609600" y="5194300"/>
            <a:ext cx="10985500" cy="806450"/>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59D8FF"/>
                </a:solidFill>
                <a:latin typeface="Segoe UI"/>
              </a:defRPr>
            </a:pPr>
            <a:r>
              <a:t>How long would it take a different engineer to explain yesterday’s</a:t>
            </a:r>
          </a:p>
          <a:p>
            <a:pPr algn="l">
              <a:lnSpc>
                <a:spcPts val="2975"/>
              </a:lnSpc>
              <a:spcBef>
                <a:spcPts val="0"/>
              </a:spcBef>
              <a:spcAft>
                <a:spcPts val="0"/>
              </a:spcAft>
              <a:defRPr sz="2500" b="1">
                <a:solidFill>
                  <a:srgbClr val="59D8FF"/>
                </a:solidFill>
                <a:latin typeface="Segoe UI"/>
              </a:defRPr>
            </a:pPr>
            <a:r>
              <a:t>change?</a:t>
            </a:r>
          </a:p>
        </p:txBody>
      </p:sp>
      <p:sp>
        <p:nvSpPr>
          <p:cNvPr id="22" name="TextBox 21"/>
          <p:cNvSpPr txBox="1"/>
          <p:nvPr/>
        </p:nvSpPr>
        <p:spPr>
          <a:xfrm>
            <a:off x="609600" y="60833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AFC2D8"/>
                </a:solidFill>
                <a:latin typeface="Segoe UI"/>
              </a:defRPr>
            </a:pPr>
            <a:r>
              <a:t>Agree the baseline, sample and success threshold together. No outcome guarantee is implied.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tart focused. Give the team room to work.">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OPERATOROS APPLICATION STACK</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Start focused.</a:t>
            </a:r>
          </a:p>
          <a:p>
            <a:pPr algn="l">
              <a:lnSpc>
                <a:spcPts val="4284"/>
              </a:lnSpc>
              <a:spcBef>
                <a:spcPts val="0"/>
              </a:spcBef>
              <a:spcAft>
                <a:spcPts val="0"/>
              </a:spcAft>
              <a:defRPr sz="3600" b="1">
                <a:solidFill>
                  <a:srgbClr val="F5FAFF"/>
                </a:solidFill>
                <a:latin typeface="Segoe UI"/>
              </a:defRPr>
            </a:pPr>
            <a:r>
              <a:t>Give the team room to work.</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15 / 20</a:t>
            </a:r>
          </a:p>
        </p:txBody>
      </p:sp>
      <p:sp>
        <p:nvSpPr>
          <p:cNvPr id="9" name="TextBox 8"/>
          <p:cNvSpPr txBox="1"/>
          <p:nvPr/>
        </p:nvSpPr>
        <p:spPr>
          <a:xfrm>
            <a:off x="6096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59D8FF"/>
                </a:solidFill>
                <a:latin typeface="Segoe UI Light"/>
              </a:defRPr>
            </a:pPr>
            <a:r>
              <a:t>1</a:t>
            </a:r>
          </a:p>
        </p:txBody>
      </p:sp>
      <p:sp>
        <p:nvSpPr>
          <p:cNvPr id="10" name="TextBox 9"/>
          <p:cNvSpPr txBox="1"/>
          <p:nvPr/>
        </p:nvSpPr>
        <p:spPr>
          <a:xfrm>
            <a:off x="6096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F5FAFF"/>
                </a:solidFill>
                <a:latin typeface="Segoe UI"/>
              </a:defRPr>
            </a:pPr>
            <a:r>
              <a:t>TechDeck</a:t>
            </a:r>
          </a:p>
        </p:txBody>
      </p:sp>
      <p:sp>
        <p:nvSpPr>
          <p:cNvPr id="11" name="TextBox 10"/>
          <p:cNvSpPr txBox="1"/>
          <p:nvPr/>
        </p:nvSpPr>
        <p:spPr>
          <a:xfrm>
            <a:off x="6096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Your flagship application</a:t>
            </a:r>
          </a:p>
        </p:txBody>
      </p:sp>
      <p:sp>
        <p:nvSpPr>
          <p:cNvPr id="12" name="TextBox 11"/>
          <p:cNvSpPr txBox="1"/>
          <p:nvPr/>
        </p:nvSpPr>
        <p:spPr>
          <a:xfrm>
            <a:off x="43688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59D8FF"/>
                </a:solidFill>
                <a:latin typeface="Segoe UI Light"/>
              </a:defRPr>
            </a:pPr>
            <a:r>
              <a:t>5</a:t>
            </a:r>
          </a:p>
        </p:txBody>
      </p:sp>
      <p:sp>
        <p:nvSpPr>
          <p:cNvPr id="13" name="TextBox 12"/>
          <p:cNvSpPr txBox="1"/>
          <p:nvPr/>
        </p:nvSpPr>
        <p:spPr>
          <a:xfrm>
            <a:off x="43688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F5FAFF"/>
                </a:solidFill>
                <a:latin typeface="Segoe UI"/>
              </a:defRPr>
            </a:pPr>
            <a:r>
              <a:t>Team seats</a:t>
            </a:r>
          </a:p>
        </p:txBody>
      </p:sp>
      <p:sp>
        <p:nvSpPr>
          <p:cNvPr id="14" name="TextBox 13"/>
          <p:cNvSpPr txBox="1"/>
          <p:nvPr/>
        </p:nvSpPr>
        <p:spPr>
          <a:xfrm>
            <a:off x="43688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Included with the stack</a:t>
            </a:r>
          </a:p>
        </p:txBody>
      </p:sp>
      <p:sp>
        <p:nvSpPr>
          <p:cNvPr id="15" name="TextBox 14"/>
          <p:cNvSpPr txBox="1"/>
          <p:nvPr/>
        </p:nvSpPr>
        <p:spPr>
          <a:xfrm>
            <a:off x="81280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59D8FF"/>
                </a:solidFill>
                <a:latin typeface="Segoe UI Light"/>
              </a:defRPr>
            </a:pPr>
            <a:r>
              <a:t>1</a:t>
            </a:r>
          </a:p>
        </p:txBody>
      </p:sp>
      <p:sp>
        <p:nvSpPr>
          <p:cNvPr id="16" name="TextBox 15"/>
          <p:cNvSpPr txBox="1"/>
          <p:nvPr/>
        </p:nvSpPr>
        <p:spPr>
          <a:xfrm>
            <a:off x="81280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F5FAFF"/>
                </a:solidFill>
                <a:latin typeface="Segoe UI"/>
              </a:defRPr>
            </a:pPr>
            <a:r>
              <a:t>Eligible companion</a:t>
            </a:r>
          </a:p>
        </p:txBody>
      </p:sp>
      <p:sp>
        <p:nvSpPr>
          <p:cNvPr id="17" name="TextBox 16"/>
          <p:cNvSpPr txBox="1"/>
          <p:nvPr/>
        </p:nvSpPr>
        <p:spPr>
          <a:xfrm>
            <a:off x="81280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AFC2D8"/>
                </a:solidFill>
                <a:latin typeface="Segoe UI"/>
              </a:defRPr>
            </a:pPr>
            <a:r>
              <a:t>Chosen for your organization</a:t>
            </a:r>
          </a:p>
        </p:txBody>
      </p:sp>
      <p:sp>
        <p:nvSpPr>
          <p:cNvPr id="18" name="Rounded Rectangle 17"/>
          <p:cNvSpPr/>
          <p:nvPr/>
        </p:nvSpPr>
        <p:spPr>
          <a:xfrm>
            <a:off x="609600" y="5130800"/>
            <a:ext cx="10972800" cy="596900"/>
          </a:xfrm>
          <a:prstGeom prst="roundRect">
            <a:avLst>
              <a:gd name="adj" fmla="val 10638"/>
            </a:avLst>
          </a:prstGeom>
          <a:solidFill>
            <a:srgbClr val="1024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5270500"/>
            <a:ext cx="105791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F5FAFF"/>
                </a:solidFill>
                <a:latin typeface="Segoe UI"/>
              </a:defRPr>
            </a:pPr>
            <a:r>
              <a:t>Free OperatorOS home base. Monthly billing. Add seats and eligible companions as needed.</a:t>
            </a:r>
          </a:p>
        </p:txBody>
      </p:sp>
      <p:sp>
        <p:nvSpPr>
          <p:cNvPr id="20" name="TextBox 19"/>
          <p:cNvSpPr txBox="1"/>
          <p:nvPr/>
        </p:nvSpPr>
        <p:spPr>
          <a:xfrm>
            <a:off x="609600" y="5905500"/>
            <a:ext cx="7962900" cy="247269"/>
          </a:xfrm>
          <a:prstGeom prst="rect">
            <a:avLst/>
          </a:prstGeom>
          <a:noFill/>
        </p:spPr>
        <p:txBody>
          <a:bodyPr wrap="none" lIns="0" rIns="0" tIns="0" bIns="0" anchor="t">
            <a:spAutoFit/>
          </a:bodyPr>
          <a:lstStyle/>
          <a:p>
            <a:pPr algn="l">
              <a:lnSpc>
                <a:spcPts val="1547"/>
              </a:lnSpc>
              <a:spcBef>
                <a:spcPts val="0"/>
              </a:spcBef>
              <a:spcAft>
                <a:spcPts val="0"/>
              </a:spcAft>
              <a:defRPr sz="1300" b="0">
                <a:solidFill>
                  <a:srgbClr val="AFC2D8"/>
                </a:solidFill>
                <a:latin typeface="Segoe UI"/>
              </a:defRPr>
            </a:pPr>
            <a:r>
              <a:t>Confirm the current quote and any usage charges before activation.</a:t>
            </a:r>
          </a:p>
        </p:txBody>
      </p:sp>
      <p:sp>
        <p:nvSpPr>
          <p:cNvPr id="21" name="TextBox 20"/>
          <p:cNvSpPr txBox="1"/>
          <p:nvPr/>
        </p:nvSpPr>
        <p:spPr>
          <a:xfrm>
            <a:off x="9359900" y="5880100"/>
            <a:ext cx="2235200" cy="277495"/>
          </a:xfrm>
          <a:prstGeom prst="rect">
            <a:avLst/>
          </a:prstGeom>
          <a:noFill/>
        </p:spPr>
        <p:txBody>
          <a:bodyPr wrap="none" lIns="0" rIns="0" tIns="0" bIns="0" anchor="t">
            <a:spAutoFit/>
          </a:bodyPr>
          <a:lstStyle/>
          <a:p>
            <a:pPr algn="r">
              <a:lnSpc>
                <a:spcPts val="1784"/>
              </a:lnSpc>
              <a:spcBef>
                <a:spcPts val="0"/>
              </a:spcBef>
              <a:spcAft>
                <a:spcPts val="0"/>
              </a:spcAft>
              <a:defRPr sz="1500" b="1">
                <a:solidFill>
                  <a:srgbClr val="59D8FF"/>
                </a:solidFill>
                <a:latin typeface="Segoe UI"/>
              </a:defRPr>
            </a:pPr>
            <a:r>
              <a:rPr>
                <a:hlinkClick r:id="rId3"/>
              </a:rPr>
              <a:t>Review plans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rove the fit with a focused 30-day pilot.">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PROPOSED EVALUATION / SCOPE AND TERMS BY AGREEMENT</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Prove the fit</a:t>
            </a:r>
          </a:p>
          <a:p>
            <a:pPr algn="l">
              <a:lnSpc>
                <a:spcPts val="4284"/>
              </a:lnSpc>
              <a:spcBef>
                <a:spcPts val="0"/>
              </a:spcBef>
              <a:spcAft>
                <a:spcPts val="0"/>
              </a:spcAft>
              <a:defRPr sz="3600" b="1">
                <a:solidFill>
                  <a:srgbClr val="F5FAFF"/>
                </a:solidFill>
                <a:latin typeface="Segoe UI"/>
              </a:defRPr>
            </a:pPr>
            <a:r>
              <a:t>with a focused 30-day pilot.</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16 / 20</a:t>
            </a:r>
          </a:p>
        </p:txBody>
      </p:sp>
      <p:sp>
        <p:nvSpPr>
          <p:cNvPr id="9" name="TextBox 8"/>
          <p:cNvSpPr txBox="1"/>
          <p:nvPr/>
        </p:nvSpPr>
        <p:spPr>
          <a:xfrm>
            <a:off x="6096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WEEK 1</a:t>
            </a:r>
          </a:p>
        </p:txBody>
      </p:sp>
      <p:cxnSp>
        <p:nvCxnSpPr>
          <p:cNvPr id="10" name="Connector 9"/>
          <p:cNvCxnSpPr/>
          <p:nvPr/>
        </p:nvCxnSpPr>
        <p:spPr>
          <a:xfrm>
            <a:off x="609600" y="2857500"/>
            <a:ext cx="3454400" cy="0"/>
          </a:xfrm>
          <a:prstGeom prst="line">
            <a:avLst/>
          </a:prstGeom>
          <a:ln w="25400">
            <a:solidFill>
              <a:srgbClr val="59D8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SET THE BASELINE</a:t>
            </a:r>
          </a:p>
        </p:txBody>
      </p:sp>
      <p:sp>
        <p:nvSpPr>
          <p:cNvPr id="12" name="TextBox 11"/>
          <p:cNvSpPr txBox="1"/>
          <p:nvPr/>
        </p:nvSpPr>
        <p:spPr>
          <a:xfrm>
            <a:off x="6096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AFC2D8"/>
                </a:solidFill>
                <a:latin typeface="Segoe UI"/>
              </a:defRPr>
            </a:pPr>
            <a:r>
              <a:t>Choose one client and five</a:t>
            </a:r>
          </a:p>
          <a:p>
            <a:pPr algn="l">
              <a:lnSpc>
                <a:spcPts val="2261"/>
              </a:lnSpc>
              <a:spcBef>
                <a:spcPts val="0"/>
              </a:spcBef>
              <a:spcAft>
                <a:spcPts val="0"/>
              </a:spcAft>
              <a:defRPr sz="1900" b="0">
                <a:solidFill>
                  <a:srgbClr val="AFC2D8"/>
                </a:solidFill>
                <a:latin typeface="Segoe UI"/>
              </a:defRPr>
            </a:pPr>
            <a:r>
              <a:t>users. Agree the closeout</a:t>
            </a:r>
          </a:p>
          <a:p>
            <a:pPr algn="l">
              <a:lnSpc>
                <a:spcPts val="2261"/>
              </a:lnSpc>
              <a:spcBef>
                <a:spcPts val="0"/>
              </a:spcBef>
              <a:spcAft>
                <a:spcPts val="0"/>
              </a:spcAft>
              <a:defRPr sz="1900" b="0">
                <a:solidFill>
                  <a:srgbClr val="AFC2D8"/>
                </a:solidFill>
                <a:latin typeface="Segoe UI"/>
              </a:defRPr>
            </a:pPr>
            <a:r>
              <a:t>standard and sample.</a:t>
            </a:r>
          </a:p>
        </p:txBody>
      </p:sp>
      <p:sp>
        <p:nvSpPr>
          <p:cNvPr id="13" name="TextBox 12"/>
          <p:cNvSpPr txBox="1"/>
          <p:nvPr/>
        </p:nvSpPr>
        <p:spPr>
          <a:xfrm>
            <a:off x="43688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WEEKS 2–3</a:t>
            </a:r>
          </a:p>
        </p:txBody>
      </p:sp>
      <p:cxnSp>
        <p:nvCxnSpPr>
          <p:cNvPr id="14" name="Connector 13"/>
          <p:cNvCxnSpPr/>
          <p:nvPr/>
        </p:nvCxnSpPr>
        <p:spPr>
          <a:xfrm>
            <a:off x="4368800" y="2857500"/>
            <a:ext cx="3454400" cy="0"/>
          </a:xfrm>
          <a:prstGeom prst="line">
            <a:avLst/>
          </a:prstGeom>
          <a:ln w="25400">
            <a:solidFill>
              <a:srgbClr val="59D8F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688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WORK THE FLOW</a:t>
            </a:r>
          </a:p>
        </p:txBody>
      </p:sp>
      <p:sp>
        <p:nvSpPr>
          <p:cNvPr id="16" name="TextBox 15"/>
          <p:cNvSpPr txBox="1"/>
          <p:nvPr/>
        </p:nvSpPr>
        <p:spPr>
          <a:xfrm>
            <a:off x="43688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AFC2D8"/>
                </a:solidFill>
                <a:latin typeface="Segoe UI"/>
              </a:defRPr>
            </a:pPr>
            <a:r>
              <a:t>Link issues to systems. Record</a:t>
            </a:r>
          </a:p>
          <a:p>
            <a:pPr algn="l">
              <a:lnSpc>
                <a:spcPts val="2261"/>
              </a:lnSpc>
              <a:spcBef>
                <a:spcPts val="0"/>
              </a:spcBef>
              <a:spcAft>
                <a:spcPts val="0"/>
              </a:spcAft>
              <a:defRPr sz="1900" b="0">
                <a:solidFill>
                  <a:srgbClr val="AFC2D8"/>
                </a:solidFill>
                <a:latin typeface="Segoe UI"/>
              </a:defRPr>
            </a:pPr>
            <a:r>
              <a:t>attempts, checks, time and</a:t>
            </a:r>
          </a:p>
          <a:p>
            <a:pPr algn="l">
              <a:lnSpc>
                <a:spcPts val="2261"/>
              </a:lnSpc>
              <a:spcBef>
                <a:spcPts val="0"/>
              </a:spcBef>
              <a:spcAft>
                <a:spcPts val="0"/>
              </a:spcAft>
              <a:defRPr sz="1900" b="0">
                <a:solidFill>
                  <a:srgbClr val="AFC2D8"/>
                </a:solidFill>
                <a:latin typeface="Segoe UI"/>
              </a:defRPr>
            </a:pPr>
            <a:r>
              <a:t>handoffs.</a:t>
            </a:r>
          </a:p>
        </p:txBody>
      </p:sp>
      <p:sp>
        <p:nvSpPr>
          <p:cNvPr id="17" name="TextBox 16"/>
          <p:cNvSpPr txBox="1"/>
          <p:nvPr/>
        </p:nvSpPr>
        <p:spPr>
          <a:xfrm>
            <a:off x="81280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WEEK 4</a:t>
            </a:r>
          </a:p>
        </p:txBody>
      </p:sp>
      <p:cxnSp>
        <p:nvCxnSpPr>
          <p:cNvPr id="18" name="Connector 17"/>
          <p:cNvCxnSpPr/>
          <p:nvPr/>
        </p:nvCxnSpPr>
        <p:spPr>
          <a:xfrm>
            <a:off x="8128000" y="2857500"/>
            <a:ext cx="3454400" cy="0"/>
          </a:xfrm>
          <a:prstGeom prst="line">
            <a:avLst/>
          </a:prstGeom>
          <a:ln w="25400">
            <a:solidFill>
              <a:srgbClr val="59D8F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F5FAFF"/>
                </a:solidFill>
                <a:latin typeface="Segoe UI"/>
              </a:defRPr>
            </a:pPr>
            <a:r>
              <a:t>CLOSE THE LOOP</a:t>
            </a:r>
          </a:p>
        </p:txBody>
      </p:sp>
      <p:sp>
        <p:nvSpPr>
          <p:cNvPr id="20" name="TextBox 19"/>
          <p:cNvSpPr txBox="1"/>
          <p:nvPr/>
        </p:nvSpPr>
        <p:spPr>
          <a:xfrm>
            <a:off x="81280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AFC2D8"/>
                </a:solidFill>
                <a:latin typeface="Segoe UI"/>
              </a:defRPr>
            </a:pPr>
            <a:r>
              <a:t>Review evidence quality and</a:t>
            </a:r>
          </a:p>
          <a:p>
            <a:pPr algn="l">
              <a:lnSpc>
                <a:spcPts val="2261"/>
              </a:lnSpc>
              <a:spcBef>
                <a:spcPts val="0"/>
              </a:spcBef>
              <a:spcAft>
                <a:spcPts val="0"/>
              </a:spcAft>
              <a:defRPr sz="1900" b="0">
                <a:solidFill>
                  <a:srgbClr val="AFC2D8"/>
                </a:solidFill>
                <a:latin typeface="Segoe UI"/>
              </a:defRPr>
            </a:pPr>
            <a:r>
              <a:t>reuse. Compare reconstruction</a:t>
            </a:r>
          </a:p>
          <a:p>
            <a:pPr algn="l">
              <a:lnSpc>
                <a:spcPts val="2261"/>
              </a:lnSpc>
              <a:spcBef>
                <a:spcPts val="0"/>
              </a:spcBef>
              <a:spcAft>
                <a:spcPts val="0"/>
              </a:spcAft>
              <a:defRPr sz="1900" b="0">
                <a:solidFill>
                  <a:srgbClr val="AFC2D8"/>
                </a:solidFill>
                <a:latin typeface="Segoe UI"/>
              </a:defRPr>
            </a:pPr>
            <a:r>
              <a:t>time.</a:t>
            </a:r>
          </a:p>
        </p:txBody>
      </p:sp>
      <p:sp>
        <p:nvSpPr>
          <p:cNvPr id="21" name="TextBox 20"/>
          <p:cNvSpPr txBox="1"/>
          <p:nvPr/>
        </p:nvSpPr>
        <p:spPr>
          <a:xfrm>
            <a:off x="609600" y="5575300"/>
            <a:ext cx="10985500" cy="579755"/>
          </a:xfrm>
          <a:prstGeom prst="rect">
            <a:avLst/>
          </a:prstGeom>
          <a:noFill/>
        </p:spPr>
        <p:txBody>
          <a:bodyPr wrap="none" lIns="0" rIns="0" tIns="0" bIns="0" anchor="t">
            <a:spAutoFit/>
          </a:bodyPr>
          <a:lstStyle/>
          <a:p>
            <a:pPr algn="l">
              <a:lnSpc>
                <a:spcPts val="2082"/>
              </a:lnSpc>
              <a:spcBef>
                <a:spcPts val="0"/>
              </a:spcBef>
              <a:spcAft>
                <a:spcPts val="0"/>
              </a:spcAft>
              <a:defRPr sz="1750" b="1">
                <a:solidFill>
                  <a:srgbClr val="59D8FF"/>
                </a:solidFill>
                <a:latin typeface="Segoe UI"/>
              </a:defRPr>
            </a:pPr>
            <a:r>
              <a:t>Continue when a different engineer can reconstruct sampled work and identify unresolved actions</a:t>
            </a:r>
          </a:p>
          <a:p>
            <a:pPr algn="l">
              <a:lnSpc>
                <a:spcPts val="2082"/>
              </a:lnSpc>
              <a:spcBef>
                <a:spcPts val="0"/>
              </a:spcBef>
              <a:spcAft>
                <a:spcPts val="0"/>
              </a:spcAft>
              <a:defRPr sz="1750" b="1">
                <a:solidFill>
                  <a:srgbClr val="59D8FF"/>
                </a:solidFill>
                <a:latin typeface="Segoe UI"/>
              </a:defRPr>
            </a:pPr>
            <a:r>
              <a:t>without chasing the original technician.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Bring one ticket you never want to explain twice.">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msps.png"/>
          <p:cNvPicPr>
            <a:picLocks noChangeAspect="1"/>
          </p:cNvPicPr>
          <p:nvPr/>
        </p:nvPicPr>
        <p:blipFill>
          <a:blip r:embed="rId3"/>
          <a:srcRect l="6944" r="6944"/>
          <a:stretch>
            <a:fillRect/>
          </a:stretch>
        </p:blipFill>
        <p:spPr>
          <a:xfrm>
            <a:off x="8255000" y="0"/>
            <a:ext cx="3937000" cy="6858000"/>
          </a:xfrm>
          <a:prstGeom prst="rect">
            <a:avLst/>
          </a:prstGeom>
        </p:spPr>
      </p:pic>
      <p:sp>
        <p:nvSpPr>
          <p:cNvPr id="5" name="Rectangle 4"/>
          <p:cNvSpPr/>
          <p:nvPr/>
        </p:nvSpPr>
        <p:spPr>
          <a:xfrm>
            <a:off x="8001000" y="0"/>
            <a:ext cx="2540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os-mark.png"/>
          <p:cNvPicPr>
            <a:picLocks noChangeAspect="1"/>
          </p:cNvPicPr>
          <p:nvPr/>
        </p:nvPicPr>
        <p:blipFill>
          <a:blip r:embed="rId4"/>
          <a:stretch>
            <a:fillRect/>
          </a:stretch>
        </p:blipFill>
        <p:spPr>
          <a:xfrm>
            <a:off x="609600" y="292100"/>
            <a:ext cx="381000" cy="381000"/>
          </a:xfrm>
          <a:prstGeom prst="rect">
            <a:avLst/>
          </a:prstGeom>
        </p:spPr>
      </p:pic>
      <p:sp>
        <p:nvSpPr>
          <p:cNvPr id="7" name="TextBox 6"/>
          <p:cNvSpPr txBox="1"/>
          <p:nvPr/>
        </p:nvSpPr>
        <p:spPr>
          <a:xfrm>
            <a:off x="1092200" y="342900"/>
            <a:ext cx="2171700" cy="277495"/>
          </a:xfrm>
          <a:prstGeom prst="rect">
            <a:avLst/>
          </a:prstGeom>
          <a:noFill/>
        </p:spPr>
        <p:txBody>
          <a:bodyPr wrap="none" lIns="0" rIns="0" tIns="0" bIns="0" anchor="t">
            <a:spAutoFit/>
          </a:bodyPr>
          <a:lstStyle/>
          <a:p>
            <a:pPr algn="l">
              <a:lnSpc>
                <a:spcPts val="1784"/>
              </a:lnSpc>
              <a:spcBef>
                <a:spcPts val="0"/>
              </a:spcBef>
              <a:spcAft>
                <a:spcPts val="0"/>
              </a:spcAft>
              <a:defRPr sz="1500" b="1">
                <a:solidFill>
                  <a:srgbClr val="F5FAFF"/>
                </a:solidFill>
                <a:latin typeface="Segoe UI"/>
              </a:defRPr>
            </a:pPr>
            <a:r>
              <a:t>OperatorOS</a:t>
            </a:r>
          </a:p>
        </p:txBody>
      </p:sp>
      <p:sp>
        <p:nvSpPr>
          <p:cNvPr id="8" name="TextBox 7"/>
          <p:cNvSpPr txBox="1"/>
          <p:nvPr/>
        </p:nvSpPr>
        <p:spPr>
          <a:xfrm>
            <a:off x="609600" y="14732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THE NEXT CONVERSATION</a:t>
            </a:r>
          </a:p>
        </p:txBody>
      </p:sp>
      <p:sp>
        <p:nvSpPr>
          <p:cNvPr id="9" name="TextBox 8"/>
          <p:cNvSpPr txBox="1"/>
          <p:nvPr/>
        </p:nvSpPr>
        <p:spPr>
          <a:xfrm>
            <a:off x="609600" y="2006600"/>
            <a:ext cx="7251700" cy="2045715"/>
          </a:xfrm>
          <a:prstGeom prst="rect">
            <a:avLst/>
          </a:prstGeom>
          <a:noFill/>
        </p:spPr>
        <p:txBody>
          <a:bodyPr wrap="none" lIns="0" rIns="0" tIns="0" bIns="0" anchor="t">
            <a:spAutoFit/>
          </a:bodyPr>
          <a:lstStyle/>
          <a:p>
            <a:pPr algn="l">
              <a:lnSpc>
                <a:spcPts val="5236"/>
              </a:lnSpc>
              <a:spcBef>
                <a:spcPts val="0"/>
              </a:spcBef>
              <a:spcAft>
                <a:spcPts val="0"/>
              </a:spcAft>
              <a:defRPr sz="4400" b="1">
                <a:solidFill>
                  <a:srgbClr val="F5FAFF"/>
                </a:solidFill>
                <a:latin typeface="Segoe UI"/>
              </a:defRPr>
            </a:pPr>
            <a:r>
              <a:t>Bring one ticket</a:t>
            </a:r>
          </a:p>
          <a:p>
            <a:pPr algn="l">
              <a:lnSpc>
                <a:spcPts val="5236"/>
              </a:lnSpc>
              <a:spcBef>
                <a:spcPts val="0"/>
              </a:spcBef>
              <a:spcAft>
                <a:spcPts val="0"/>
              </a:spcAft>
              <a:defRPr sz="4400" b="1">
                <a:solidFill>
                  <a:srgbClr val="F5FAFF"/>
                </a:solidFill>
                <a:latin typeface="Segoe UI"/>
              </a:defRPr>
            </a:pPr>
            <a:r>
              <a:t>you never want</a:t>
            </a:r>
          </a:p>
          <a:p>
            <a:pPr algn="l">
              <a:lnSpc>
                <a:spcPts val="5236"/>
              </a:lnSpc>
              <a:spcBef>
                <a:spcPts val="0"/>
              </a:spcBef>
              <a:spcAft>
                <a:spcPts val="0"/>
              </a:spcAft>
              <a:defRPr sz="4400" b="1">
                <a:solidFill>
                  <a:srgbClr val="F5FAFF"/>
                </a:solidFill>
                <a:latin typeface="Segoe UI"/>
              </a:defRPr>
            </a:pPr>
            <a:r>
              <a:t>to explain twice.</a:t>
            </a:r>
          </a:p>
        </p:txBody>
      </p:sp>
      <p:sp>
        <p:nvSpPr>
          <p:cNvPr id="10" name="TextBox 9"/>
          <p:cNvSpPr txBox="1"/>
          <p:nvPr/>
        </p:nvSpPr>
        <p:spPr>
          <a:xfrm>
            <a:off x="609600" y="4305300"/>
            <a:ext cx="68072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AFC2D8"/>
                </a:solidFill>
                <a:latin typeface="Segoe UI"/>
              </a:defRPr>
            </a:pPr>
            <a:r>
              <a:t>We’ll follow the context, the evidence and the</a:t>
            </a:r>
          </a:p>
          <a:p>
            <a:pPr algn="l">
              <a:lnSpc>
                <a:spcPts val="2379"/>
              </a:lnSpc>
              <a:spcBef>
                <a:spcPts val="0"/>
              </a:spcBef>
              <a:spcAft>
                <a:spcPts val="0"/>
              </a:spcAft>
              <a:defRPr sz="2000" b="0">
                <a:solidFill>
                  <a:srgbClr val="AFC2D8"/>
                </a:solidFill>
                <a:latin typeface="Segoe UI"/>
              </a:defRPr>
            </a:pPr>
            <a:r>
              <a:t>handoff—then define a pilot your engineers can judge.</a:t>
            </a:r>
          </a:p>
        </p:txBody>
      </p:sp>
      <p:sp>
        <p:nvSpPr>
          <p:cNvPr id="11" name="Rounded Rectangle 10"/>
          <p:cNvSpPr/>
          <p:nvPr/>
        </p:nvSpPr>
        <p:spPr>
          <a:xfrm>
            <a:off x="609600" y="5651500"/>
            <a:ext cx="4076700" cy="546100"/>
          </a:xfrm>
          <a:prstGeom prst="roundRect">
            <a:avLst>
              <a:gd name="adj" fmla="val 9302"/>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5791200"/>
            <a:ext cx="3733800" cy="292608"/>
          </a:xfrm>
          <a:prstGeom prst="rect">
            <a:avLst/>
          </a:prstGeom>
          <a:noFill/>
        </p:spPr>
        <p:txBody>
          <a:bodyPr wrap="none" lIns="0" rIns="0" tIns="0" bIns="0" anchor="t">
            <a:spAutoFit/>
          </a:bodyPr>
          <a:lstStyle/>
          <a:p>
            <a:pPr algn="l">
              <a:lnSpc>
                <a:spcPts val="1904"/>
              </a:lnSpc>
              <a:spcBef>
                <a:spcPts val="0"/>
              </a:spcBef>
              <a:spcAft>
                <a:spcPts val="0"/>
              </a:spcAft>
              <a:defRPr sz="1600" b="1">
                <a:solidFill>
                  <a:srgbClr val="07111E"/>
                </a:solidFill>
                <a:latin typeface="Segoe UI"/>
              </a:defRPr>
            </a:pPr>
            <a:r>
              <a:rPr>
                <a:hlinkClick r:id="rId5"/>
              </a:rPr>
              <a:t>Map your workflow with us →</a:t>
            </a:r>
          </a:p>
        </p:txBody>
      </p:sp>
      <p:sp>
        <p:nvSpPr>
          <p:cNvPr id="13" name="TextBox 12"/>
          <p:cNvSpPr txBox="1"/>
          <p:nvPr/>
        </p:nvSpPr>
        <p:spPr>
          <a:xfrm>
            <a:off x="609600" y="6464300"/>
            <a:ext cx="7150100" cy="232156"/>
          </a:xfrm>
          <a:prstGeom prst="rect">
            <a:avLst/>
          </a:prstGeom>
          <a:noFill/>
        </p:spPr>
        <p:txBody>
          <a:bodyPr wrap="none" lIns="0" rIns="0" tIns="0" bIns="0" anchor="t">
            <a:spAutoFit/>
          </a:bodyPr>
          <a:lstStyle/>
          <a:p>
            <a:pPr algn="l">
              <a:lnSpc>
                <a:spcPts val="1428"/>
              </a:lnSpc>
              <a:spcBef>
                <a:spcPts val="0"/>
              </a:spcBef>
              <a:spcAft>
                <a:spcPts val="0"/>
              </a:spcAft>
              <a:defRPr sz="1200" b="0">
                <a:solidFill>
                  <a:srgbClr val="AFC2D8"/>
                </a:solidFill>
                <a:latin typeface="Segoe UI"/>
              </a:defRPr>
            </a:pPr>
            <a:r>
              <a:rPr>
                <a:hlinkClick r:id="rId6"/>
              </a:rPr>
              <a:t>operatoros.net/for/msps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name="The questions that make the fit clearer.">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APPENDIX / BUYER QUESTIONS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The questions that</a:t>
            </a:r>
          </a:p>
          <a:p>
            <a:pPr algn="l">
              <a:lnSpc>
                <a:spcPts val="4284"/>
              </a:lnSpc>
              <a:spcBef>
                <a:spcPts val="0"/>
              </a:spcBef>
              <a:spcAft>
                <a:spcPts val="0"/>
              </a:spcAft>
              <a:defRPr sz="3600" b="1">
                <a:solidFill>
                  <a:srgbClr val="F5FAFF"/>
                </a:solidFill>
                <a:latin typeface="Segoe UI"/>
              </a:defRPr>
            </a:pPr>
            <a:r>
              <a:t>make the fit clearer.</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18 / 20</a:t>
            </a:r>
          </a:p>
        </p:txBody>
      </p:sp>
      <p:cxnSp>
        <p:nvCxnSpPr>
          <p:cNvPr id="9" name="Connector 8"/>
          <p:cNvCxnSpPr/>
          <p:nvPr/>
        </p:nvCxnSpPr>
        <p:spPr>
          <a:xfrm>
            <a:off x="609600" y="22987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247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“We already have a PSA and</a:t>
            </a:r>
          </a:p>
          <a:p>
            <a:pPr algn="l">
              <a:lnSpc>
                <a:spcPts val="2261"/>
              </a:lnSpc>
              <a:spcBef>
                <a:spcPts val="0"/>
              </a:spcBef>
              <a:spcAft>
                <a:spcPts val="0"/>
              </a:spcAft>
              <a:defRPr sz="1900" b="1">
                <a:solidFill>
                  <a:srgbClr val="F5FAFF"/>
                </a:solidFill>
                <a:latin typeface="Segoe UI"/>
              </a:defRPr>
            </a:pPr>
            <a:r>
              <a:t>RMM.”</a:t>
            </a:r>
          </a:p>
        </p:txBody>
      </p:sp>
      <p:sp>
        <p:nvSpPr>
          <p:cNvPr id="11" name="TextBox 10"/>
          <p:cNvSpPr txBox="1"/>
          <p:nvPr/>
        </p:nvSpPr>
        <p:spPr>
          <a:xfrm>
            <a:off x="4940300" y="247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Evaluate a narrow service-context and evidence workflow. Keep</a:t>
            </a:r>
          </a:p>
          <a:p>
            <a:pPr algn="l">
              <a:lnSpc>
                <a:spcPts val="2023"/>
              </a:lnSpc>
              <a:spcBef>
                <a:spcPts val="0"/>
              </a:spcBef>
              <a:spcAft>
                <a:spcPts val="0"/>
              </a:spcAft>
              <a:defRPr sz="1700" b="0">
                <a:solidFill>
                  <a:srgbClr val="AFC2D8"/>
                </a:solidFill>
                <a:latin typeface="Segoe UI"/>
              </a:defRPr>
            </a:pPr>
            <a:r>
              <a:t>execution in the existing tools; confirm integration and migration</a:t>
            </a:r>
          </a:p>
          <a:p>
            <a:pPr algn="l">
              <a:lnSpc>
                <a:spcPts val="2023"/>
              </a:lnSpc>
              <a:spcBef>
                <a:spcPts val="0"/>
              </a:spcBef>
              <a:spcAft>
                <a:spcPts val="0"/>
              </a:spcAft>
              <a:defRPr sz="1700" b="0">
                <a:solidFill>
                  <a:srgbClr val="AFC2D8"/>
                </a:solidFill>
                <a:latin typeface="Segoe UI"/>
              </a:defRPr>
            </a:pPr>
            <a:r>
              <a:t>needs before expanding.</a:t>
            </a:r>
          </a:p>
        </p:txBody>
      </p:sp>
      <p:cxnSp>
        <p:nvCxnSpPr>
          <p:cNvPr id="12" name="Connector 11"/>
          <p:cNvCxnSpPr/>
          <p:nvPr/>
        </p:nvCxnSpPr>
        <p:spPr>
          <a:xfrm>
            <a:off x="609600" y="35687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3746500"/>
            <a:ext cx="38481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“Is this another AI answer box?”</a:t>
            </a:r>
          </a:p>
        </p:txBody>
      </p:sp>
      <p:sp>
        <p:nvSpPr>
          <p:cNvPr id="14" name="TextBox 13"/>
          <p:cNvSpPr txBox="1"/>
          <p:nvPr/>
        </p:nvSpPr>
        <p:spPr>
          <a:xfrm>
            <a:off x="4940300" y="374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The core pitch is traceable records, exact/text search and reviewed</a:t>
            </a:r>
          </a:p>
          <a:p>
            <a:pPr algn="l">
              <a:lnSpc>
                <a:spcPts val="2023"/>
              </a:lnSpc>
              <a:spcBef>
                <a:spcPts val="0"/>
              </a:spcBef>
              <a:spcAft>
                <a:spcPts val="0"/>
              </a:spcAft>
              <a:defRPr sz="1700" b="0">
                <a:solidFill>
                  <a:srgbClr val="AFC2D8"/>
                </a:solidFill>
                <a:latin typeface="Segoe UI"/>
              </a:defRPr>
            </a:pPr>
            <a:r>
              <a:t>evidence-derived guidance. Semantic search is optional and requires</a:t>
            </a:r>
          </a:p>
          <a:p>
            <a:pPr algn="l">
              <a:lnSpc>
                <a:spcPts val="2023"/>
              </a:lnSpc>
              <a:spcBef>
                <a:spcPts val="0"/>
              </a:spcBef>
              <a:spcAft>
                <a:spcPts val="0"/>
              </a:spcAft>
              <a:defRPr sz="1700" b="0">
                <a:solidFill>
                  <a:srgbClr val="AFC2D8"/>
                </a:solidFill>
                <a:latin typeface="Segoe UI"/>
              </a:defRPr>
            </a:pPr>
            <a:r>
              <a:t>separate activation and acceptance.</a:t>
            </a:r>
          </a:p>
        </p:txBody>
      </p:sp>
      <p:cxnSp>
        <p:nvCxnSpPr>
          <p:cNvPr id="15" name="Connector 14"/>
          <p:cNvCxnSpPr/>
          <p:nvPr/>
        </p:nvCxnSpPr>
        <p:spPr>
          <a:xfrm>
            <a:off x="609600" y="48387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501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F5FAFF"/>
                </a:solidFill>
                <a:latin typeface="Segoe UI"/>
              </a:defRPr>
            </a:pPr>
            <a:r>
              <a:t>“Will it run scripts across our</a:t>
            </a:r>
          </a:p>
          <a:p>
            <a:pPr algn="l">
              <a:lnSpc>
                <a:spcPts val="2261"/>
              </a:lnSpc>
              <a:spcBef>
                <a:spcPts val="0"/>
              </a:spcBef>
              <a:spcAft>
                <a:spcPts val="0"/>
              </a:spcAft>
              <a:defRPr sz="1900" b="1">
                <a:solidFill>
                  <a:srgbClr val="F5FAFF"/>
                </a:solidFill>
                <a:latin typeface="Segoe UI"/>
              </a:defRPr>
            </a:pPr>
            <a:r>
              <a:t>clients?”</a:t>
            </a:r>
          </a:p>
        </p:txBody>
      </p:sp>
      <p:sp>
        <p:nvSpPr>
          <p:cNvPr id="17" name="TextBox 16"/>
          <p:cNvSpPr txBox="1"/>
          <p:nvPr/>
        </p:nvSpPr>
        <p:spPr>
          <a:xfrm>
            <a:off x="4940300" y="501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No. TechDeck runbooks and Script Ops handoffs are reviewed</a:t>
            </a:r>
          </a:p>
          <a:p>
            <a:pPr algn="l">
              <a:lnSpc>
                <a:spcPts val="2023"/>
              </a:lnSpc>
              <a:spcBef>
                <a:spcPts val="0"/>
              </a:spcBef>
              <a:spcAft>
                <a:spcPts val="0"/>
              </a:spcAft>
              <a:defRPr sz="1700" b="0">
                <a:solidFill>
                  <a:srgbClr val="AFC2D8"/>
                </a:solidFill>
                <a:latin typeface="Segoe UI"/>
              </a:defRPr>
            </a:pPr>
            <a:r>
              <a:t>instructions or downloads. Endpoint execution remains an external,</a:t>
            </a:r>
          </a:p>
          <a:p>
            <a:pPr algn="l">
              <a:lnSpc>
                <a:spcPts val="2023"/>
              </a:lnSpc>
              <a:spcBef>
                <a:spcPts val="0"/>
              </a:spcBef>
              <a:spcAft>
                <a:spcPts val="0"/>
              </a:spcAft>
              <a:defRPr sz="1700" b="0">
                <a:solidFill>
                  <a:srgbClr val="AFC2D8"/>
                </a:solidFill>
                <a:latin typeface="Segoe UI"/>
              </a:defRPr>
            </a:pPr>
            <a:r>
              <a:t>authorized activity.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name="Capabilities at a glance.">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APPENDIX / FEATURE CHECKLIST</a:t>
            </a:r>
          </a:p>
        </p:txBody>
      </p:sp>
      <p:sp>
        <p:nvSpPr>
          <p:cNvPr id="5" name="TextBox 4"/>
          <p:cNvSpPr txBox="1"/>
          <p:nvPr/>
        </p:nvSpPr>
        <p:spPr>
          <a:xfrm>
            <a:off x="609600" y="825500"/>
            <a:ext cx="10934700" cy="594868"/>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Capabilities at a glance.</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19 / 20</a:t>
            </a:r>
          </a:p>
        </p:txBody>
      </p:sp>
      <p:cxnSp>
        <p:nvCxnSpPr>
          <p:cNvPr id="9" name="Connector 8"/>
          <p:cNvCxnSpPr/>
          <p:nvPr/>
        </p:nvCxnSpPr>
        <p:spPr>
          <a:xfrm>
            <a:off x="609600" y="25400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930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Service</a:t>
            </a:r>
          </a:p>
        </p:txBody>
      </p:sp>
      <p:sp>
        <p:nvSpPr>
          <p:cNvPr id="11" name="TextBox 10"/>
          <p:cNvSpPr txBox="1"/>
          <p:nvPr/>
        </p:nvSpPr>
        <p:spPr>
          <a:xfrm>
            <a:off x="609600" y="2235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Tickets • assignment • service time</a:t>
            </a:r>
          </a:p>
        </p:txBody>
      </p:sp>
      <p:cxnSp>
        <p:nvCxnSpPr>
          <p:cNvPr id="12" name="Connector 11"/>
          <p:cNvCxnSpPr/>
          <p:nvPr/>
        </p:nvCxnSpPr>
        <p:spPr>
          <a:xfrm>
            <a:off x="6248400" y="25400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1930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Customer context</a:t>
            </a:r>
          </a:p>
        </p:txBody>
      </p:sp>
      <p:sp>
        <p:nvSpPr>
          <p:cNvPr id="14" name="TextBox 13"/>
          <p:cNvSpPr txBox="1"/>
          <p:nvPr/>
        </p:nvSpPr>
        <p:spPr>
          <a:xfrm>
            <a:off x="6248400" y="2235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Clients • sites • portal visibility</a:t>
            </a:r>
          </a:p>
        </p:txBody>
      </p:sp>
      <p:cxnSp>
        <p:nvCxnSpPr>
          <p:cNvPr id="15" name="Connector 14"/>
          <p:cNvCxnSpPr/>
          <p:nvPr/>
        </p:nvCxnSpPr>
        <p:spPr>
          <a:xfrm>
            <a:off x="609600" y="32512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26416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Systems</a:t>
            </a:r>
          </a:p>
        </p:txBody>
      </p:sp>
      <p:sp>
        <p:nvSpPr>
          <p:cNvPr id="17" name="TextBox 16"/>
          <p:cNvSpPr txBox="1"/>
          <p:nvPr/>
        </p:nvSpPr>
        <p:spPr>
          <a:xfrm>
            <a:off x="609600" y="29464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Configuration items • relationships</a:t>
            </a:r>
          </a:p>
        </p:txBody>
      </p:sp>
      <p:cxnSp>
        <p:nvCxnSpPr>
          <p:cNvPr id="18" name="Connector 17"/>
          <p:cNvCxnSpPr/>
          <p:nvPr/>
        </p:nvCxnSpPr>
        <p:spPr>
          <a:xfrm>
            <a:off x="6248400" y="32512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48400" y="26416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Network context</a:t>
            </a:r>
          </a:p>
        </p:txBody>
      </p:sp>
      <p:sp>
        <p:nvSpPr>
          <p:cNvPr id="20" name="TextBox 19"/>
          <p:cNvSpPr txBox="1"/>
          <p:nvPr/>
        </p:nvSpPr>
        <p:spPr>
          <a:xfrm>
            <a:off x="6248400" y="29464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Network inventory • IPAM records</a:t>
            </a:r>
          </a:p>
        </p:txBody>
      </p:sp>
      <p:cxnSp>
        <p:nvCxnSpPr>
          <p:cNvPr id="21" name="Connector 20"/>
          <p:cNvCxnSpPr/>
          <p:nvPr/>
        </p:nvCxnSpPr>
        <p:spPr>
          <a:xfrm>
            <a:off x="609600" y="39624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00" y="33528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Lifecycle</a:t>
            </a:r>
          </a:p>
        </p:txBody>
      </p:sp>
      <p:sp>
        <p:nvSpPr>
          <p:cNvPr id="23" name="TextBox 22"/>
          <p:cNvSpPr txBox="1"/>
          <p:nvPr/>
        </p:nvSpPr>
        <p:spPr>
          <a:xfrm>
            <a:off x="609600" y="36576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Warranty • renewals • due facts</a:t>
            </a:r>
          </a:p>
        </p:txBody>
      </p:sp>
      <p:cxnSp>
        <p:nvCxnSpPr>
          <p:cNvPr id="24" name="Connector 23"/>
          <p:cNvCxnSpPr/>
          <p:nvPr/>
        </p:nvCxnSpPr>
        <p:spPr>
          <a:xfrm>
            <a:off x="6248400" y="39624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48400" y="33528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Procedures</a:t>
            </a:r>
          </a:p>
        </p:txBody>
      </p:sp>
      <p:sp>
        <p:nvSpPr>
          <p:cNvPr id="26" name="TextBox 25"/>
          <p:cNvSpPr txBox="1"/>
          <p:nvPr/>
        </p:nvSpPr>
        <p:spPr>
          <a:xfrm>
            <a:off x="6248400" y="36576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Versioned docs • review • runbooks</a:t>
            </a:r>
          </a:p>
        </p:txBody>
      </p:sp>
      <p:cxnSp>
        <p:nvCxnSpPr>
          <p:cNvPr id="27" name="Connector 26"/>
          <p:cNvCxnSpPr/>
          <p:nvPr/>
        </p:nvCxnSpPr>
        <p:spPr>
          <a:xfrm>
            <a:off x="609600" y="46736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40640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Resolution</a:t>
            </a:r>
          </a:p>
        </p:txBody>
      </p:sp>
      <p:sp>
        <p:nvSpPr>
          <p:cNvPr id="29" name="TextBox 28"/>
          <p:cNvSpPr txBox="1"/>
          <p:nvPr/>
        </p:nvSpPr>
        <p:spPr>
          <a:xfrm>
            <a:off x="609600" y="43688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Screened imports • source revisions</a:t>
            </a:r>
          </a:p>
        </p:txBody>
      </p:sp>
      <p:cxnSp>
        <p:nvCxnSpPr>
          <p:cNvPr id="30" name="Connector 29"/>
          <p:cNvCxnSpPr/>
          <p:nvPr/>
        </p:nvCxnSpPr>
        <p:spPr>
          <a:xfrm>
            <a:off x="6248400" y="46736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248400" y="40640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Retrieval</a:t>
            </a:r>
          </a:p>
        </p:txBody>
      </p:sp>
      <p:sp>
        <p:nvSpPr>
          <p:cNvPr id="32" name="TextBox 31"/>
          <p:cNvSpPr txBox="1"/>
          <p:nvPr/>
        </p:nvSpPr>
        <p:spPr>
          <a:xfrm>
            <a:off x="6248400" y="43688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Exact identifiers • full-text search</a:t>
            </a:r>
          </a:p>
        </p:txBody>
      </p:sp>
      <p:cxnSp>
        <p:nvCxnSpPr>
          <p:cNvPr id="33" name="Connector 32"/>
          <p:cNvCxnSpPr/>
          <p:nvPr/>
        </p:nvCxnSpPr>
        <p:spPr>
          <a:xfrm>
            <a:off x="609600" y="53848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09600" y="47752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Knowledge reuse</a:t>
            </a:r>
          </a:p>
        </p:txBody>
      </p:sp>
      <p:sp>
        <p:nvSpPr>
          <p:cNvPr id="35" name="TextBox 34"/>
          <p:cNvSpPr txBox="1"/>
          <p:nvPr/>
        </p:nvSpPr>
        <p:spPr>
          <a:xfrm>
            <a:off x="609600" y="50800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Cited KB drafts • source freshness</a:t>
            </a:r>
          </a:p>
        </p:txBody>
      </p:sp>
      <p:cxnSp>
        <p:nvCxnSpPr>
          <p:cNvPr id="36" name="Connector 35"/>
          <p:cNvCxnSpPr/>
          <p:nvPr/>
        </p:nvCxnSpPr>
        <p:spPr>
          <a:xfrm>
            <a:off x="6248400" y="53848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48400" y="47752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Recurring work</a:t>
            </a:r>
          </a:p>
        </p:txBody>
      </p:sp>
      <p:sp>
        <p:nvSpPr>
          <p:cNvPr id="38" name="TextBox 37"/>
          <p:cNvSpPr txBox="1"/>
          <p:nvPr/>
        </p:nvSpPr>
        <p:spPr>
          <a:xfrm>
            <a:off x="6248400" y="50800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Appointments • ticket schedules</a:t>
            </a:r>
          </a:p>
        </p:txBody>
      </p:sp>
      <p:cxnSp>
        <p:nvCxnSpPr>
          <p:cNvPr id="39" name="Connector 38"/>
          <p:cNvCxnSpPr/>
          <p:nvPr/>
        </p:nvCxnSpPr>
        <p:spPr>
          <a:xfrm>
            <a:off x="609600" y="60960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9600" y="5486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Evidence</a:t>
            </a:r>
          </a:p>
        </p:txBody>
      </p:sp>
      <p:sp>
        <p:nvSpPr>
          <p:cNvPr id="41" name="TextBox 40"/>
          <p:cNvSpPr txBox="1"/>
          <p:nvPr/>
        </p:nvSpPr>
        <p:spPr>
          <a:xfrm>
            <a:off x="609600" y="5791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Reports • attachments • audit activity</a:t>
            </a:r>
          </a:p>
        </p:txBody>
      </p:sp>
      <p:cxnSp>
        <p:nvCxnSpPr>
          <p:cNvPr id="42" name="Connector 41"/>
          <p:cNvCxnSpPr/>
          <p:nvPr/>
        </p:nvCxnSpPr>
        <p:spPr>
          <a:xfrm>
            <a:off x="6248400" y="6096000"/>
            <a:ext cx="53340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48400" y="5486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59D8FF"/>
                </a:solidFill>
                <a:latin typeface="Segoe UI"/>
              </a:defRPr>
            </a:pPr>
            <a:r>
              <a:t>Connections</a:t>
            </a:r>
          </a:p>
        </p:txBody>
      </p:sp>
      <p:sp>
        <p:nvSpPr>
          <p:cNvPr id="44" name="TextBox 43"/>
          <p:cNvSpPr txBox="1"/>
          <p:nvPr/>
        </p:nvSpPr>
        <p:spPr>
          <a:xfrm>
            <a:off x="6248400" y="5791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AFC2D8"/>
                </a:solidFill>
                <a:latin typeface="Segoe UI"/>
              </a:defRPr>
            </a:pPr>
            <a:r>
              <a:t>Scoped tokens • signed webhooks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name="Agree the scope. Verify the workflow.">
    <p:spTree>
      <p:nvGrpSpPr>
        <p:cNvPr id="1" name=""/>
        <p:cNvGrpSpPr/>
        <p:nvPr/>
      </p:nvGrpSpPr>
      <p:grpSpPr/>
      <p:sp>
        <p:nvSpPr>
          <p:cNvPr id="2" name="Rectangle 1"/>
          <p:cNvSpPr/>
          <p:nvPr/>
        </p:nvSpPr>
        <p:spPr>
          <a:xfrm>
            <a:off x="0" y="0"/>
            <a:ext cx="12192000" cy="6858000"/>
          </a:xfrm>
          <a:prstGeom prst="rect">
            <a:avLst/>
          </a:prstGeom>
          <a:solidFill>
            <a:srgbClr val="07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59D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59D8FF"/>
                </a:solidFill>
                <a:latin typeface="Segoe UI"/>
              </a:defRPr>
            </a:pPr>
            <a:r>
              <a:t>APPENDIX / EVALUATION NOTES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F5FAFF"/>
                </a:solidFill>
                <a:latin typeface="Segoe UI"/>
              </a:defRPr>
            </a:pPr>
            <a:r>
              <a:t>Agree the scope.</a:t>
            </a:r>
          </a:p>
          <a:p>
            <a:pPr algn="l">
              <a:lnSpc>
                <a:spcPts val="4284"/>
              </a:lnSpc>
              <a:spcBef>
                <a:spcPts val="0"/>
              </a:spcBef>
              <a:spcAft>
                <a:spcPts val="0"/>
              </a:spcAft>
              <a:defRPr sz="3600" b="1">
                <a:solidFill>
                  <a:srgbClr val="F5FAFF"/>
                </a:solidFill>
                <a:latin typeface="Segoe UI"/>
              </a:defRPr>
            </a:pPr>
            <a:r>
              <a:t>Verify the workflow.</a:t>
            </a:r>
          </a:p>
        </p:txBody>
      </p:sp>
      <p:cxnSp>
        <p:nvCxnSpPr>
          <p:cNvPr id="6" name="Connector 5"/>
          <p:cNvCxnSpPr/>
          <p:nvPr/>
        </p:nvCxnSpPr>
        <p:spPr>
          <a:xfrm>
            <a:off x="609600" y="63754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AFC2D8"/>
                </a:solidFill>
                <a:latin typeface="Segoe UI"/>
              </a:defRPr>
            </a:pPr>
            <a:r>
              <a:t>OPERATOROS / TECHDECK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AFC2D8"/>
                </a:solidFill>
                <a:latin typeface="Consolas"/>
              </a:defRPr>
            </a:pPr>
            <a:r>
              <a:t>20 / 20</a:t>
            </a:r>
          </a:p>
        </p:txBody>
      </p:sp>
      <p:sp>
        <p:nvSpPr>
          <p:cNvPr id="9" name="TextBox 8"/>
          <p:cNvSpPr txBox="1"/>
          <p:nvPr/>
        </p:nvSpPr>
        <p:spPr>
          <a:xfrm>
            <a:off x="609600" y="22606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59D8FF"/>
                </a:solidFill>
                <a:latin typeface="Segoe UI"/>
              </a:defRPr>
            </a:pPr>
            <a:r>
              <a:t>Start here</a:t>
            </a:r>
          </a:p>
        </p:txBody>
      </p:sp>
      <p:sp>
        <p:nvSpPr>
          <p:cNvPr id="10" name="TextBox 9"/>
          <p:cNvSpPr txBox="1"/>
          <p:nvPr/>
        </p:nvSpPr>
        <p:spPr>
          <a:xfrm>
            <a:off x="3860800" y="22606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One client, a reviewed incident sample, recorded system context and an</a:t>
            </a:r>
          </a:p>
          <a:p>
            <a:pPr algn="l">
              <a:lnSpc>
                <a:spcPts val="2023"/>
              </a:lnSpc>
              <a:spcBef>
                <a:spcPts val="0"/>
              </a:spcBef>
              <a:spcAft>
                <a:spcPts val="0"/>
              </a:spcAft>
              <a:defRPr sz="1700" b="0">
                <a:solidFill>
                  <a:srgbClr val="AFC2D8"/>
                </a:solidFill>
                <a:latin typeface="Segoe UI"/>
              </a:defRPr>
            </a:pPr>
            <a:r>
              <a:t>evidence-quality standard.</a:t>
            </a:r>
          </a:p>
        </p:txBody>
      </p:sp>
      <p:sp>
        <p:nvSpPr>
          <p:cNvPr id="11" name="TextBox 10"/>
          <p:cNvSpPr txBox="1"/>
          <p:nvPr/>
        </p:nvSpPr>
        <p:spPr>
          <a:xfrm>
            <a:off x="609600" y="31877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59D8FF"/>
                </a:solidFill>
                <a:latin typeface="Segoe UI"/>
              </a:defRPr>
            </a:pPr>
            <a:r>
              <a:t>Verify before relying on it</a:t>
            </a:r>
          </a:p>
        </p:txBody>
      </p:sp>
      <p:sp>
        <p:nvSpPr>
          <p:cNvPr id="12" name="TextBox 11"/>
          <p:cNvSpPr txBox="1"/>
          <p:nvPr/>
        </p:nvSpPr>
        <p:spPr>
          <a:xfrm>
            <a:off x="3860800" y="31877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Portal visibility, exports, intended API/webhook flows and the exact deployed</a:t>
            </a:r>
          </a:p>
          <a:p>
            <a:pPr algn="l">
              <a:lnSpc>
                <a:spcPts val="2023"/>
              </a:lnSpc>
              <a:spcBef>
                <a:spcPts val="0"/>
              </a:spcBef>
              <a:spcAft>
                <a:spcPts val="0"/>
              </a:spcAft>
              <a:defRPr sz="1700" b="0">
                <a:solidFill>
                  <a:srgbClr val="AFC2D8"/>
                </a:solidFill>
                <a:latin typeface="Segoe UI"/>
              </a:defRPr>
            </a:pPr>
            <a:r>
              <a:t>tenant workflow.</a:t>
            </a:r>
          </a:p>
        </p:txBody>
      </p:sp>
      <p:sp>
        <p:nvSpPr>
          <p:cNvPr id="13" name="TextBox 12"/>
          <p:cNvSpPr txBox="1"/>
          <p:nvPr/>
        </p:nvSpPr>
        <p:spPr>
          <a:xfrm>
            <a:off x="609600" y="41148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59D8FF"/>
                </a:solidFill>
                <a:latin typeface="Segoe UI"/>
              </a:defRPr>
            </a:pPr>
            <a:r>
              <a:t>Keep outside the pitch</a:t>
            </a:r>
          </a:p>
        </p:txBody>
      </p:sp>
      <p:sp>
        <p:nvSpPr>
          <p:cNvPr id="14" name="TextBox 13"/>
          <p:cNvSpPr txBox="1"/>
          <p:nvPr/>
        </p:nvSpPr>
        <p:spPr>
          <a:xfrm>
            <a:off x="3860800" y="41148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AFC2D8"/>
                </a:solidFill>
                <a:latin typeface="Segoe UI"/>
              </a:defRPr>
            </a:pPr>
            <a:r>
              <a:t>Autonomous remediation, automatic discovery, guaranteed compliance and</a:t>
            </a:r>
          </a:p>
          <a:p>
            <a:pPr algn="l">
              <a:lnSpc>
                <a:spcPts val="2023"/>
              </a:lnSpc>
              <a:spcBef>
                <a:spcPts val="0"/>
              </a:spcBef>
              <a:spcAft>
                <a:spcPts val="0"/>
              </a:spcAft>
              <a:defRPr sz="1700" b="0">
                <a:solidFill>
                  <a:srgbClr val="AFC2D8"/>
                </a:solidFill>
                <a:latin typeface="Segoe UI"/>
              </a:defRPr>
            </a:pPr>
            <a:r>
              <a:t>activated semantic search.</a:t>
            </a:r>
          </a:p>
        </p:txBody>
      </p:sp>
      <p:cxnSp>
        <p:nvCxnSpPr>
          <p:cNvPr id="15" name="Connector 14"/>
          <p:cNvCxnSpPr/>
          <p:nvPr/>
        </p:nvCxnSpPr>
        <p:spPr>
          <a:xfrm>
            <a:off x="609600" y="5181600"/>
            <a:ext cx="10972800" cy="0"/>
          </a:xfrm>
          <a:prstGeom prst="line">
            <a:avLst/>
          </a:prstGeom>
          <a:ln w="12700">
            <a:solidFill>
              <a:srgbClr val="2840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5372100"/>
            <a:ext cx="10985500" cy="224599"/>
          </a:xfrm>
          <a:prstGeom prst="rect">
            <a:avLst/>
          </a:prstGeom>
          <a:noFill/>
        </p:spPr>
        <p:txBody>
          <a:bodyPr wrap="none" lIns="0" rIns="0" tIns="0" bIns="0" anchor="t">
            <a:spAutoFit/>
          </a:bodyPr>
          <a:lstStyle/>
          <a:p>
            <a:pPr algn="l">
              <a:lnSpc>
                <a:spcPts val="1368"/>
              </a:lnSpc>
              <a:spcBef>
                <a:spcPts val="0"/>
              </a:spcBef>
              <a:spcAft>
                <a:spcPts val="0"/>
              </a:spcAft>
              <a:defRPr sz="1150" b="0">
                <a:solidFill>
                  <a:srgbClr val="AFC2D8"/>
                </a:solidFill>
                <a:latin typeface="Segoe UI"/>
              </a:defRPr>
            </a:pPr>
            <a:r>
              <a:t>Scenario examples are illustrative. Workflow diagrams are explanatory, not product screenshots.</a:t>
            </a:r>
          </a:p>
        </p:txBody>
      </p:sp>
      <p:sp>
        <p:nvSpPr>
          <p:cNvPr id="17" name="TextBox 16"/>
          <p:cNvSpPr txBox="1"/>
          <p:nvPr/>
        </p:nvSpPr>
        <p:spPr>
          <a:xfrm>
            <a:off x="609600" y="5651500"/>
            <a:ext cx="10985500" cy="224599"/>
          </a:xfrm>
          <a:prstGeom prst="rect">
            <a:avLst/>
          </a:prstGeom>
          <a:noFill/>
        </p:spPr>
        <p:txBody>
          <a:bodyPr wrap="none" lIns="0" rIns="0" tIns="0" bIns="0" anchor="t">
            <a:spAutoFit/>
          </a:bodyPr>
          <a:lstStyle/>
          <a:p>
            <a:pPr algn="l">
              <a:lnSpc>
                <a:spcPts val="1368"/>
              </a:lnSpc>
              <a:spcBef>
                <a:spcPts val="0"/>
              </a:spcBef>
              <a:spcAft>
                <a:spcPts val="0"/>
              </a:spcAft>
              <a:defRPr sz="1150" b="0">
                <a:solidFill>
                  <a:srgbClr val="AFC2D8"/>
                </a:solidFill>
                <a:latin typeface="Segoe UI"/>
              </a:defRPr>
            </a:pPr>
            <a:r>
              <a:t>Product scope reviewed 05 Oct 2026. Validate the selected tenant and connected services before rollout.</a:t>
            </a:r>
          </a:p>
        </p:txBody>
      </p:sp>
      <p:sp>
        <p:nvSpPr>
          <p:cNvPr id="18" name="TextBox 17"/>
          <p:cNvSpPr txBox="1"/>
          <p:nvPr/>
        </p:nvSpPr>
        <p:spPr>
          <a:xfrm>
            <a:off x="609600" y="5994400"/>
            <a:ext cx="3695700" cy="232156"/>
          </a:xfrm>
          <a:prstGeom prst="rect">
            <a:avLst/>
          </a:prstGeom>
          <a:noFill/>
        </p:spPr>
        <p:txBody>
          <a:bodyPr wrap="none" lIns="0" rIns="0" tIns="0" bIns="0" anchor="t">
            <a:spAutoFit/>
          </a:bodyPr>
          <a:lstStyle/>
          <a:p>
            <a:pPr algn="l">
              <a:lnSpc>
                <a:spcPts val="1428"/>
              </a:lnSpc>
              <a:spcBef>
                <a:spcPts val="0"/>
              </a:spcBef>
              <a:spcAft>
                <a:spcPts val="0"/>
              </a:spcAft>
              <a:defRPr sz="1200" b="1">
                <a:solidFill>
                  <a:srgbClr val="59D8FF"/>
                </a:solidFill>
                <a:latin typeface="Segoe UI"/>
              </a:defRPr>
            </a:pPr>
            <a:r>
              <a:rPr>
                <a:hlinkClick r:id="rId3"/>
              </a:rPr>
              <a:t>Explore this lane →</a:t>
            </a:r>
          </a:p>
        </p:txBody>
      </p:sp>
      <p:sp>
        <p:nvSpPr>
          <p:cNvPr id="19" name="TextBox 18"/>
          <p:cNvSpPr txBox="1"/>
          <p:nvPr/>
        </p:nvSpPr>
        <p:spPr>
          <a:xfrm>
            <a:off x="4787900" y="5994400"/>
            <a:ext cx="4064000" cy="232156"/>
          </a:xfrm>
          <a:prstGeom prst="rect">
            <a:avLst/>
          </a:prstGeom>
          <a:noFill/>
        </p:spPr>
        <p:txBody>
          <a:bodyPr wrap="none" lIns="0" rIns="0" tIns="0" bIns="0" anchor="t">
            <a:spAutoFit/>
          </a:bodyPr>
          <a:lstStyle/>
          <a:p>
            <a:pPr algn="l">
              <a:lnSpc>
                <a:spcPts val="1428"/>
              </a:lnSpc>
              <a:spcBef>
                <a:spcPts val="0"/>
              </a:spcBef>
              <a:spcAft>
                <a:spcPts val="0"/>
              </a:spcAft>
              <a:defRPr sz="1200" b="1">
                <a:solidFill>
                  <a:srgbClr val="59D8FF"/>
                </a:solidFill>
                <a:latin typeface="Segoe UI"/>
              </a:defRPr>
            </a:pPr>
            <a:r>
              <a:rPr>
                <a:hlinkClick r:id="rId4"/>
              </a:rPr>
              <a:t>Plans and package details →</a:t>
            </a:r>
          </a:p>
        </p:txBody>
      </p:sp>
      <p:sp>
        <p:nvSpPr>
          <p:cNvPr id="20" name="TextBox 19"/>
          <p:cNvSpPr txBox="1"/>
          <p:nvPr/>
        </p:nvSpPr>
        <p:spPr>
          <a:xfrm>
            <a:off x="9525000" y="5994400"/>
            <a:ext cx="2070100" cy="232156"/>
          </a:xfrm>
          <a:prstGeom prst="rect">
            <a:avLst/>
          </a:prstGeom>
          <a:noFill/>
        </p:spPr>
        <p:txBody>
          <a:bodyPr wrap="none" lIns="0" rIns="0" tIns="0" bIns="0" anchor="t">
            <a:spAutoFit/>
          </a:bodyPr>
          <a:lstStyle/>
          <a:p>
            <a:pPr algn="r">
              <a:lnSpc>
                <a:spcPts val="1428"/>
              </a:lnSpc>
              <a:spcBef>
                <a:spcPts val="0"/>
              </a:spcBef>
              <a:spcAft>
                <a:spcPts val="0"/>
              </a:spcAft>
              <a:defRPr sz="1200" b="1">
                <a:solidFill>
                  <a:srgbClr val="59D8FF"/>
                </a:solidFill>
                <a:latin typeface="Segoe UI"/>
              </a:defRPr>
            </a:pPr>
            <a:r>
              <a:rPr>
                <a:hlinkClick r:id="rId5"/>
              </a:rPr>
              <a:t>Product help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OperatorOS | TechDeck | Sales meeting</dc:title>
  <dc:subject>A focused lane pitch with illustrative scenarios and a measurable pilot</dc:subject>
  <dc:creator>Shotgun Ninjas Productions, LLC</dc:creator>
  <cp:keywords>OperatorOS, TechDeck, sales, operations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